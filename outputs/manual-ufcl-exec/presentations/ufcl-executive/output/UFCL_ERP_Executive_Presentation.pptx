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d4a31848eaf4a8e" /><Relationship Type="http://schemas.openxmlformats.org/officeDocument/2006/relationships/extended-properties" Target="/docProps/app.xml" Id="Rd864cfd244dd496c" /><Relationship Type="http://schemas.openxmlformats.org/officeDocument/2006/relationships/officeDocument" Target="/ppt/presentation.xml" Id="Rdf6e5748708a4f79" /></Relationships>
</file>

<file path=ppt/presentation.xml><?xml version="1.0" encoding="utf-8"?>
<p:presentation xmlns:p="http://schemas.openxmlformats.org/presentationml/2006/main">
  <p:sldMasterIdLst>
    <p:sldMasterId xmlns:r="http://schemas.openxmlformats.org/officeDocument/2006/relationships" id="2147483648" r:id="R48e916f1489c43dd"/>
  </p:sldMasterIdLst>
  <p:notesMasterIdLst>
    <p:notesMasterId xmlns:r="http://schemas.openxmlformats.org/officeDocument/2006/relationships" r:id="Rf74c7abba547401b"/>
  </p:notesMasterIdLst>
  <p:sldIdLst>
    <p:sldId xmlns:r="http://schemas.openxmlformats.org/officeDocument/2006/relationships" id="256" r:id="R46cf1a5acede4141"/>
    <p:sldId xmlns:r="http://schemas.openxmlformats.org/officeDocument/2006/relationships" id="257" r:id="R01bec55e2d274a83"/>
    <p:sldId xmlns:r="http://schemas.openxmlformats.org/officeDocument/2006/relationships" id="258" r:id="R1f9d29ed198440a3"/>
    <p:sldId xmlns:r="http://schemas.openxmlformats.org/officeDocument/2006/relationships" id="259" r:id="R6cebd7485f1c437a"/>
    <p:sldId xmlns:r="http://schemas.openxmlformats.org/officeDocument/2006/relationships" id="260" r:id="R1be4e9bcd0164e93"/>
    <p:sldId xmlns:r="http://schemas.openxmlformats.org/officeDocument/2006/relationships" id="261" r:id="Rfefdb1ff69b34da8"/>
    <p:sldId xmlns:r="http://schemas.openxmlformats.org/officeDocument/2006/relationships" id="262" r:id="R4f0731d14c0446ea"/>
    <p:sldId xmlns:r="http://schemas.openxmlformats.org/officeDocument/2006/relationships" id="263" r:id="Rfe1db002294849cf"/>
    <p:sldId xmlns:r="http://schemas.openxmlformats.org/officeDocument/2006/relationships" id="264" r:id="R6cb6eac3ea954e0d"/>
    <p:sldId xmlns:r="http://schemas.openxmlformats.org/officeDocument/2006/relationships" id="265" r:id="Rd8189089c7dd43f4"/>
    <p:sldId xmlns:r="http://schemas.openxmlformats.org/officeDocument/2006/relationships" id="266" r:id="R6c8d3e3d3892443d"/>
    <p:sldId xmlns:r="http://schemas.openxmlformats.org/officeDocument/2006/relationships" id="267" r:id="R2fabb34b231b4aea"/>
    <p:sldId xmlns:r="http://schemas.openxmlformats.org/officeDocument/2006/relationships" id="268" r:id="R18365d41b2de4b4b"/>
    <p:sldId xmlns:r="http://schemas.openxmlformats.org/officeDocument/2006/relationships" id="269" r:id="R41f3c8b21dc448a1"/>
    <p:sldId xmlns:r="http://schemas.openxmlformats.org/officeDocument/2006/relationships" id="270" r:id="Rb36592aabeaf481c"/>
    <p:sldId xmlns:r="http://schemas.openxmlformats.org/officeDocument/2006/relationships" id="271" r:id="R5ea8e3644f3a4144"/>
    <p:sldId xmlns:r="http://schemas.openxmlformats.org/officeDocument/2006/relationships" id="272" r:id="R9cdedd67fc024257"/>
    <p:sldId xmlns:r="http://schemas.openxmlformats.org/officeDocument/2006/relationships" id="273" r:id="R031bd8ec9607473d"/>
    <p:sldId xmlns:r="http://schemas.openxmlformats.org/officeDocument/2006/relationships" id="274" r:id="Rf607ad33c2e24a59"/>
    <p:sldId xmlns:r="http://schemas.openxmlformats.org/officeDocument/2006/relationships" id="275" r:id="Rc242b3e493104b8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48e916f1489c43dd" /><Relationship Type="http://schemas.openxmlformats.org/officeDocument/2006/relationships/theme" Target="/ppt/theme/theme1.xml" Id="Rac73ba752c9a4b33" /><Relationship Type="http://schemas.openxmlformats.org/officeDocument/2006/relationships/notesMaster" Target="/ppt/notesMasters/notesMaster1.xml" Id="Rf74c7abba547401b" /><Relationship Type="http://schemas.openxmlformats.org/officeDocument/2006/relationships/presProps" Target="/ppt/presProps.xml" Id="Re8b5a0678d554b4f" /><Relationship Type="http://schemas.openxmlformats.org/officeDocument/2006/relationships/viewProps" Target="/ppt/viewProps.xml" Id="R8b68fdd581954672" /><Relationship Type="http://schemas.openxmlformats.org/officeDocument/2006/relationships/tableStyles" Target="/ppt/tableStyles.xml" Id="R7acf78e6f8234af3" /><Relationship Type="http://schemas.openxmlformats.org/officeDocument/2006/relationships/slide" Target="/ppt/slides/slide1.xml" Id="R46cf1a5acede4141" /><Relationship Type="http://schemas.openxmlformats.org/officeDocument/2006/relationships/slide" Target="/ppt/slides/slide2.xml" Id="R01bec55e2d274a83" /><Relationship Type="http://schemas.openxmlformats.org/officeDocument/2006/relationships/slide" Target="/ppt/slides/slide3.xml" Id="R1f9d29ed198440a3" /><Relationship Type="http://schemas.openxmlformats.org/officeDocument/2006/relationships/slide" Target="/ppt/slides/slide4.xml" Id="R6cebd7485f1c437a" /><Relationship Type="http://schemas.openxmlformats.org/officeDocument/2006/relationships/slide" Target="/ppt/slides/slide5.xml" Id="R1be4e9bcd0164e93" /><Relationship Type="http://schemas.openxmlformats.org/officeDocument/2006/relationships/slide" Target="/ppt/slides/slide6.xml" Id="Rfefdb1ff69b34da8" /><Relationship Type="http://schemas.openxmlformats.org/officeDocument/2006/relationships/slide" Target="/ppt/slides/slide7.xml" Id="R4f0731d14c0446ea" /><Relationship Type="http://schemas.openxmlformats.org/officeDocument/2006/relationships/slide" Target="/ppt/slides/slide8.xml" Id="Rfe1db002294849cf" /><Relationship Type="http://schemas.openxmlformats.org/officeDocument/2006/relationships/slide" Target="/ppt/slides/slide9.xml" Id="R6cb6eac3ea954e0d" /><Relationship Type="http://schemas.openxmlformats.org/officeDocument/2006/relationships/slide" Target="/ppt/slides/slide10.xml" Id="Rd8189089c7dd43f4" /><Relationship Type="http://schemas.openxmlformats.org/officeDocument/2006/relationships/slide" Target="/ppt/slides/slide11.xml" Id="R6c8d3e3d3892443d" /><Relationship Type="http://schemas.openxmlformats.org/officeDocument/2006/relationships/slide" Target="/ppt/slides/slide12.xml" Id="R2fabb34b231b4aea" /><Relationship Type="http://schemas.openxmlformats.org/officeDocument/2006/relationships/slide" Target="/ppt/slides/slide13.xml" Id="R18365d41b2de4b4b" /><Relationship Type="http://schemas.openxmlformats.org/officeDocument/2006/relationships/slide" Target="/ppt/slides/slide14.xml" Id="R41f3c8b21dc448a1" /><Relationship Type="http://schemas.openxmlformats.org/officeDocument/2006/relationships/slide" Target="/ppt/slides/slide15.xml" Id="Rb36592aabeaf481c" /><Relationship Type="http://schemas.openxmlformats.org/officeDocument/2006/relationships/slide" Target="/ppt/slides/slide16.xml" Id="R5ea8e3644f3a4144" /><Relationship Type="http://schemas.openxmlformats.org/officeDocument/2006/relationships/slide" Target="/ppt/slides/slide17.xml" Id="R9cdedd67fc024257" /><Relationship Type="http://schemas.openxmlformats.org/officeDocument/2006/relationships/slide" Target="/ppt/slides/slide18.xml" Id="R031bd8ec9607473d" /><Relationship Type="http://schemas.openxmlformats.org/officeDocument/2006/relationships/slide" Target="/ppt/slides/slide19.xml" Id="Rf607ad33c2e24a59" /><Relationship Type="http://schemas.openxmlformats.org/officeDocument/2006/relationships/slide" Target="/ppt/slides/slide20.xml" Id="Rc242b3e493104b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3a3a766e9c4d4b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301d29988742a5" /><Relationship Type="http://schemas.openxmlformats.org/officeDocument/2006/relationships/notesMaster" Target="/ppt/notesMasters/notesMaster1.xml" Id="Rd4bb146add2d47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43f5315480487b" /><Relationship Type="http://schemas.openxmlformats.org/officeDocument/2006/relationships/notesMaster" Target="/ppt/notesMasters/notesMaster1.xml" Id="Rd7d439e6889c4e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ab90e631514cb8" /><Relationship Type="http://schemas.openxmlformats.org/officeDocument/2006/relationships/notesMaster" Target="/ppt/notesMasters/notesMaster1.xml" Id="R9955236ff18045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55372c7e8b445f" /><Relationship Type="http://schemas.openxmlformats.org/officeDocument/2006/relationships/notesMaster" Target="/ppt/notesMasters/notesMaster1.xml" Id="Rebec45748efd46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ecb9abe5b64265" /><Relationship Type="http://schemas.openxmlformats.org/officeDocument/2006/relationships/notesMaster" Target="/ppt/notesMasters/notesMaster1.xml" Id="Rd4fc2dc9d6ab45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af817bf3cf40c8" /><Relationship Type="http://schemas.openxmlformats.org/officeDocument/2006/relationships/notesMaster" Target="/ppt/notesMasters/notesMaster1.xml" Id="R8025a54602924c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ec66a7eb8148ce" /><Relationship Type="http://schemas.openxmlformats.org/officeDocument/2006/relationships/notesMaster" Target="/ppt/notesMasters/notesMaster1.xml" Id="R50430191d16b42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cf95aac8a74fed" /><Relationship Type="http://schemas.openxmlformats.org/officeDocument/2006/relationships/notesMaster" Target="/ppt/notesMasters/notesMaster1.xml" Id="R0beb9def8e154cd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e7a34188d14f60" /><Relationship Type="http://schemas.openxmlformats.org/officeDocument/2006/relationships/notesMaster" Target="/ppt/notesMasters/notesMaster1.xml" Id="Rcbdd69a9a2f44e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68f63283c354e64" /><Relationship Type="http://schemas.openxmlformats.org/officeDocument/2006/relationships/notesMaster" Target="/ppt/notesMasters/notesMaster1.xml" Id="Rca7ccc8b96324a0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0f398cb03494cda" /><Relationship Type="http://schemas.openxmlformats.org/officeDocument/2006/relationships/notesMaster" Target="/ppt/notesMasters/notesMaster1.xml" Id="R24e5166bdbbc47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c69f29f989547b2" /><Relationship Type="http://schemas.openxmlformats.org/officeDocument/2006/relationships/notesMaster" Target="/ppt/notesMasters/notesMaster1.xml" Id="R6a7f2a11c4b44c7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4b28dfa776424b" /><Relationship Type="http://schemas.openxmlformats.org/officeDocument/2006/relationships/notesMaster" Target="/ppt/notesMasters/notesMaster1.xml" Id="R62d2ac2f0431429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31c175d1ff4453d" /><Relationship Type="http://schemas.openxmlformats.org/officeDocument/2006/relationships/notesMaster" Target="/ppt/notesMasters/notesMaster1.xml" Id="R8955fb41c54a4e8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8f0eb491da14847" /><Relationship Type="http://schemas.openxmlformats.org/officeDocument/2006/relationships/notesMaster" Target="/ppt/notesMasters/notesMaster1.xml" Id="Rcd65a86c2518449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a1e164b46b041d8" /><Relationship Type="http://schemas.openxmlformats.org/officeDocument/2006/relationships/notesMaster" Target="/ppt/notesMasters/notesMaster1.xml" Id="R960996cc5fd345c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f7d03df08a94aea" /><Relationship Type="http://schemas.openxmlformats.org/officeDocument/2006/relationships/notesMaster" Target="/ppt/notesMasters/notesMaster1.xml" Id="Re7b51114eaf142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23b3077e3004785" /><Relationship Type="http://schemas.openxmlformats.org/officeDocument/2006/relationships/notesMaster" Target="/ppt/notesMasters/notesMaster1.xml" Id="R685f2edd2c5f4d0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2f7e198adf84a93" /><Relationship Type="http://schemas.openxmlformats.org/officeDocument/2006/relationships/notesMaster" Target="/ppt/notesMasters/notesMaster1.xml" Id="Reea38b5caf18441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129431851694682" /><Relationship Type="http://schemas.openxmlformats.org/officeDocument/2006/relationships/notesMaster" Target="/ppt/notesMasters/notesMaster1.xml" Id="R9851251cfe1940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Open by positioning UFCL ERP as a business control system, not an IT application. The key message is that Phase 1 is ready to move from build validation into formal user acceptance.</a:t>
            </a:r>
          </a:p>
          <a:p xmlns:a="http://schemas.openxmlformats.org/drawingml/2006/main">
            <a:r>
              <a:t/>
            </a:r>
          </a:p>
          <a:p xmlns:a="http://schemas.openxmlformats.org/drawingml/2006/main">
            <a:r>
              <a:t>Suggested visual or diagram:</a:t>
            </a:r>
          </a:p>
          <a:p xmlns:a="http://schemas.openxmlformats.org/drawingml/2006/main">
            <a:r>
              <a:t>Full-bleed dark executive cover with four bottom metrics: 63 UAT cases, two production chains, seven control areas, and the UAT decision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This slide frames the meeting outcome. The request is not blind go-live approval; it is approval to run structured UAT and prepare the deployment plan based on signed evidence.</a:t>
            </a:r>
          </a:p>
          <a:p xmlns:a="http://schemas.openxmlformats.org/drawingml/2006/main">
            <a:r>
              <a:t/>
            </a:r>
          </a:p>
          <a:p xmlns:a="http://schemas.openxmlformats.org/drawingml/2006/main">
            <a:r>
              <a:t>Suggested visual or diagram:</a:t>
            </a:r>
          </a:p>
          <a:p xmlns:a="http://schemas.openxmlformats.org/drawingml/2006/main">
            <a:r>
              <a:t>Decision-gate card showing UAT as the next controlled approval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Keep this business-led. The ERP is justified by control, speed, and reliable traceability across operational chains, especially where production and finance need one version of the truth.</a:t>
            </a:r>
          </a:p>
          <a:p xmlns:a="http://schemas.openxmlformats.org/drawingml/2006/main">
            <a:r>
              <a:t/>
            </a:r>
          </a:p>
          <a:p xmlns:a="http://schemas.openxmlformats.org/drawingml/2006/main">
            <a:r>
              <a:t>Suggested visual or diagram:</a:t>
            </a:r>
          </a:p>
          <a:p xmlns:a="http://schemas.openxmlformats.org/drawingml/2006/main">
            <a:r>
              <a:t>Four business pain points arranged as control gaps: records, approvals, workshop visibility, and inventory confidence.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Introduce the ERP as a control loop: capture operations, control transactions, and manage performance. This is the simplest executive explanation of the platform.</a:t>
            </a:r>
          </a:p>
          <a:p xmlns:a="http://schemas.openxmlformats.org/drawingml/2006/main">
            <a:r>
              <a:t/>
            </a:r>
          </a:p>
          <a:p xmlns:a="http://schemas.openxmlformats.org/drawingml/2006/main">
            <a:r>
              <a:t>Suggested visual or diagram:</a:t>
            </a:r>
          </a:p>
          <a:p xmlns:a="http://schemas.openxmlformats.org/drawingml/2006/main">
            <a:r>
              <a:t>Three-column operating model: Capture, Control, Manage.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Describe the desktop application as the place where management and internal teams administer users, operate modules, review dashboards, and approve or audit key actions.</a:t>
            </a:r>
          </a:p>
          <a:p xmlns:a="http://schemas.openxmlformats.org/drawingml/2006/main">
            <a:r>
              <a:t/>
            </a:r>
          </a:p>
          <a:p xmlns:a="http://schemas.openxmlformats.org/drawingml/2006/main">
            <a:r>
              <a:t>Suggested visual or diagram:</a:t>
            </a:r>
          </a:p>
          <a:p xmlns:a="http://schemas.openxmlformats.org/drawingml/2006/main">
            <a:r>
              <a:t>Layered desktop architecture diagram: user roles, operations modules, controls/reports, and a central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The leadership point is controlled mobility: field users capture data offline, but nothing bypasses validation, role security, stock rules, or auditability when it syncs.</a:t>
            </a:r>
          </a:p>
          <a:p xmlns:a="http://schemas.openxmlformats.org/drawingml/2006/main">
            <a:r>
              <a:t/>
            </a:r>
          </a:p>
          <a:p xmlns:a="http://schemas.openxmlformats.org/drawingml/2006/main">
            <a:r>
              <a:t>Suggested visual or diagram:</a:t>
            </a:r>
          </a:p>
          <a:p xmlns:a="http://schemas.openxmlformats.org/drawingml/2006/main">
            <a:r>
              <a:t>Mobile-to-API-to-desktop ERP diagram showing offline queue and controlled synchronization.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Explain that the rollout design separates user experience from controlled data services. This helps UFCL start with desktop ERP while preparing mobile synchronization cleanly.</a:t>
            </a:r>
          </a:p>
          <a:p xmlns:a="http://schemas.openxmlformats.org/drawingml/2006/main">
            <a:r>
              <a:t/>
            </a:r>
          </a:p>
          <a:p xmlns:a="http://schemas.openxmlformats.org/drawingml/2006/main">
            <a:r>
              <a:t>Suggested visual or diagram:</a:t>
            </a:r>
          </a:p>
          <a:p xmlns:a="http://schemas.openxmlformats.org/drawingml/2006/main">
            <a:r>
              <a:t>Deployment architecture with three top components connected to a central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Use this slide to reassure workshop managers and executives. The ERP does not flatten accountability; it separates workshop ownership while enabling authorized management visibility.</a:t>
            </a:r>
          </a:p>
          <a:p xmlns:a="http://schemas.openxmlformats.org/drawingml/2006/main">
            <a:r>
              <a:t/>
            </a:r>
          </a:p>
          <a:p xmlns:a="http://schemas.openxmlformats.org/drawingml/2006/main">
            <a:r>
              <a:t>Suggested visual or diagram:</a:t>
            </a:r>
          </a:p>
          <a:p xmlns:a="http://schemas.openxmlformats.org/drawingml/2006/main">
            <a:r>
              <a:t>Three-zone workshop isolation diagram: Gatare, Nyanza, and cross-workshop executive/HQ 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The UAT package tests workflows end to end. That is important because business value is only proven when records reconcile from initial request or harvest through production, stock, sales, and reporting.</a:t>
            </a:r>
          </a:p>
          <a:p xmlns:a="http://schemas.openxmlformats.org/drawingml/2006/main">
            <a:r>
              <a:t/>
            </a:r>
          </a:p>
          <a:p xmlns:a="http://schemas.openxmlformats.org/drawingml/2006/main">
            <a:r>
              <a:t>Suggested visual or diagram:</a:t>
            </a:r>
          </a:p>
          <a:p xmlns:a="http://schemas.openxmlformats.org/drawingml/2006/main">
            <a:r>
              <a:t>Two horizontal workflow chains: timber and poles.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Focus on traceability and reconciliation. Each step captures enough evidence to explain stock movements, production output, waste, and where timber came from.</a:t>
            </a:r>
          </a:p>
          <a:p xmlns:a="http://schemas.openxmlformats.org/drawingml/2006/main">
            <a:r>
              <a:t/>
            </a:r>
          </a:p>
          <a:p xmlns:a="http://schemas.openxmlformats.org/drawingml/2006/main">
            <a:r>
              <a:t>Suggested visual or diagram:</a:t>
            </a:r>
          </a:p>
          <a:p xmlns:a="http://schemas.openxmlformats.org/drawingml/2006/main">
            <a:r>
              <a:t>Four-step timber workflow diagram with a management outcome ribbon.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This slide shows two higher-control workflows. Poles require CEO approval and quality checks before production. Value-added timber depends on destination-controlled inbound transfers.</a:t>
            </a:r>
          </a:p>
          <a:p xmlns:a="http://schemas.openxmlformats.org/drawingml/2006/main">
            <a:r>
              <a:t/>
            </a:r>
          </a:p>
          <a:p xmlns:a="http://schemas.openxmlformats.org/drawingml/2006/main">
            <a:r>
              <a:t>Suggested visual or diagram:</a:t>
            </a:r>
          </a:p>
          <a:p xmlns:a="http://schemas.openxmlformats.org/drawingml/2006/main">
            <a:r>
              <a:t>Two-lane diagram: poles workflow on the left, value-added timber workflow on the 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These workflows matter because they prevent the ERP from being production-only. The system also captures the operational costs and delivery evidence that finance and logistics need.</a:t>
            </a:r>
          </a:p>
          <a:p xmlns:a="http://schemas.openxmlformats.org/drawingml/2006/main">
            <a:r>
              <a:t/>
            </a:r>
          </a:p>
          <a:p xmlns:a="http://schemas.openxmlformats.org/drawingml/2006/main">
            <a:r>
              <a:t>Suggested visual or diagram:</a:t>
            </a:r>
          </a:p>
          <a:p xmlns:a="http://schemas.openxmlformats.org/drawingml/2006/main">
            <a:r>
              <a:t>Four support workflow blocks grouped into materials, labour, deliveries/POD, and fuel/machine 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Describe dashboards as operating discipline: daily visibility, pending approvals, stock balances, and audit evidence. Finance and operations gain the same reconciled view.</a:t>
            </a:r>
          </a:p>
          <a:p xmlns:a="http://schemas.openxmlformats.org/drawingml/2006/main">
            <a:r>
              <a:t/>
            </a:r>
          </a:p>
          <a:p xmlns:a="http://schemas.openxmlformats.org/drawingml/2006/main">
            <a:r>
              <a:t>Suggested visual or diagram:</a:t>
            </a:r>
          </a:p>
          <a:p xmlns:a="http://schemas.openxmlformats.org/drawingml/2006/main">
            <a:r>
              <a:t>Dashboard concept with four KPI families: stock, output, approvals, 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The key reassurance is that offline support improves adoption without weakening control. The ERP remains the official system of record after sync validation.</a:t>
            </a:r>
          </a:p>
          <a:p xmlns:a="http://schemas.openxmlformats.org/drawingml/2006/main">
            <a:r>
              <a:t/>
            </a:r>
          </a:p>
          <a:p xmlns:a="http://schemas.openxmlformats.org/drawingml/2006/main">
            <a:r>
              <a:t>Suggested visual or diagram:</a:t>
            </a:r>
          </a:p>
          <a:p xmlns:a="http://schemas.openxmlformats.org/drawingml/2006/main">
            <a:r>
              <a:t>Four-step offline sync diagram: capture, local queue, sync,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Walk through these as controls, not features. The UAT package explicitly tests audit trail, read-only manager access, workshop scoping, and admin lockout protections.</a:t>
            </a:r>
          </a:p>
          <a:p xmlns:a="http://schemas.openxmlformats.org/drawingml/2006/main">
            <a:r>
              <a:t/>
            </a:r>
          </a:p>
          <a:p xmlns:a="http://schemas.openxmlformats.org/drawingml/2006/main">
            <a:r>
              <a:t>Suggested visual or diagram:</a:t>
            </a:r>
          </a:p>
          <a:p xmlns:a="http://schemas.openxmlformats.org/drawingml/2006/main">
            <a:r>
              <a:t>Six-control matrix covering access, isolation, audit, and administrator safeguards.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This is the progress slide. It confirms that the project has matured into a UAT-ready package with practical business workflows and security controls.</a:t>
            </a:r>
          </a:p>
          <a:p xmlns:a="http://schemas.openxmlformats.org/drawingml/2006/main">
            <a:r>
              <a:t/>
            </a:r>
          </a:p>
          <a:p xmlns:a="http://schemas.openxmlformats.org/drawingml/2006/main">
            <a:r>
              <a:t>Suggested visual or diagram:</a:t>
            </a:r>
          </a:p>
          <a:p xmlns:a="http://schemas.openxmlformats.org/drawingml/2006/main">
            <a:r>
              <a:t>Horizontal milestone timeline from setup to sign-off pack.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Define Phase 1 completion in business terms: tested workflows, pass criteria, documented exceptions, and management sign-off. This avoids mistaking development completion for operational readiness.</a:t>
            </a:r>
          </a:p>
          <a:p xmlns:a="http://schemas.openxmlformats.org/drawingml/2006/main">
            <a:r>
              <a:t/>
            </a:r>
          </a:p>
          <a:p xmlns:a="http://schemas.openxmlformats.org/drawingml/2006/main">
            <a:r>
              <a:t>Suggested visual or diagram:</a:t>
            </a:r>
          </a:p>
          <a:p xmlns:a="http://schemas.openxmlformats.org/drawingml/2006/main">
            <a:r>
              <a:t>Completion matrix with scope, critical coverage, acceptance standard, and decision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This slide gives management the operating plan for UAT. The important point is cross-functional participation and evidence-based closure.</a:t>
            </a:r>
          </a:p>
          <a:p xmlns:a="http://schemas.openxmlformats.org/drawingml/2006/main">
            <a:r>
              <a:t/>
            </a:r>
          </a:p>
          <a:p xmlns:a="http://schemas.openxmlformats.org/drawingml/2006/main">
            <a:r>
              <a:t>Suggested visual or diagram:</a:t>
            </a:r>
          </a:p>
          <a:p xmlns:a="http://schemas.openxmlformats.org/drawingml/2006/main">
            <a:r>
              <a:t>Four-stage UAT plan: prepare, execute, resolve, sign off, with participant callout.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Tie the system back to business value: traceability, faster approvals, inventory reliability, finance discipline, and scalability. These benefits should guide UAT success criteria.</a:t>
            </a:r>
          </a:p>
          <a:p xmlns:a="http://schemas.openxmlformats.org/drawingml/2006/main">
            <a:r>
              <a:t/>
            </a:r>
          </a:p>
          <a:p xmlns:a="http://schemas.openxmlformats.org/drawingml/2006/main">
            <a:r>
              <a:t>Suggested visual or diagram:</a:t>
            </a:r>
          </a:p>
          <a:p xmlns:a="http://schemas.openxmlformats.org/drawingml/2006/main">
            <a:r>
              <a:t>Benefit ladder connecting operational control to management confidence and scalability.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notes:</a:t>
            </a:r>
          </a:p>
          <a:p xmlns:a="http://schemas.openxmlformats.org/drawingml/2006/main">
            <a:r>
              <a:t>Close by asking for the formal approval exactly as requested. Phase 2 should be positioned as a disciplined extension after the Phase 1 UAT evidence is complete.</a:t>
            </a:r>
          </a:p>
          <a:p xmlns:a="http://schemas.openxmlformats.org/drawingml/2006/main">
            <a:r>
              <a:t/>
            </a:r>
          </a:p>
          <a:p xmlns:a="http://schemas.openxmlformats.org/drawingml/2006/main">
            <a:r>
              <a:t>Suggested visual or diagram:</a:t>
            </a:r>
          </a:p>
          <a:p xmlns:a="http://schemas.openxmlformats.org/drawingml/2006/main">
            <a:r>
              <a:t>Dark closing roadmap with five Phase 2 priorities and the formal approval request as the final callout.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7067342b505445a"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b6bd88476d884ca8" /><Relationship Type="http://schemas.openxmlformats.org/officeDocument/2006/relationships/slideLayout" Target="/ppt/slideLayouts/slideLayout2.xml" Id="R3b7351da4e994a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7351da4e994a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9bb428033c674eef" /><Relationship Type="http://schemas.openxmlformats.org/officeDocument/2006/relationships/notesSlide" Target="/ppt/notesSlides/notesSlide1.xml" Id="R7af4c7daf37c4a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acb3e4ab9be48d1" /><Relationship Type="http://schemas.openxmlformats.org/officeDocument/2006/relationships/notesSlide" Target="/ppt/notesSlides/notesSlide2.xml" Id="R4ff650ead5a645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dc4b4221fdcc4f6b" /><Relationship Type="http://schemas.openxmlformats.org/officeDocument/2006/relationships/notesSlide" Target="/ppt/notesSlides/notesSlide3.xml" Id="Rd2b285229c934a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29bca1bf4fd4774" /><Relationship Type="http://schemas.openxmlformats.org/officeDocument/2006/relationships/notesSlide" Target="/ppt/notesSlides/notesSlide4.xml" Id="R75981c2d93f249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22fc9837501d43d9" /><Relationship Type="http://schemas.openxmlformats.org/officeDocument/2006/relationships/notesSlide" Target="/ppt/notesSlides/notesSlide5.xml" Id="R5cebaf3c1f2442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2ef31bf47fdf4ea4" /><Relationship Type="http://schemas.openxmlformats.org/officeDocument/2006/relationships/notesSlide" Target="/ppt/notesSlides/notesSlide6.xml" Id="Rcebb3b76bc7f44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070f007e072c4668" /><Relationship Type="http://schemas.openxmlformats.org/officeDocument/2006/relationships/notesSlide" Target="/ppt/notesSlides/notesSlide7.xml" Id="Re3f914ffd90a4f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43b93c997ab94706" /><Relationship Type="http://schemas.openxmlformats.org/officeDocument/2006/relationships/notesSlide" Target="/ppt/notesSlides/notesSlide8.xml" Id="Rdfaeaca30823447a"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3023e4977a6d4ffd" /><Relationship Type="http://schemas.openxmlformats.org/officeDocument/2006/relationships/notesSlide" Target="/ppt/notesSlides/notesSlide9.xml" Id="Rb9c2568475824b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2137c2c1b70f43c2" /><Relationship Type="http://schemas.openxmlformats.org/officeDocument/2006/relationships/notesSlide" Target="/ppt/notesSlides/notesSlide10.xml" Id="Rb96af7ffdebb45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4e8d0ff0628b4c62" /><Relationship Type="http://schemas.openxmlformats.org/officeDocument/2006/relationships/notesSlide" Target="/ppt/notesSlides/notesSlide11.xml" Id="Rde63b713196b43d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3ca132de962747c8" /><Relationship Type="http://schemas.openxmlformats.org/officeDocument/2006/relationships/notesSlide" Target="/ppt/notesSlides/notesSlide12.xml" Id="Ra20a0b7b30444eb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03180bc6038449e0" /><Relationship Type="http://schemas.openxmlformats.org/officeDocument/2006/relationships/notesSlide" Target="/ppt/notesSlides/notesSlide13.xml" Id="Reee882fedef445d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1b3ad3a10d28483a" /><Relationship Type="http://schemas.openxmlformats.org/officeDocument/2006/relationships/notesSlide" Target="/ppt/notesSlides/notesSlide14.xml" Id="R14c540da8f84414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b9a56cade63b4a5e" /><Relationship Type="http://schemas.openxmlformats.org/officeDocument/2006/relationships/notesSlide" Target="/ppt/notesSlides/notesSlide15.xml" Id="R32ab27af5bed4c7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bc217f85db824320" /><Relationship Type="http://schemas.openxmlformats.org/officeDocument/2006/relationships/notesSlide" Target="/ppt/notesSlides/notesSlide16.xml" Id="R345dcdee667f481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63dd25b975cd487a" /><Relationship Type="http://schemas.openxmlformats.org/officeDocument/2006/relationships/notesSlide" Target="/ppt/notesSlides/notesSlide17.xml" Id="R59bb93838ff149c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b5e7a13a6ad94a60" /><Relationship Type="http://schemas.openxmlformats.org/officeDocument/2006/relationships/notesSlide" Target="/ppt/notesSlides/notesSlide18.xml" Id="Rd43c081b1547495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91df80726ea64c7d" /><Relationship Type="http://schemas.openxmlformats.org/officeDocument/2006/relationships/notesSlide" Target="/ppt/notesSlides/notesSlide19.xml" Id="R2dc25dfad131499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4f35cadcb8ab4912" /><Relationship Type="http://schemas.openxmlformats.org/officeDocument/2006/relationships/notesSlide" Target="/ppt/notesSlides/notesSlide20.xml" Id="Rb4e3b9779ce540f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91BFA76-5296-4D90-BE7D-B370389BA9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235"/>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08AF0B3-FF0B-4E1C-A2D7-4127CA8B4C0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235"/>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377DD83-C942-4A0F-A445-5FFB5F8BBB7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F764AE0D-191B-4925-BB97-9D89E026EF1D}"/>
              </a:ext>
            </a:extLst>
          </p:cNvPr>
          <p:cNvSpPr>
            <a:spLocks xmlns:a="http://schemas.openxmlformats.org/drawingml/2006/main" noGrp="1"/>
          </p:cNvSpPr>
          <p:nvPr/>
        </p:nvSpPr>
        <p:spPr>
          <a:xfrm xmlns:a="http://schemas.openxmlformats.org/drawingml/2006/main">
            <a:off x="0" y="4762500"/>
            <a:ext cx="12192000" cy="2095500"/>
          </a:xfrm>
          <a:prstGeom xmlns:a="http://schemas.openxmlformats.org/drawingml/2006/main" prst="rect">
            <a:avLst/>
          </a:prstGeom>
          <a:solidFill xmlns:a="http://schemas.openxmlformats.org/drawingml/2006/main">
            <a:srgbClr val="183B2F"/>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460E803F-A916-4600-8FA2-5698875E3F34}"/>
              </a:ext>
            </a:extLst>
          </p:cNvPr>
          <p:cNvSpPr>
            <a:spLocks xmlns:a="http://schemas.openxmlformats.org/drawingml/2006/main" noGrp="1"/>
          </p:cNvSpPr>
          <p:nvPr/>
        </p:nvSpPr>
        <p:spPr>
          <a:xfrm xmlns:a="http://schemas.openxmlformats.org/drawingml/2006/main">
            <a:off x="514350" y="571500"/>
            <a:ext cx="95250" cy="95250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8817F5E1-1328-41D7-A6BE-70B4169AEF1D}"/>
              </a:ext>
            </a:extLst>
          </p:cNvPr>
          <p:cNvSpPr>
            <a:spLocks xmlns:a="http://schemas.openxmlformats.org/drawingml/2006/main" noGrp="1"/>
          </p:cNvSpPr>
          <p:nvPr/>
        </p:nvSpPr>
        <p:spPr>
          <a:xfrm xmlns:a="http://schemas.openxmlformats.org/drawingml/2006/main">
            <a:off x="781050" y="514350"/>
            <a:ext cx="72390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UFCL ERP System</a:t>
            </a:r>
          </a:p>
        </p:txBody>
      </p:sp>
      <p:sp>
        <p:nvSpPr>
          <p:cNvPr id="7" name="">
            <a:extLst xmlns:a="http://schemas.openxmlformats.org/drawingml/2006/main">
              <a:ext uri="{FF2B5EF4-FFF2-40B4-BE49-F238E27FC236}">
                <a16:creationId xmlns:a16="http://schemas.microsoft.com/office/drawing/2014/main" id="{DE53B134-B596-46AB-97CC-878A3AEA6483}"/>
              </a:ext>
            </a:extLst>
          </p:cNvPr>
          <p:cNvSpPr>
            <a:spLocks xmlns:a="http://schemas.openxmlformats.org/drawingml/2006/main" noGrp="1"/>
          </p:cNvSpPr>
          <p:nvPr/>
        </p:nvSpPr>
        <p:spPr>
          <a:xfrm xmlns:a="http://schemas.openxmlformats.org/drawingml/2006/main">
            <a:off x="781050" y="1257300"/>
            <a:ext cx="7239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DCE8EF"/>
                </a:solidFill>
                <a:latin typeface="Aptos"/>
                <a:ea typeface="Aptos"/>
                <a:cs typeface="Aptos"/>
              </a:defRPr>
            </a:pPr>
            <a:r>
              <a:rPr sz="1650" b="0">
                <a:solidFill>
                  <a:srgbClr val="DCE8EF"/>
                </a:solidFill>
                <a:latin typeface="Aptos"/>
                <a:ea typeface="Aptos"/>
                <a:cs typeface="Aptos"/>
              </a:rPr>
              <a:t>Executive presentation for management approval</a:t>
            </a:r>
          </a:p>
        </p:txBody>
      </p:sp>
      <p:sp>
        <p:nvSpPr>
          <p:cNvPr id="8" name="">
            <a:extLst xmlns:a="http://schemas.openxmlformats.org/drawingml/2006/main">
              <a:ext uri="{FF2B5EF4-FFF2-40B4-BE49-F238E27FC236}">
                <a16:creationId xmlns:a16="http://schemas.microsoft.com/office/drawing/2014/main" id="{2F40C171-B736-48AF-8AA6-89C926E8C5D2}"/>
              </a:ext>
            </a:extLst>
          </p:cNvPr>
          <p:cNvSpPr>
            <a:spLocks xmlns:a="http://schemas.openxmlformats.org/drawingml/2006/main" noGrp="1"/>
          </p:cNvSpPr>
          <p:nvPr/>
        </p:nvSpPr>
        <p:spPr>
          <a:xfrm xmlns:a="http://schemas.openxmlformats.org/drawingml/2006/main">
            <a:off x="781050" y="2381250"/>
            <a:ext cx="74295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0">
                <a:solidFill>
                  <a:srgbClr val="FFFFFF"/>
                </a:solidFill>
                <a:latin typeface="Aptos Display"/>
                <a:ea typeface="Aptos Display"/>
                <a:cs typeface="Aptos Display"/>
              </a:defRPr>
            </a:pPr>
            <a:r>
              <a:rPr sz="2250" b="0">
                <a:solidFill>
                  <a:srgbClr val="FFFFFF"/>
                </a:solidFill>
                <a:latin typeface="Aptos Display"/>
                <a:ea typeface="Aptos Display"/>
                <a:cs typeface="Aptos Display"/>
              </a:rPr>
              <a:t>A practical operating platform connecting workshop production, logistics, finance controls, approvals, and mobile field execution.</a:t>
            </a:r>
          </a:p>
        </p:txBody>
      </p:sp>
      <p:sp>
        <p:nvSpPr>
          <p:cNvPr id="9" name="">
            <a:extLst xmlns:a="http://schemas.openxmlformats.org/drawingml/2006/main">
              <a:ext uri="{FF2B5EF4-FFF2-40B4-BE49-F238E27FC236}">
                <a16:creationId xmlns:a16="http://schemas.microsoft.com/office/drawing/2014/main" id="{05646896-CE52-43AB-8619-BF572E599F33}"/>
              </a:ext>
            </a:extLst>
          </p:cNvPr>
          <p:cNvSpPr>
            <a:spLocks xmlns:a="http://schemas.openxmlformats.org/drawingml/2006/main" noGrp="1"/>
          </p:cNvSpPr>
          <p:nvPr/>
        </p:nvSpPr>
        <p:spPr>
          <a:xfrm xmlns:a="http://schemas.openxmlformats.org/drawingml/2006/main">
            <a:off x="790575" y="5219700"/>
            <a:ext cx="2190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400" b="1">
                <a:solidFill>
                  <a:srgbClr val="FFFFFF"/>
                </a:solidFill>
                <a:latin typeface="Aptos"/>
                <a:ea typeface="Aptos"/>
                <a:cs typeface="Aptos"/>
              </a:defRPr>
            </a:pPr>
            <a:r>
              <a:rPr sz="2400" b="1">
                <a:solidFill>
                  <a:srgbClr val="FFFFFF"/>
                </a:solidFill>
                <a:latin typeface="Aptos"/>
                <a:ea typeface="Aptos"/>
                <a:cs typeface="Aptos"/>
              </a:rPr>
              <a:t>63</a:t>
            </a:r>
          </a:p>
        </p:txBody>
      </p:sp>
      <p:sp>
        <p:nvSpPr>
          <p:cNvPr id="10" name="">
            <a:extLst xmlns:a="http://schemas.openxmlformats.org/drawingml/2006/main">
              <a:ext uri="{FF2B5EF4-FFF2-40B4-BE49-F238E27FC236}">
                <a16:creationId xmlns:a16="http://schemas.microsoft.com/office/drawing/2014/main" id="{FB44C52F-279C-44E2-BAD9-D0DB62641A48}"/>
              </a:ext>
            </a:extLst>
          </p:cNvPr>
          <p:cNvSpPr>
            <a:spLocks xmlns:a="http://schemas.openxmlformats.org/drawingml/2006/main" noGrp="1"/>
          </p:cNvSpPr>
          <p:nvPr/>
        </p:nvSpPr>
        <p:spPr>
          <a:xfrm xmlns:a="http://schemas.openxmlformats.org/drawingml/2006/main">
            <a:off x="790575" y="5676900"/>
            <a:ext cx="2190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DCE8EF"/>
                </a:solidFill>
                <a:latin typeface="Aptos"/>
                <a:ea typeface="Aptos"/>
                <a:cs typeface="Aptos"/>
              </a:defRPr>
            </a:pPr>
            <a:r>
              <a:rPr sz="1050" b="0">
                <a:solidFill>
                  <a:srgbClr val="DCE8EF"/>
                </a:solidFill>
                <a:latin typeface="Aptos"/>
                <a:ea typeface="Aptos"/>
                <a:cs typeface="Aptos"/>
              </a:rPr>
              <a:t>Phase 1 UAT test cases prepared</a:t>
            </a:r>
          </a:p>
        </p:txBody>
      </p:sp>
      <p:sp>
        <p:nvSpPr>
          <p:cNvPr id="11" name="">
            <a:extLst xmlns:a="http://schemas.openxmlformats.org/drawingml/2006/main">
              <a:ext uri="{FF2B5EF4-FFF2-40B4-BE49-F238E27FC236}">
                <a16:creationId xmlns:a16="http://schemas.microsoft.com/office/drawing/2014/main" id="{0A648F88-2D22-4AF8-A146-7033202F3B55}"/>
              </a:ext>
            </a:extLst>
          </p:cNvPr>
          <p:cNvSpPr>
            <a:spLocks xmlns:a="http://schemas.openxmlformats.org/drawingml/2006/main" noGrp="1"/>
          </p:cNvSpPr>
          <p:nvPr/>
        </p:nvSpPr>
        <p:spPr>
          <a:xfrm xmlns:a="http://schemas.openxmlformats.org/drawingml/2006/main">
            <a:off x="3238500" y="5219700"/>
            <a:ext cx="2476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400" b="1">
                <a:solidFill>
                  <a:srgbClr val="FFFFFF"/>
                </a:solidFill>
                <a:latin typeface="Aptos"/>
                <a:ea typeface="Aptos"/>
                <a:cs typeface="Aptos"/>
              </a:defRPr>
            </a:pPr>
            <a:r>
              <a:rPr sz="2400" b="1">
                <a:solidFill>
                  <a:srgbClr val="FFFFFF"/>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38A1E217-A3BE-4FB1-945C-BA3027F711D2}"/>
              </a:ext>
            </a:extLst>
          </p:cNvPr>
          <p:cNvSpPr>
            <a:spLocks xmlns:a="http://schemas.openxmlformats.org/drawingml/2006/main" noGrp="1"/>
          </p:cNvSpPr>
          <p:nvPr/>
        </p:nvSpPr>
        <p:spPr>
          <a:xfrm xmlns:a="http://schemas.openxmlformats.org/drawingml/2006/main">
            <a:off x="3238500" y="5676900"/>
            <a:ext cx="2476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DCE8EF"/>
                </a:solidFill>
                <a:latin typeface="Aptos"/>
                <a:ea typeface="Aptos"/>
                <a:cs typeface="Aptos"/>
              </a:defRPr>
            </a:pPr>
            <a:r>
              <a:rPr sz="1050" b="0">
                <a:solidFill>
                  <a:srgbClr val="DCE8EF"/>
                </a:solidFill>
                <a:latin typeface="Aptos"/>
                <a:ea typeface="Aptos"/>
                <a:cs typeface="Aptos"/>
              </a:rPr>
              <a:t>End-to-end production chains</a:t>
            </a:r>
          </a:p>
        </p:txBody>
      </p:sp>
      <p:sp>
        <p:nvSpPr>
          <p:cNvPr id="13" name="">
            <a:extLst xmlns:a="http://schemas.openxmlformats.org/drawingml/2006/main">
              <a:ext uri="{FF2B5EF4-FFF2-40B4-BE49-F238E27FC236}">
                <a16:creationId xmlns:a16="http://schemas.microsoft.com/office/drawing/2014/main" id="{B3FAD662-6BF7-4FDA-B755-AB5AA50375CD}"/>
              </a:ext>
            </a:extLst>
          </p:cNvPr>
          <p:cNvSpPr>
            <a:spLocks xmlns:a="http://schemas.openxmlformats.org/drawingml/2006/main" noGrp="1"/>
          </p:cNvSpPr>
          <p:nvPr/>
        </p:nvSpPr>
        <p:spPr>
          <a:xfrm xmlns:a="http://schemas.openxmlformats.org/drawingml/2006/main">
            <a:off x="6000750" y="5219700"/>
            <a:ext cx="2190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400" b="1">
                <a:solidFill>
                  <a:srgbClr val="FFFFFF"/>
                </a:solidFill>
                <a:latin typeface="Aptos"/>
                <a:ea typeface="Aptos"/>
                <a:cs typeface="Aptos"/>
              </a:defRPr>
            </a:pPr>
            <a:r>
              <a:rPr sz="2400" b="1">
                <a:solidFill>
                  <a:srgbClr val="FFFFFF"/>
                </a:solidFill>
                <a:latin typeface="Aptos"/>
                <a:ea typeface="Aptos"/>
                <a:cs typeface="Aptos"/>
              </a:rPr>
              <a:t>7</a:t>
            </a:r>
          </a:p>
        </p:txBody>
      </p:sp>
      <p:sp>
        <p:nvSpPr>
          <p:cNvPr id="14" name="">
            <a:extLst xmlns:a="http://schemas.openxmlformats.org/drawingml/2006/main">
              <a:ext uri="{FF2B5EF4-FFF2-40B4-BE49-F238E27FC236}">
                <a16:creationId xmlns:a16="http://schemas.microsoft.com/office/drawing/2014/main" id="{D6D7AB56-A57F-4277-BC3B-F79FB51DC4CB}"/>
              </a:ext>
            </a:extLst>
          </p:cNvPr>
          <p:cNvSpPr>
            <a:spLocks xmlns:a="http://schemas.openxmlformats.org/drawingml/2006/main" noGrp="1"/>
          </p:cNvSpPr>
          <p:nvPr/>
        </p:nvSpPr>
        <p:spPr>
          <a:xfrm xmlns:a="http://schemas.openxmlformats.org/drawingml/2006/main">
            <a:off x="6000750" y="5676900"/>
            <a:ext cx="2190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DCE8EF"/>
                </a:solidFill>
                <a:latin typeface="Aptos"/>
                <a:ea typeface="Aptos"/>
                <a:cs typeface="Aptos"/>
              </a:defRPr>
            </a:pPr>
            <a:r>
              <a:rPr sz="1050" b="0">
                <a:solidFill>
                  <a:srgbClr val="DCE8EF"/>
                </a:solidFill>
                <a:latin typeface="Aptos"/>
                <a:ea typeface="Aptos"/>
                <a:cs typeface="Aptos"/>
              </a:rPr>
              <a:t>Critical control areas</a:t>
            </a:r>
          </a:p>
        </p:txBody>
      </p:sp>
      <p:sp>
        <p:nvSpPr>
          <p:cNvPr id="15" name="">
            <a:extLst xmlns:a="http://schemas.openxmlformats.org/drawingml/2006/main">
              <a:ext uri="{FF2B5EF4-FFF2-40B4-BE49-F238E27FC236}">
                <a16:creationId xmlns:a16="http://schemas.microsoft.com/office/drawing/2014/main" id="{9EA07C58-5C82-463C-9BBE-59F3C07CA9C8}"/>
              </a:ext>
            </a:extLst>
          </p:cNvPr>
          <p:cNvSpPr>
            <a:spLocks xmlns:a="http://schemas.openxmlformats.org/drawingml/2006/main" noGrp="1"/>
          </p:cNvSpPr>
          <p:nvPr/>
        </p:nvSpPr>
        <p:spPr>
          <a:xfrm xmlns:a="http://schemas.openxmlformats.org/drawingml/2006/main">
            <a:off x="8477250" y="5219700"/>
            <a:ext cx="2286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400" b="1">
                <a:solidFill>
                  <a:srgbClr val="FFFFFF"/>
                </a:solidFill>
                <a:latin typeface="Aptos"/>
                <a:ea typeface="Aptos"/>
                <a:cs typeface="Aptos"/>
              </a:defRPr>
            </a:pPr>
            <a:r>
              <a:rPr sz="2400" b="1">
                <a:solidFill>
                  <a:srgbClr val="FFFFFF"/>
                </a:solidFill>
                <a:latin typeface="Aptos"/>
                <a:ea typeface="Aptos"/>
                <a:cs typeface="Aptos"/>
              </a:rPr>
              <a:t>UAT</a:t>
            </a:r>
          </a:p>
        </p:txBody>
      </p:sp>
      <p:sp>
        <p:nvSpPr>
          <p:cNvPr id="16" name="">
            <a:extLst xmlns:a="http://schemas.openxmlformats.org/drawingml/2006/main">
              <a:ext uri="{FF2B5EF4-FFF2-40B4-BE49-F238E27FC236}">
                <a16:creationId xmlns:a16="http://schemas.microsoft.com/office/drawing/2014/main" id="{2AD1CC77-6337-4501-9874-61F61DECA543}"/>
              </a:ext>
            </a:extLst>
          </p:cNvPr>
          <p:cNvSpPr>
            <a:spLocks xmlns:a="http://schemas.openxmlformats.org/drawingml/2006/main" noGrp="1"/>
          </p:cNvSpPr>
          <p:nvPr/>
        </p:nvSpPr>
        <p:spPr>
          <a:xfrm xmlns:a="http://schemas.openxmlformats.org/drawingml/2006/main">
            <a:off x="8477250" y="5676900"/>
            <a:ext cx="2286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DCE8EF"/>
                </a:solidFill>
                <a:latin typeface="Aptos"/>
                <a:ea typeface="Aptos"/>
                <a:cs typeface="Aptos"/>
              </a:defRPr>
            </a:pPr>
            <a:r>
              <a:rPr sz="1050" b="0">
                <a:solidFill>
                  <a:srgbClr val="DCE8EF"/>
                </a:solidFill>
                <a:latin typeface="Aptos"/>
                <a:ea typeface="Aptos"/>
                <a:cs typeface="Aptos"/>
              </a:rPr>
              <a:t>Decision requested</a:t>
            </a:r>
          </a:p>
        </p:txBody>
      </p:sp>
      <p:sp>
        <p:nvSpPr>
          <p:cNvPr id="17" name="">
            <a:extLst xmlns:a="http://schemas.openxmlformats.org/drawingml/2006/main">
              <a:ext uri="{FF2B5EF4-FFF2-40B4-BE49-F238E27FC236}">
                <a16:creationId xmlns:a16="http://schemas.microsoft.com/office/drawing/2014/main" id="{29535FAF-D6F5-4649-8314-AC50862943A5}"/>
              </a:ext>
            </a:extLst>
          </p:cNvPr>
          <p:cNvSpPr>
            <a:spLocks xmlns:a="http://schemas.openxmlformats.org/drawingml/2006/main" noGrp="1"/>
          </p:cNvSpPr>
          <p:nvPr/>
        </p:nvSpPr>
        <p:spPr>
          <a:xfrm xmlns:a="http://schemas.openxmlformats.org/drawingml/2006/main">
            <a:off x="514350" y="6496050"/>
            <a:ext cx="666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DCE8EF"/>
                </a:solidFill>
                <a:latin typeface="Aptos"/>
                <a:ea typeface="Aptos"/>
                <a:cs typeface="Aptos"/>
              </a:defRPr>
            </a:pPr>
            <a:r>
              <a:rPr sz="750" b="0">
                <a:solidFill>
                  <a:srgbClr val="DCE8EF"/>
                </a:solidFill>
                <a:latin typeface="Aptos"/>
                <a:ea typeface="Aptos"/>
                <a:cs typeface="Aptos"/>
              </a:rPr>
              <a:t>UFCL ERP System | Executive Management Presentation | June 2026</a:t>
            </a:r>
          </a:p>
        </p:txBody>
      </p:sp>
      <p:sp>
        <p:nvSpPr>
          <p:cNvPr id="18" name="">
            <a:extLst xmlns:a="http://schemas.openxmlformats.org/drawingml/2006/main">
              <a:ext uri="{FF2B5EF4-FFF2-40B4-BE49-F238E27FC236}">
                <a16:creationId xmlns:a16="http://schemas.microsoft.com/office/drawing/2014/main" id="{A8F206D5-DD92-4680-97CC-2F3420AC83EE}"/>
              </a:ext>
            </a:extLst>
          </p:cNvPr>
          <p:cNvSpPr>
            <a:spLocks xmlns:a="http://schemas.openxmlformats.org/drawingml/2006/main" noGrp="1"/>
          </p:cNvSpPr>
          <p:nvPr/>
        </p:nvSpPr>
        <p:spPr>
          <a:xfrm xmlns:a="http://schemas.openxmlformats.org/drawingml/2006/main">
            <a:off x="11258550" y="645795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FFFFFF"/>
                </a:solidFill>
                <a:latin typeface="Aptos"/>
                <a:ea typeface="Aptos"/>
                <a:cs typeface="Aptos"/>
              </a:defRPr>
            </a:pPr>
            <a:r>
              <a:rPr sz="825" b="1">
                <a:solidFill>
                  <a:srgbClr val="FFFFFF"/>
                </a:solidFill>
                <a:latin typeface="Aptos"/>
                <a:ea typeface="Aptos"/>
                <a:cs typeface="Aptos"/>
              </a:rPr>
              <a:t>01</a:t>
            </a:r>
          </a:p>
        </p:txBody>
      </p:sp>
    </p:spTree>
    <p:extLst>
      <p:ext uri="{BB962C8B-B14F-4D97-AF65-F5344CB8AC3E}">
        <p14:creationId xmlns:p14="http://schemas.microsoft.com/office/powerpoint/2010/main" val="47592877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32E8E32-9FC8-4AB7-8536-67EB99D3F1B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C801355B-A5A8-4B39-A88D-5F000C1FF7CD}"/>
              </a:ext>
            </a:extLst>
          </p:cNvPr>
          <p:cNvSpPr>
            <a:spLocks xmlns:a="http://schemas.openxmlformats.org/drawingml/2006/main" noGrp="1"/>
          </p:cNvSpPr>
          <p:nvPr/>
        </p:nvSpPr>
        <p:spPr>
          <a:xfrm xmlns:a="http://schemas.openxmlformats.org/drawingml/2006/main">
            <a:off x="514350" y="371475"/>
            <a:ext cx="95250" cy="952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8DC85305-6BF4-4100-BE6C-897B520AA4AC}"/>
              </a:ext>
            </a:extLst>
          </p:cNvPr>
          <p:cNvSpPr>
            <a:spLocks xmlns:a="http://schemas.openxmlformats.org/drawingml/2006/main" noGrp="1"/>
          </p:cNvSpPr>
          <p:nvPr/>
        </p:nvSpPr>
        <p:spPr>
          <a:xfrm xmlns:a="http://schemas.openxmlformats.org/drawingml/2006/main">
            <a:off x="70485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EXECUTIVE DECISION</a:t>
            </a:r>
          </a:p>
        </p:txBody>
      </p:sp>
      <p:sp>
        <p:nvSpPr>
          <p:cNvPr id="4" name="">
            <a:extLst xmlns:a="http://schemas.openxmlformats.org/drawingml/2006/main">
              <a:ext uri="{FF2B5EF4-FFF2-40B4-BE49-F238E27FC236}">
                <a16:creationId xmlns:a16="http://schemas.microsoft.com/office/drawing/2014/main" id="{BF8102F4-46CB-47AB-AE07-172B53DED70F}"/>
              </a:ext>
            </a:extLst>
          </p:cNvPr>
          <p:cNvSpPr>
            <a:spLocks xmlns:a="http://schemas.openxmlformats.org/drawingml/2006/main" noGrp="1"/>
          </p:cNvSpPr>
          <p:nvPr/>
        </p:nvSpPr>
        <p:spPr>
          <a:xfrm xmlns:a="http://schemas.openxmlformats.org/drawingml/2006/main">
            <a:off x="514350" y="685800"/>
            <a:ext cx="88582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42033"/>
                </a:solidFill>
                <a:latin typeface="Aptos Display"/>
                <a:ea typeface="Aptos Display"/>
                <a:cs typeface="Aptos Display"/>
              </a:defRPr>
            </a:pPr>
            <a:r>
              <a:rPr sz="2550" b="1">
                <a:solidFill>
                  <a:srgbClr val="142033"/>
                </a:solidFill>
                <a:latin typeface="Aptos Display"/>
                <a:ea typeface="Aptos Display"/>
                <a:cs typeface="Aptos Display"/>
              </a:rPr>
              <a:t>Management approval is the next step to validate the ERP in real UFCL operations.</a:t>
            </a:r>
          </a:p>
        </p:txBody>
      </p:sp>
      <p:sp>
        <p:nvSpPr>
          <p:cNvPr id="5" name="">
            <a:extLst xmlns:a="http://schemas.openxmlformats.org/drawingml/2006/main">
              <a:ext uri="{FF2B5EF4-FFF2-40B4-BE49-F238E27FC236}">
                <a16:creationId xmlns:a16="http://schemas.microsoft.com/office/drawing/2014/main" id="{10CE33A3-DCB9-4D30-9A21-EBFA160A49C6}"/>
              </a:ext>
            </a:extLst>
          </p:cNvPr>
          <p:cNvSpPr>
            <a:spLocks xmlns:a="http://schemas.openxmlformats.org/drawingml/2006/main" noGrp="1"/>
          </p:cNvSpPr>
          <p:nvPr/>
        </p:nvSpPr>
        <p:spPr>
          <a:xfrm xmlns:a="http://schemas.openxmlformats.org/drawingml/2006/main">
            <a:off x="514350" y="1600200"/>
            <a:ext cx="11163300" cy="9525"/>
          </a:xfrm>
          <a:prstGeom xmlns:a="http://schemas.openxmlformats.org/drawingml/2006/main" prst="rect">
            <a:avLst/>
          </a:prstGeom>
          <a:solidFill xmlns:a="http://schemas.openxmlformats.org/drawingml/2006/main">
            <a:srgbClr val="D9DEE7"/>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118811BB-9935-44E1-8FE9-F4CDEE04E364}"/>
              </a:ext>
            </a:extLst>
          </p:cNvPr>
          <p:cNvSpPr>
            <a:spLocks xmlns:a="http://schemas.openxmlformats.org/drawingml/2006/main" noGrp="1"/>
          </p:cNvSpPr>
          <p:nvPr/>
        </p:nvSpPr>
        <p:spPr>
          <a:xfrm xmlns:a="http://schemas.openxmlformats.org/drawingml/2006/main">
            <a:off x="857250" y="2276475"/>
            <a:ext cx="66675" cy="66675"/>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1600E2B7-B76D-4C81-94E4-CF07E979CEEF}"/>
              </a:ext>
            </a:extLst>
          </p:cNvPr>
          <p:cNvSpPr>
            <a:spLocks xmlns:a="http://schemas.openxmlformats.org/drawingml/2006/main" noGrp="1"/>
          </p:cNvSpPr>
          <p:nvPr/>
        </p:nvSpPr>
        <p:spPr>
          <a:xfrm xmlns:a="http://schemas.openxmlformats.org/drawingml/2006/main">
            <a:off x="1066800" y="2190750"/>
            <a:ext cx="71247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26384F"/>
                </a:solidFill>
                <a:latin typeface="Aptos"/>
                <a:ea typeface="Aptos"/>
                <a:cs typeface="Aptos"/>
              </a:defRPr>
            </a:pPr>
            <a:r>
              <a:rPr sz="1800" b="0">
                <a:solidFill>
                  <a:srgbClr val="26384F"/>
                </a:solidFill>
                <a:latin typeface="Aptos"/>
                <a:ea typeface="Aptos"/>
                <a:cs typeface="Aptos"/>
              </a:rPr>
              <a:t>Approve formal User Acceptance Testing across the timber, poles, logistics, finance, and management workflows.</a:t>
            </a:r>
          </a:p>
        </p:txBody>
      </p:sp>
      <p:sp>
        <p:nvSpPr>
          <p:cNvPr id="8" name="">
            <a:extLst xmlns:a="http://schemas.openxmlformats.org/drawingml/2006/main">
              <a:ext uri="{FF2B5EF4-FFF2-40B4-BE49-F238E27FC236}">
                <a16:creationId xmlns:a16="http://schemas.microsoft.com/office/drawing/2014/main" id="{3DD955C2-0E8C-417E-B3B3-5054FD721444}"/>
              </a:ext>
            </a:extLst>
          </p:cNvPr>
          <p:cNvSpPr>
            <a:spLocks xmlns:a="http://schemas.openxmlformats.org/drawingml/2006/main" noGrp="1"/>
          </p:cNvSpPr>
          <p:nvPr/>
        </p:nvSpPr>
        <p:spPr>
          <a:xfrm xmlns:a="http://schemas.openxmlformats.org/drawingml/2006/main">
            <a:off x="857250" y="3019425"/>
            <a:ext cx="66675" cy="66675"/>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F3CC3A5E-6724-43F6-8F2E-8507FFBFCC65}"/>
              </a:ext>
            </a:extLst>
          </p:cNvPr>
          <p:cNvSpPr>
            <a:spLocks xmlns:a="http://schemas.openxmlformats.org/drawingml/2006/main" noGrp="1"/>
          </p:cNvSpPr>
          <p:nvPr/>
        </p:nvSpPr>
        <p:spPr>
          <a:xfrm xmlns:a="http://schemas.openxmlformats.org/drawingml/2006/main">
            <a:off x="1066800" y="2933700"/>
            <a:ext cx="71247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26384F"/>
                </a:solidFill>
                <a:latin typeface="Aptos"/>
                <a:ea typeface="Aptos"/>
                <a:cs typeface="Aptos"/>
              </a:defRPr>
            </a:pPr>
            <a:r>
              <a:rPr sz="1800" b="0">
                <a:solidFill>
                  <a:srgbClr val="26384F"/>
                </a:solidFill>
                <a:latin typeface="Aptos"/>
                <a:ea typeface="Aptos"/>
                <a:cs typeface="Aptos"/>
              </a:rPr>
              <a:t>Confirm business owners for testing, sign-off, and production rollout preparation.</a:t>
            </a:r>
          </a:p>
        </p:txBody>
      </p:sp>
      <p:sp>
        <p:nvSpPr>
          <p:cNvPr id="10" name="">
            <a:extLst xmlns:a="http://schemas.openxmlformats.org/drawingml/2006/main">
              <a:ext uri="{FF2B5EF4-FFF2-40B4-BE49-F238E27FC236}">
                <a16:creationId xmlns:a16="http://schemas.microsoft.com/office/drawing/2014/main" id="{AA8793F6-D0C3-42A9-B5E8-91C5C64869FA}"/>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5BB7FFD6-9C9C-400E-8BFE-07CF948C72E0}"/>
              </a:ext>
            </a:extLst>
          </p:cNvPr>
          <p:cNvSpPr>
            <a:spLocks xmlns:a="http://schemas.openxmlformats.org/drawingml/2006/main" noGrp="1"/>
          </p:cNvSpPr>
          <p:nvPr/>
        </p:nvSpPr>
        <p:spPr>
          <a:xfrm xmlns:a="http://schemas.openxmlformats.org/drawingml/2006/main">
            <a:off x="1066800" y="3676650"/>
            <a:ext cx="71247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26384F"/>
                </a:solidFill>
                <a:latin typeface="Aptos"/>
                <a:ea typeface="Aptos"/>
                <a:cs typeface="Aptos"/>
              </a:defRPr>
            </a:pPr>
            <a:r>
              <a:rPr sz="1800" b="0">
                <a:solidFill>
                  <a:srgbClr val="26384F"/>
                </a:solidFill>
                <a:latin typeface="Aptos"/>
                <a:ea typeface="Aptos"/>
                <a:cs typeface="Aptos"/>
              </a:rPr>
              <a:t>Use the UAT results to make the production go-live decision with clear evidence.</a:t>
            </a:r>
          </a:p>
        </p:txBody>
      </p:sp>
      <p:sp>
        <p:nvSpPr>
          <p:cNvPr id="12" name="">
            <a:extLst xmlns:a="http://schemas.openxmlformats.org/drawingml/2006/main">
              <a:ext uri="{FF2B5EF4-FFF2-40B4-BE49-F238E27FC236}">
                <a16:creationId xmlns:a16="http://schemas.microsoft.com/office/drawing/2014/main" id="{4D6F500B-3240-4BE4-AAA3-B1CBABABC130}"/>
              </a:ext>
            </a:extLst>
          </p:cNvPr>
          <p:cNvSpPr>
            <a:spLocks xmlns:a="http://schemas.openxmlformats.org/drawingml/2006/main" noGrp="1"/>
          </p:cNvSpPr>
          <p:nvPr/>
        </p:nvSpPr>
        <p:spPr>
          <a:xfrm xmlns:a="http://schemas.openxmlformats.org/drawingml/2006/main">
            <a:off x="8858250" y="2076450"/>
            <a:ext cx="2286000" cy="2381250"/>
          </a:xfrm>
          <a:prstGeom xmlns:a="http://schemas.openxmlformats.org/drawingml/2006/main" prst="rect">
            <a:avLst/>
          </a:prstGeom>
          <a:solidFill xmlns:a="http://schemas.openxmlformats.org/drawingml/2006/main">
            <a:srgbClr val="FFFFFF"/>
          </a:solidFill>
          <a:ln xmlns:a="http://schemas.openxmlformats.org/drawingml/2006/main" w="13335">
            <a:solidFill>
              <a:srgbClr val="2D6A4F"/>
            </a:solidFill>
            <a:prstDash val="solid"/>
          </a:ln>
        </p:spPr>
      </p:sp>
      <p:sp>
        <p:nvSpPr>
          <p:cNvPr id="13" name="">
            <a:extLst xmlns:a="http://schemas.openxmlformats.org/drawingml/2006/main">
              <a:ext uri="{FF2B5EF4-FFF2-40B4-BE49-F238E27FC236}">
                <a16:creationId xmlns:a16="http://schemas.microsoft.com/office/drawing/2014/main" id="{00A3B177-E61F-49A9-BF1B-85EECF2C68AB}"/>
              </a:ext>
            </a:extLst>
          </p:cNvPr>
          <p:cNvSpPr>
            <a:spLocks xmlns:a="http://schemas.openxmlformats.org/drawingml/2006/main" noGrp="1"/>
          </p:cNvSpPr>
          <p:nvPr/>
        </p:nvSpPr>
        <p:spPr>
          <a:xfrm xmlns:a="http://schemas.openxmlformats.org/drawingml/2006/main">
            <a:off x="9144000" y="2343150"/>
            <a:ext cx="1714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2D6A4F"/>
                </a:solidFill>
                <a:latin typeface="Aptos"/>
                <a:ea typeface="Aptos"/>
                <a:cs typeface="Aptos"/>
              </a:defRPr>
            </a:pPr>
            <a:r>
              <a:rPr sz="1350" b="1">
                <a:solidFill>
                  <a:srgbClr val="2D6A4F"/>
                </a:solidFill>
                <a:latin typeface="Aptos"/>
                <a:ea typeface="Aptos"/>
                <a:cs typeface="Aptos"/>
              </a:rPr>
              <a:t>Approval Gate</a:t>
            </a:r>
          </a:p>
        </p:txBody>
      </p:sp>
      <p:sp>
        <p:nvSpPr>
          <p:cNvPr id="14" name="">
            <a:extLst xmlns:a="http://schemas.openxmlformats.org/drawingml/2006/main">
              <a:ext uri="{FF2B5EF4-FFF2-40B4-BE49-F238E27FC236}">
                <a16:creationId xmlns:a16="http://schemas.microsoft.com/office/drawing/2014/main" id="{C9D4BB00-6D6B-4809-978C-9A09B477EE76}"/>
              </a:ext>
            </a:extLst>
          </p:cNvPr>
          <p:cNvSpPr>
            <a:spLocks xmlns:a="http://schemas.openxmlformats.org/drawingml/2006/main" noGrp="1"/>
          </p:cNvSpPr>
          <p:nvPr/>
        </p:nvSpPr>
        <p:spPr>
          <a:xfrm xmlns:a="http://schemas.openxmlformats.org/drawingml/2006/main">
            <a:off x="9239250" y="2781300"/>
            <a:ext cx="1524000" cy="9525"/>
          </a:xfrm>
          <a:prstGeom xmlns:a="http://schemas.openxmlformats.org/drawingml/2006/main" prst="rect">
            <a:avLst/>
          </a:prstGeom>
          <a:solidFill xmlns:a="http://schemas.openxmlformats.org/drawingml/2006/main">
            <a:srgbClr val="D9DEE7"/>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489D7A45-2764-4047-BB1B-CB249214EE9E}"/>
              </a:ext>
            </a:extLst>
          </p:cNvPr>
          <p:cNvSpPr>
            <a:spLocks xmlns:a="http://schemas.openxmlformats.org/drawingml/2006/main" noGrp="1"/>
          </p:cNvSpPr>
          <p:nvPr/>
        </p:nvSpPr>
        <p:spPr>
          <a:xfrm xmlns:a="http://schemas.openxmlformats.org/drawingml/2006/main">
            <a:off x="9258300" y="3048000"/>
            <a:ext cx="14859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3150" b="1">
                <a:solidFill>
                  <a:srgbClr val="142033"/>
                </a:solidFill>
                <a:latin typeface="Aptos Display"/>
                <a:ea typeface="Aptos Display"/>
                <a:cs typeface="Aptos Display"/>
              </a:defRPr>
            </a:pPr>
            <a:r>
              <a:rPr sz="3150" b="1">
                <a:solidFill>
                  <a:srgbClr val="142033"/>
                </a:solidFill>
                <a:latin typeface="Aptos Display"/>
                <a:ea typeface="Aptos Display"/>
                <a:cs typeface="Aptos Display"/>
              </a:rPr>
              <a:t>UAT</a:t>
            </a:r>
          </a:p>
        </p:txBody>
      </p:sp>
      <p:sp>
        <p:nvSpPr>
          <p:cNvPr id="16" name="">
            <a:extLst xmlns:a="http://schemas.openxmlformats.org/drawingml/2006/main">
              <a:ext uri="{FF2B5EF4-FFF2-40B4-BE49-F238E27FC236}">
                <a16:creationId xmlns:a16="http://schemas.microsoft.com/office/drawing/2014/main" id="{97E4E7D2-8F8E-4804-9857-DA6FD1A364D0}"/>
              </a:ext>
            </a:extLst>
          </p:cNvPr>
          <p:cNvSpPr>
            <a:spLocks xmlns:a="http://schemas.openxmlformats.org/drawingml/2006/main" noGrp="1"/>
          </p:cNvSpPr>
          <p:nvPr/>
        </p:nvSpPr>
        <p:spPr>
          <a:xfrm xmlns:a="http://schemas.openxmlformats.org/drawingml/2006/main">
            <a:off x="9182100" y="3733800"/>
            <a:ext cx="16573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667085"/>
                </a:solidFill>
                <a:latin typeface="Aptos"/>
                <a:ea typeface="Aptos"/>
                <a:cs typeface="Aptos"/>
              </a:defRPr>
            </a:pPr>
            <a:r>
              <a:rPr sz="1200" b="0">
                <a:solidFill>
                  <a:srgbClr val="667085"/>
                </a:solidFill>
                <a:latin typeface="Aptos"/>
                <a:ea typeface="Aptos"/>
                <a:cs typeface="Aptos"/>
              </a:rPr>
              <a:t>Production rollout preparation</a:t>
            </a:r>
          </a:p>
        </p:txBody>
      </p:sp>
      <p:sp>
        <p:nvSpPr>
          <p:cNvPr id="17" name="">
            <a:extLst xmlns:a="http://schemas.openxmlformats.org/drawingml/2006/main">
              <a:ext uri="{FF2B5EF4-FFF2-40B4-BE49-F238E27FC236}">
                <a16:creationId xmlns:a16="http://schemas.microsoft.com/office/drawing/2014/main" id="{6215BD10-19A9-4867-B82B-06C864934FE2}"/>
              </a:ext>
            </a:extLst>
          </p:cNvPr>
          <p:cNvSpPr>
            <a:spLocks xmlns:a="http://schemas.openxmlformats.org/drawingml/2006/main" noGrp="1"/>
          </p:cNvSpPr>
          <p:nvPr/>
        </p:nvSpPr>
        <p:spPr>
          <a:xfrm xmlns:a="http://schemas.openxmlformats.org/drawingml/2006/main">
            <a:off x="514350" y="6496050"/>
            <a:ext cx="666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67085"/>
                </a:solidFill>
                <a:latin typeface="Aptos"/>
                <a:ea typeface="Aptos"/>
                <a:cs typeface="Aptos"/>
              </a:defRPr>
            </a:pPr>
            <a:r>
              <a:rPr sz="750" b="0">
                <a:solidFill>
                  <a:srgbClr val="667085"/>
                </a:solidFill>
                <a:latin typeface="Aptos"/>
                <a:ea typeface="Aptos"/>
                <a:cs typeface="Aptos"/>
              </a:rPr>
              <a:t>UFCL ERP System | Executive Management Presentation | June 2026</a:t>
            </a:r>
          </a:p>
        </p:txBody>
      </p:sp>
      <p:sp>
        <p:nvSpPr>
          <p:cNvPr id="18" name="">
            <a:extLst xmlns:a="http://schemas.openxmlformats.org/drawingml/2006/main">
              <a:ext uri="{FF2B5EF4-FFF2-40B4-BE49-F238E27FC236}">
                <a16:creationId xmlns:a16="http://schemas.microsoft.com/office/drawing/2014/main" id="{1513D742-9B4E-4722-A196-549F3810AC6D}"/>
              </a:ext>
            </a:extLst>
          </p:cNvPr>
          <p:cNvSpPr>
            <a:spLocks xmlns:a="http://schemas.openxmlformats.org/drawingml/2006/main" noGrp="1"/>
          </p:cNvSpPr>
          <p:nvPr/>
        </p:nvSpPr>
        <p:spPr>
          <a:xfrm xmlns:a="http://schemas.openxmlformats.org/drawingml/2006/main">
            <a:off x="11258550" y="645795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67085"/>
                </a:solidFill>
                <a:latin typeface="Aptos"/>
                <a:ea typeface="Aptos"/>
                <a:cs typeface="Aptos"/>
              </a:defRPr>
            </a:pPr>
            <a:r>
              <a:rPr sz="825" b="1">
                <a:solidFill>
                  <a:srgbClr val="667085"/>
                </a:solidFill>
                <a:latin typeface="Aptos"/>
                <a:ea typeface="Aptos"/>
                <a:cs typeface="Aptos"/>
              </a:rPr>
              <a:t>02</a:t>
            </a:r>
          </a:p>
        </p:txBody>
      </p:sp>
    </p:spTree>
    <p:extLst>
      <p:ext uri="{BB962C8B-B14F-4D97-AF65-F5344CB8AC3E}">
        <p14:creationId xmlns:p14="http://schemas.microsoft.com/office/powerpoint/2010/main" val="160414641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F5104BB-0ABE-4609-B92B-7ED4DBE472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6A02659C-FD40-4140-98C7-958DCFE6ECB2}"/>
              </a:ext>
            </a:extLst>
          </p:cNvPr>
          <p:cNvSpPr>
            <a:spLocks xmlns:a="http://schemas.openxmlformats.org/drawingml/2006/main" noGrp="1"/>
          </p:cNvSpPr>
          <p:nvPr/>
        </p:nvSpPr>
        <p:spPr>
          <a:xfrm xmlns:a="http://schemas.openxmlformats.org/drawingml/2006/main">
            <a:off x="514350" y="371475"/>
            <a:ext cx="95250" cy="952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6DF7A5ED-5CDA-405A-B8D9-5CBC3568FEAE}"/>
              </a:ext>
            </a:extLst>
          </p:cNvPr>
          <p:cNvSpPr>
            <a:spLocks xmlns:a="http://schemas.openxmlformats.org/drawingml/2006/main" noGrp="1"/>
          </p:cNvSpPr>
          <p:nvPr/>
        </p:nvSpPr>
        <p:spPr>
          <a:xfrm xmlns:a="http://schemas.openxmlformats.org/drawingml/2006/main">
            <a:off x="70485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BUSINESS CHALLENGE</a:t>
            </a:r>
          </a:p>
        </p:txBody>
      </p:sp>
      <p:sp>
        <p:nvSpPr>
          <p:cNvPr id="4" name="">
            <a:extLst xmlns:a="http://schemas.openxmlformats.org/drawingml/2006/main">
              <a:ext uri="{FF2B5EF4-FFF2-40B4-BE49-F238E27FC236}">
                <a16:creationId xmlns:a16="http://schemas.microsoft.com/office/drawing/2014/main" id="{D475922A-C677-45D8-A197-BA3E41EF6994}"/>
              </a:ext>
            </a:extLst>
          </p:cNvPr>
          <p:cNvSpPr>
            <a:spLocks xmlns:a="http://schemas.openxmlformats.org/drawingml/2006/main" noGrp="1"/>
          </p:cNvSpPr>
          <p:nvPr/>
        </p:nvSpPr>
        <p:spPr>
          <a:xfrm xmlns:a="http://schemas.openxmlformats.org/drawingml/2006/main">
            <a:off x="514350" y="685800"/>
            <a:ext cx="88582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42033"/>
                </a:solidFill>
                <a:latin typeface="Aptos Display"/>
                <a:ea typeface="Aptos Display"/>
                <a:cs typeface="Aptos Display"/>
              </a:defRPr>
            </a:pPr>
            <a:r>
              <a:rPr sz="2550" b="1">
                <a:solidFill>
                  <a:srgbClr val="142033"/>
                </a:solidFill>
                <a:latin typeface="Aptos Display"/>
                <a:ea typeface="Aptos Display"/>
                <a:cs typeface="Aptos Display"/>
              </a:rPr>
              <a:t>UFCL has reached the point where paper-led controls slow the business and weaken traceability.</a:t>
            </a:r>
          </a:p>
        </p:txBody>
      </p:sp>
      <p:sp>
        <p:nvSpPr>
          <p:cNvPr id="5" name="">
            <a:extLst xmlns:a="http://schemas.openxmlformats.org/drawingml/2006/main">
              <a:ext uri="{FF2B5EF4-FFF2-40B4-BE49-F238E27FC236}">
                <a16:creationId xmlns:a16="http://schemas.microsoft.com/office/drawing/2014/main" id="{EEE3E9F4-6FAD-4BDC-925C-377CE6D9F3B0}"/>
              </a:ext>
            </a:extLst>
          </p:cNvPr>
          <p:cNvSpPr>
            <a:spLocks xmlns:a="http://schemas.openxmlformats.org/drawingml/2006/main" noGrp="1"/>
          </p:cNvSpPr>
          <p:nvPr/>
        </p:nvSpPr>
        <p:spPr>
          <a:xfrm xmlns:a="http://schemas.openxmlformats.org/drawingml/2006/main">
            <a:off x="514350" y="1600200"/>
            <a:ext cx="11163300" cy="9525"/>
          </a:xfrm>
          <a:prstGeom xmlns:a="http://schemas.openxmlformats.org/drawingml/2006/main" prst="rect">
            <a:avLst/>
          </a:prstGeom>
          <a:solidFill xmlns:a="http://schemas.openxmlformats.org/drawingml/2006/main">
            <a:srgbClr val="D9DEE7"/>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2AC705A0-BE4C-4722-95D7-0432E8C456B2}"/>
              </a:ext>
            </a:extLst>
          </p:cNvPr>
          <p:cNvSpPr>
            <a:spLocks xmlns:a="http://schemas.openxmlformats.org/drawingml/2006/main" noGrp="1"/>
          </p:cNvSpPr>
          <p:nvPr/>
        </p:nvSpPr>
        <p:spPr>
          <a:xfrm xmlns:a="http://schemas.openxmlformats.org/drawingml/2006/main">
            <a:off x="742950" y="2095500"/>
            <a:ext cx="4762500" cy="647700"/>
          </a:xfrm>
          <a:prstGeom xmlns:a="http://schemas.openxmlformats.org/drawingml/2006/main" prst="rect">
            <a:avLst/>
          </a:prstGeom>
          <a:solidFill xmlns:a="http://schemas.openxmlformats.org/drawingml/2006/main">
            <a:srgbClr val="FFFFFF"/>
          </a:solidFill>
          <a:ln xmlns:a="http://schemas.openxmlformats.org/drawingml/2006/main" w="11430">
            <a:solidFill>
              <a:srgbClr val="1A3C5E"/>
            </a:solidFill>
            <a:prstDash val="solid"/>
          </a:ln>
        </p:spPr>
      </p:sp>
      <p:sp>
        <p:nvSpPr>
          <p:cNvPr id="7" name="">
            <a:extLst xmlns:a="http://schemas.openxmlformats.org/drawingml/2006/main">
              <a:ext uri="{FF2B5EF4-FFF2-40B4-BE49-F238E27FC236}">
                <a16:creationId xmlns:a16="http://schemas.microsoft.com/office/drawing/2014/main" id="{98ACE40F-F4C2-4D99-9B78-F05BE09170A5}"/>
              </a:ext>
            </a:extLst>
          </p:cNvPr>
          <p:cNvSpPr>
            <a:spLocks xmlns:a="http://schemas.openxmlformats.org/drawingml/2006/main" noGrp="1"/>
          </p:cNvSpPr>
          <p:nvPr/>
        </p:nvSpPr>
        <p:spPr>
          <a:xfrm xmlns:a="http://schemas.openxmlformats.org/drawingml/2006/main">
            <a:off x="742950" y="2095500"/>
            <a:ext cx="57150" cy="647700"/>
          </a:xfrm>
          <a:prstGeom xmlns:a="http://schemas.openxmlformats.org/drawingml/2006/main" prst="rect">
            <a:avLst/>
          </a:prstGeom>
          <a:solidFill xmlns:a="http://schemas.openxmlformats.org/drawingml/2006/main">
            <a:srgbClr val="1A3C5E"/>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D9EFA61-4ACA-432C-A413-7B0F7E05B1B6}"/>
              </a:ext>
            </a:extLst>
          </p:cNvPr>
          <p:cNvSpPr>
            <a:spLocks xmlns:a="http://schemas.openxmlformats.org/drawingml/2006/main" noGrp="1"/>
          </p:cNvSpPr>
          <p:nvPr/>
        </p:nvSpPr>
        <p:spPr>
          <a:xfrm xmlns:a="http://schemas.openxmlformats.org/drawingml/2006/main">
            <a:off x="914400" y="2228850"/>
            <a:ext cx="44767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142033"/>
                </a:solidFill>
                <a:latin typeface="Aptos"/>
                <a:ea typeface="Aptos"/>
                <a:cs typeface="Aptos"/>
              </a:defRPr>
            </a:pPr>
            <a:r>
              <a:rPr sz="1650" b="1">
                <a:solidFill>
                  <a:srgbClr val="142033"/>
                </a:solidFill>
                <a:latin typeface="Aptos"/>
                <a:ea typeface="Aptos"/>
                <a:cs typeface="Aptos"/>
              </a:rPr>
              <a:t>Fragmented records</a:t>
            </a:r>
          </a:p>
        </p:txBody>
      </p:sp>
      <p:sp>
        <p:nvSpPr>
          <p:cNvPr id="9" name="">
            <a:extLst xmlns:a="http://schemas.openxmlformats.org/drawingml/2006/main">
              <a:ext uri="{FF2B5EF4-FFF2-40B4-BE49-F238E27FC236}">
                <a16:creationId xmlns:a16="http://schemas.microsoft.com/office/drawing/2014/main" id="{AFE1B392-746E-44CD-831A-AEE1ADD52701}"/>
              </a:ext>
            </a:extLst>
          </p:cNvPr>
          <p:cNvSpPr>
            <a:spLocks xmlns:a="http://schemas.openxmlformats.org/drawingml/2006/main" noGrp="1"/>
          </p:cNvSpPr>
          <p:nvPr/>
        </p:nvSpPr>
        <p:spPr>
          <a:xfrm xmlns:a="http://schemas.openxmlformats.org/drawingml/2006/main">
            <a:off x="914400" y="2895600"/>
            <a:ext cx="43338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6384F"/>
                </a:solidFill>
                <a:latin typeface="Aptos"/>
                <a:ea typeface="Aptos"/>
                <a:cs typeface="Aptos"/>
              </a:defRPr>
            </a:pPr>
            <a:r>
              <a:rPr sz="1350" b="0">
                <a:solidFill>
                  <a:srgbClr val="26384F"/>
                </a:solidFill>
                <a:latin typeface="Aptos"/>
                <a:ea typeface="Aptos"/>
                <a:cs typeface="Aptos"/>
              </a:rPr>
              <a:t>Production, transport, labour, fuel, and stock evidence can sit in separate files or manual logs.</a:t>
            </a:r>
          </a:p>
        </p:txBody>
      </p:sp>
      <p:sp>
        <p:nvSpPr>
          <p:cNvPr id="10" name="">
            <a:extLst xmlns:a="http://schemas.openxmlformats.org/drawingml/2006/main">
              <a:ext uri="{FF2B5EF4-FFF2-40B4-BE49-F238E27FC236}">
                <a16:creationId xmlns:a16="http://schemas.microsoft.com/office/drawing/2014/main" id="{860E223B-27EC-495F-B1D4-B83C333E747A}"/>
              </a:ext>
            </a:extLst>
          </p:cNvPr>
          <p:cNvSpPr>
            <a:spLocks xmlns:a="http://schemas.openxmlformats.org/drawingml/2006/main" noGrp="1"/>
          </p:cNvSpPr>
          <p:nvPr/>
        </p:nvSpPr>
        <p:spPr>
          <a:xfrm xmlns:a="http://schemas.openxmlformats.org/drawingml/2006/main">
            <a:off x="6286500" y="2095500"/>
            <a:ext cx="4762500" cy="647700"/>
          </a:xfrm>
          <a:prstGeom xmlns:a="http://schemas.openxmlformats.org/drawingml/2006/main" prst="rect">
            <a:avLst/>
          </a:prstGeom>
          <a:solidFill xmlns:a="http://schemas.openxmlformats.org/drawingml/2006/main">
            <a:srgbClr val="FFFFFF"/>
          </a:solidFill>
          <a:ln xmlns:a="http://schemas.openxmlformats.org/drawingml/2006/main" w="11430">
            <a:solidFill>
              <a:srgbClr val="B5500A"/>
            </a:solidFill>
            <a:prstDash val="solid"/>
          </a:ln>
        </p:spPr>
      </p:sp>
      <p:sp>
        <p:nvSpPr>
          <p:cNvPr id="11" name="">
            <a:extLst xmlns:a="http://schemas.openxmlformats.org/drawingml/2006/main">
              <a:ext uri="{FF2B5EF4-FFF2-40B4-BE49-F238E27FC236}">
                <a16:creationId xmlns:a16="http://schemas.microsoft.com/office/drawing/2014/main" id="{685A9E4F-9CD2-4890-8F37-FC3861BF2458}"/>
              </a:ext>
            </a:extLst>
          </p:cNvPr>
          <p:cNvSpPr>
            <a:spLocks xmlns:a="http://schemas.openxmlformats.org/drawingml/2006/main" noGrp="1"/>
          </p:cNvSpPr>
          <p:nvPr/>
        </p:nvSpPr>
        <p:spPr>
          <a:xfrm xmlns:a="http://schemas.openxmlformats.org/drawingml/2006/main">
            <a:off x="6286500" y="2095500"/>
            <a:ext cx="57150" cy="647700"/>
          </a:xfrm>
          <a:prstGeom xmlns:a="http://schemas.openxmlformats.org/drawingml/2006/main" prst="rect">
            <a:avLst/>
          </a:prstGeom>
          <a:solidFill xmlns:a="http://schemas.openxmlformats.org/drawingml/2006/main">
            <a:srgbClr val="B5500A"/>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C9F6890A-039A-43FC-BF2A-95CBDF1CF84D}"/>
              </a:ext>
            </a:extLst>
          </p:cNvPr>
          <p:cNvSpPr>
            <a:spLocks xmlns:a="http://schemas.openxmlformats.org/drawingml/2006/main" noGrp="1"/>
          </p:cNvSpPr>
          <p:nvPr/>
        </p:nvSpPr>
        <p:spPr>
          <a:xfrm xmlns:a="http://schemas.openxmlformats.org/drawingml/2006/main">
            <a:off x="6457950" y="2228850"/>
            <a:ext cx="44767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142033"/>
                </a:solidFill>
                <a:latin typeface="Aptos"/>
                <a:ea typeface="Aptos"/>
                <a:cs typeface="Aptos"/>
              </a:defRPr>
            </a:pPr>
            <a:r>
              <a:rPr sz="1650" b="1">
                <a:solidFill>
                  <a:srgbClr val="142033"/>
                </a:solidFill>
                <a:latin typeface="Aptos"/>
                <a:ea typeface="Aptos"/>
                <a:cs typeface="Aptos"/>
              </a:rPr>
              <a:t>Delayed approvals</a:t>
            </a:r>
          </a:p>
        </p:txBody>
      </p:sp>
      <p:sp>
        <p:nvSpPr>
          <p:cNvPr id="13" name="">
            <a:extLst xmlns:a="http://schemas.openxmlformats.org/drawingml/2006/main">
              <a:ext uri="{FF2B5EF4-FFF2-40B4-BE49-F238E27FC236}">
                <a16:creationId xmlns:a16="http://schemas.microsoft.com/office/drawing/2014/main" id="{C361B0C2-BEFA-45DC-96F7-1D298DB18DEE}"/>
              </a:ext>
            </a:extLst>
          </p:cNvPr>
          <p:cNvSpPr>
            <a:spLocks xmlns:a="http://schemas.openxmlformats.org/drawingml/2006/main" noGrp="1"/>
          </p:cNvSpPr>
          <p:nvPr/>
        </p:nvSpPr>
        <p:spPr>
          <a:xfrm xmlns:a="http://schemas.openxmlformats.org/drawingml/2006/main">
            <a:off x="6457950" y="2895600"/>
            <a:ext cx="43338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6384F"/>
                </a:solidFill>
                <a:latin typeface="Aptos"/>
                <a:ea typeface="Aptos"/>
                <a:cs typeface="Aptos"/>
              </a:defRPr>
            </a:pPr>
            <a:r>
              <a:rPr sz="1350" b="0">
                <a:solidFill>
                  <a:srgbClr val="26384F"/>
                </a:solidFill>
                <a:latin typeface="Aptos"/>
                <a:ea typeface="Aptos"/>
                <a:cs typeface="Aptos"/>
              </a:rPr>
              <a:t>Purchase requests, deletions, and operational exceptions depend on manual escalation.</a:t>
            </a:r>
          </a:p>
        </p:txBody>
      </p:sp>
      <p:sp>
        <p:nvSpPr>
          <p:cNvPr id="14" name="">
            <a:extLst xmlns:a="http://schemas.openxmlformats.org/drawingml/2006/main">
              <a:ext uri="{FF2B5EF4-FFF2-40B4-BE49-F238E27FC236}">
                <a16:creationId xmlns:a16="http://schemas.microsoft.com/office/drawing/2014/main" id="{A1F76D6A-EAD1-4BFD-8A04-16AD1C907388}"/>
              </a:ext>
            </a:extLst>
          </p:cNvPr>
          <p:cNvSpPr>
            <a:spLocks xmlns:a="http://schemas.openxmlformats.org/drawingml/2006/main" noGrp="1"/>
          </p:cNvSpPr>
          <p:nvPr/>
        </p:nvSpPr>
        <p:spPr>
          <a:xfrm xmlns:a="http://schemas.openxmlformats.org/drawingml/2006/main">
            <a:off x="742950" y="4095750"/>
            <a:ext cx="4762500" cy="647700"/>
          </a:xfrm>
          <a:prstGeom xmlns:a="http://schemas.openxmlformats.org/drawingml/2006/main" prst="rect">
            <a:avLst/>
          </a:prstGeom>
          <a:solidFill xmlns:a="http://schemas.openxmlformats.org/drawingml/2006/main">
            <a:srgbClr val="FFFFFF"/>
          </a:solidFill>
          <a:ln xmlns:a="http://schemas.openxmlformats.org/drawingml/2006/main" w="11430">
            <a:solidFill>
              <a:srgbClr val="2D6A4F"/>
            </a:solidFill>
            <a:prstDash val="solid"/>
          </a:ln>
        </p:spPr>
      </p:sp>
      <p:sp>
        <p:nvSpPr>
          <p:cNvPr id="15" name="">
            <a:extLst xmlns:a="http://schemas.openxmlformats.org/drawingml/2006/main">
              <a:ext uri="{FF2B5EF4-FFF2-40B4-BE49-F238E27FC236}">
                <a16:creationId xmlns:a16="http://schemas.microsoft.com/office/drawing/2014/main" id="{F99423BC-B5F8-49E5-AA3A-9AB40A7DFB6F}"/>
              </a:ext>
            </a:extLst>
          </p:cNvPr>
          <p:cNvSpPr>
            <a:spLocks xmlns:a="http://schemas.openxmlformats.org/drawingml/2006/main" noGrp="1"/>
          </p:cNvSpPr>
          <p:nvPr/>
        </p:nvSpPr>
        <p:spPr>
          <a:xfrm xmlns:a="http://schemas.openxmlformats.org/drawingml/2006/main">
            <a:off x="742950" y="4095750"/>
            <a:ext cx="57150" cy="64770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96F09D92-55C5-4C2F-AF6A-80B56C72BC12}"/>
              </a:ext>
            </a:extLst>
          </p:cNvPr>
          <p:cNvSpPr>
            <a:spLocks xmlns:a="http://schemas.openxmlformats.org/drawingml/2006/main" noGrp="1"/>
          </p:cNvSpPr>
          <p:nvPr/>
        </p:nvSpPr>
        <p:spPr>
          <a:xfrm xmlns:a="http://schemas.openxmlformats.org/drawingml/2006/main">
            <a:off x="914400" y="4229100"/>
            <a:ext cx="44767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142033"/>
                </a:solidFill>
                <a:latin typeface="Aptos"/>
                <a:ea typeface="Aptos"/>
                <a:cs typeface="Aptos"/>
              </a:defRPr>
            </a:pPr>
            <a:r>
              <a:rPr sz="1650" b="1">
                <a:solidFill>
                  <a:srgbClr val="142033"/>
                </a:solidFill>
                <a:latin typeface="Aptos"/>
                <a:ea typeface="Aptos"/>
                <a:cs typeface="Aptos"/>
              </a:rPr>
              <a:t>Workshop visibility gaps</a:t>
            </a:r>
          </a:p>
        </p:txBody>
      </p:sp>
      <p:sp>
        <p:nvSpPr>
          <p:cNvPr id="17" name="">
            <a:extLst xmlns:a="http://schemas.openxmlformats.org/drawingml/2006/main">
              <a:ext uri="{FF2B5EF4-FFF2-40B4-BE49-F238E27FC236}">
                <a16:creationId xmlns:a16="http://schemas.microsoft.com/office/drawing/2014/main" id="{CB7D7D88-BDEA-4E9E-9190-B0111A699339}"/>
              </a:ext>
            </a:extLst>
          </p:cNvPr>
          <p:cNvSpPr>
            <a:spLocks xmlns:a="http://schemas.openxmlformats.org/drawingml/2006/main" noGrp="1"/>
          </p:cNvSpPr>
          <p:nvPr/>
        </p:nvSpPr>
        <p:spPr>
          <a:xfrm xmlns:a="http://schemas.openxmlformats.org/drawingml/2006/main">
            <a:off x="914400" y="4895850"/>
            <a:ext cx="43338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6384F"/>
                </a:solidFill>
                <a:latin typeface="Aptos"/>
                <a:ea typeface="Aptos"/>
                <a:cs typeface="Aptos"/>
              </a:defRPr>
            </a:pPr>
            <a:r>
              <a:rPr sz="1350" b="0">
                <a:solidFill>
                  <a:srgbClr val="26384F"/>
                </a:solidFill>
                <a:latin typeface="Aptos"/>
                <a:ea typeface="Aptos"/>
                <a:cs typeface="Aptos"/>
              </a:rPr>
              <a:t>Managers need reliable workshop-level views without exposing unrelated workshop data.</a:t>
            </a:r>
          </a:p>
        </p:txBody>
      </p:sp>
      <p:sp>
        <p:nvSpPr>
          <p:cNvPr id="18" name="">
            <a:extLst xmlns:a="http://schemas.openxmlformats.org/drawingml/2006/main">
              <a:ext uri="{FF2B5EF4-FFF2-40B4-BE49-F238E27FC236}">
                <a16:creationId xmlns:a16="http://schemas.microsoft.com/office/drawing/2014/main" id="{6C10DE2F-E306-4A95-BBA7-70722FA001F7}"/>
              </a:ext>
            </a:extLst>
          </p:cNvPr>
          <p:cNvSpPr>
            <a:spLocks xmlns:a="http://schemas.openxmlformats.org/drawingml/2006/main" noGrp="1"/>
          </p:cNvSpPr>
          <p:nvPr/>
        </p:nvSpPr>
        <p:spPr>
          <a:xfrm xmlns:a="http://schemas.openxmlformats.org/drawingml/2006/main">
            <a:off x="6286500" y="4095750"/>
            <a:ext cx="4762500" cy="647700"/>
          </a:xfrm>
          <a:prstGeom xmlns:a="http://schemas.openxmlformats.org/drawingml/2006/main" prst="rect">
            <a:avLst/>
          </a:prstGeom>
          <a:solidFill xmlns:a="http://schemas.openxmlformats.org/drawingml/2006/main">
            <a:srgbClr val="FFFFFF"/>
          </a:solidFill>
          <a:ln xmlns:a="http://schemas.openxmlformats.org/drawingml/2006/main" w="11430">
            <a:solidFill>
              <a:srgbClr val="4A1A6E"/>
            </a:solidFill>
            <a:prstDash val="solid"/>
          </a:ln>
        </p:spPr>
      </p:sp>
      <p:sp>
        <p:nvSpPr>
          <p:cNvPr id="19" name="">
            <a:extLst xmlns:a="http://schemas.openxmlformats.org/drawingml/2006/main">
              <a:ext uri="{FF2B5EF4-FFF2-40B4-BE49-F238E27FC236}">
                <a16:creationId xmlns:a16="http://schemas.microsoft.com/office/drawing/2014/main" id="{6796399C-0DC2-4CBE-9FAF-D41E308363E9}"/>
              </a:ext>
            </a:extLst>
          </p:cNvPr>
          <p:cNvSpPr>
            <a:spLocks xmlns:a="http://schemas.openxmlformats.org/drawingml/2006/main" noGrp="1"/>
          </p:cNvSpPr>
          <p:nvPr/>
        </p:nvSpPr>
        <p:spPr>
          <a:xfrm xmlns:a="http://schemas.openxmlformats.org/drawingml/2006/main">
            <a:off x="6286500" y="4095750"/>
            <a:ext cx="57150" cy="647700"/>
          </a:xfrm>
          <a:prstGeom xmlns:a="http://schemas.openxmlformats.org/drawingml/2006/main" prst="rect">
            <a:avLst/>
          </a:prstGeom>
          <a:solidFill xmlns:a="http://schemas.openxmlformats.org/drawingml/2006/main">
            <a:srgbClr val="4A1A6E"/>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F7E918ED-C362-4236-B514-69C73E711A8C}"/>
              </a:ext>
            </a:extLst>
          </p:cNvPr>
          <p:cNvSpPr>
            <a:spLocks xmlns:a="http://schemas.openxmlformats.org/drawingml/2006/main" noGrp="1"/>
          </p:cNvSpPr>
          <p:nvPr/>
        </p:nvSpPr>
        <p:spPr>
          <a:xfrm xmlns:a="http://schemas.openxmlformats.org/drawingml/2006/main">
            <a:off x="6457950" y="4229100"/>
            <a:ext cx="44767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142033"/>
                </a:solidFill>
                <a:latin typeface="Aptos"/>
                <a:ea typeface="Aptos"/>
                <a:cs typeface="Aptos"/>
              </a:defRPr>
            </a:pPr>
            <a:r>
              <a:rPr sz="1650" b="1">
                <a:solidFill>
                  <a:srgbClr val="142033"/>
                </a:solidFill>
                <a:latin typeface="Aptos"/>
                <a:ea typeface="Aptos"/>
                <a:cs typeface="Aptos"/>
              </a:rPr>
              <a:t>Inventory confidence</a:t>
            </a:r>
          </a:p>
        </p:txBody>
      </p:sp>
      <p:sp>
        <p:nvSpPr>
          <p:cNvPr id="21" name="">
            <a:extLst xmlns:a="http://schemas.openxmlformats.org/drawingml/2006/main">
              <a:ext uri="{FF2B5EF4-FFF2-40B4-BE49-F238E27FC236}">
                <a16:creationId xmlns:a16="http://schemas.microsoft.com/office/drawing/2014/main" id="{040BA93D-EBD4-48CE-895D-E61041F637BF}"/>
              </a:ext>
            </a:extLst>
          </p:cNvPr>
          <p:cNvSpPr>
            <a:spLocks xmlns:a="http://schemas.openxmlformats.org/drawingml/2006/main" noGrp="1"/>
          </p:cNvSpPr>
          <p:nvPr/>
        </p:nvSpPr>
        <p:spPr>
          <a:xfrm xmlns:a="http://schemas.openxmlformats.org/drawingml/2006/main">
            <a:off x="6457950" y="4895850"/>
            <a:ext cx="433387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6384F"/>
                </a:solidFill>
                <a:latin typeface="Aptos"/>
                <a:ea typeface="Aptos"/>
                <a:cs typeface="Aptos"/>
              </a:defRPr>
            </a:pPr>
            <a:r>
              <a:rPr sz="1350" b="0">
                <a:solidFill>
                  <a:srgbClr val="26384F"/>
                </a:solidFill>
                <a:latin typeface="Aptos"/>
                <a:ea typeface="Aptos"/>
                <a:cs typeface="Aptos"/>
              </a:rPr>
              <a:t>Logs, timber, poles, VAT stock, sales, and deliveries must reconcile through the full chain.</a:t>
            </a:r>
          </a:p>
        </p:txBody>
      </p:sp>
      <p:sp>
        <p:nvSpPr>
          <p:cNvPr id="22" name="">
            <a:extLst xmlns:a="http://schemas.openxmlformats.org/drawingml/2006/main">
              <a:ext uri="{FF2B5EF4-FFF2-40B4-BE49-F238E27FC236}">
                <a16:creationId xmlns:a16="http://schemas.microsoft.com/office/drawing/2014/main" id="{D820CD52-22C2-4F2A-83E1-3875796F3C61}"/>
              </a:ext>
            </a:extLst>
          </p:cNvPr>
          <p:cNvSpPr>
            <a:spLocks xmlns:a="http://schemas.openxmlformats.org/drawingml/2006/main" noGrp="1"/>
          </p:cNvSpPr>
          <p:nvPr/>
        </p:nvSpPr>
        <p:spPr>
          <a:xfrm xmlns:a="http://schemas.openxmlformats.org/drawingml/2006/main">
            <a:off x="514350" y="6496050"/>
            <a:ext cx="666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67085"/>
                </a:solidFill>
                <a:latin typeface="Aptos"/>
                <a:ea typeface="Aptos"/>
                <a:cs typeface="Aptos"/>
              </a:defRPr>
            </a:pPr>
            <a:r>
              <a:rPr sz="750" b="0">
                <a:solidFill>
                  <a:srgbClr val="667085"/>
                </a:solidFill>
                <a:latin typeface="Aptos"/>
                <a:ea typeface="Aptos"/>
                <a:cs typeface="Aptos"/>
              </a:rPr>
              <a:t>UFCL ERP System | Executive Management Presentation | June 2026</a:t>
            </a:r>
          </a:p>
        </p:txBody>
      </p:sp>
      <p:sp>
        <p:nvSpPr>
          <p:cNvPr id="23" name="">
            <a:extLst xmlns:a="http://schemas.openxmlformats.org/drawingml/2006/main">
              <a:ext uri="{FF2B5EF4-FFF2-40B4-BE49-F238E27FC236}">
                <a16:creationId xmlns:a16="http://schemas.microsoft.com/office/drawing/2014/main" id="{DC41BB2E-BA19-40CB-ACEA-BF35EA2E941F}"/>
              </a:ext>
            </a:extLst>
          </p:cNvPr>
          <p:cNvSpPr>
            <a:spLocks xmlns:a="http://schemas.openxmlformats.org/drawingml/2006/main" noGrp="1"/>
          </p:cNvSpPr>
          <p:nvPr/>
        </p:nvSpPr>
        <p:spPr>
          <a:xfrm xmlns:a="http://schemas.openxmlformats.org/drawingml/2006/main">
            <a:off x="11258550" y="645795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67085"/>
                </a:solidFill>
                <a:latin typeface="Aptos"/>
                <a:ea typeface="Aptos"/>
                <a:cs typeface="Aptos"/>
              </a:defRPr>
            </a:pPr>
            <a:r>
              <a:rPr sz="825" b="1">
                <a:solidFill>
                  <a:srgbClr val="667085"/>
                </a:solidFill>
                <a:latin typeface="Aptos"/>
                <a:ea typeface="Aptos"/>
                <a:cs typeface="Aptos"/>
              </a:rPr>
              <a:t>03</a:t>
            </a:r>
          </a:p>
        </p:txBody>
      </p:sp>
    </p:spTree>
    <p:extLst>
      <p:ext uri="{BB962C8B-B14F-4D97-AF65-F5344CB8AC3E}">
        <p14:creationId xmlns:p14="http://schemas.microsoft.com/office/powerpoint/2010/main" val="96357144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0326BFD-5700-406E-9628-00E6B230A4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FC3CA620-A83D-4BA6-A2B2-67FC6EB3DB2C}"/>
              </a:ext>
            </a:extLst>
          </p:cNvPr>
          <p:cNvSpPr>
            <a:spLocks xmlns:a="http://schemas.openxmlformats.org/drawingml/2006/main" noGrp="1"/>
          </p:cNvSpPr>
          <p:nvPr/>
        </p:nvSpPr>
        <p:spPr>
          <a:xfrm xmlns:a="http://schemas.openxmlformats.org/drawingml/2006/main">
            <a:off x="514350" y="371475"/>
            <a:ext cx="95250" cy="952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72244B87-65D7-4CAC-8202-D515DCB19132}"/>
              </a:ext>
            </a:extLst>
          </p:cNvPr>
          <p:cNvSpPr>
            <a:spLocks xmlns:a="http://schemas.openxmlformats.org/drawingml/2006/main" noGrp="1"/>
          </p:cNvSpPr>
          <p:nvPr/>
        </p:nvSpPr>
        <p:spPr>
          <a:xfrm xmlns:a="http://schemas.openxmlformats.org/drawingml/2006/main">
            <a:off x="70485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SYSTEM INTRODUCTION</a:t>
            </a:r>
          </a:p>
        </p:txBody>
      </p:sp>
      <p:sp>
        <p:nvSpPr>
          <p:cNvPr id="4" name="">
            <a:extLst xmlns:a="http://schemas.openxmlformats.org/drawingml/2006/main">
              <a:ext uri="{FF2B5EF4-FFF2-40B4-BE49-F238E27FC236}">
                <a16:creationId xmlns:a16="http://schemas.microsoft.com/office/drawing/2014/main" id="{FBFF6EDA-D5A9-43DD-810C-1F465A13A7AF}"/>
              </a:ext>
            </a:extLst>
          </p:cNvPr>
          <p:cNvSpPr>
            <a:spLocks xmlns:a="http://schemas.openxmlformats.org/drawingml/2006/main" noGrp="1"/>
          </p:cNvSpPr>
          <p:nvPr/>
        </p:nvSpPr>
        <p:spPr>
          <a:xfrm xmlns:a="http://schemas.openxmlformats.org/drawingml/2006/main">
            <a:off x="514350" y="685800"/>
            <a:ext cx="88582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42033"/>
                </a:solidFill>
                <a:latin typeface="Aptos Display"/>
                <a:ea typeface="Aptos Display"/>
                <a:cs typeface="Aptos Display"/>
              </a:defRPr>
            </a:pPr>
            <a:r>
              <a:rPr sz="2550" b="1">
                <a:solidFill>
                  <a:srgbClr val="142033"/>
                </a:solidFill>
                <a:latin typeface="Aptos Display"/>
                <a:ea typeface="Aptos Display"/>
                <a:cs typeface="Aptos Display"/>
              </a:rPr>
              <a:t>The UFCL ERP connects daily field activity to management decisions in one controlled operating record.</a:t>
            </a:r>
          </a:p>
        </p:txBody>
      </p:sp>
      <p:sp>
        <p:nvSpPr>
          <p:cNvPr id="5" name="">
            <a:extLst xmlns:a="http://schemas.openxmlformats.org/drawingml/2006/main">
              <a:ext uri="{FF2B5EF4-FFF2-40B4-BE49-F238E27FC236}">
                <a16:creationId xmlns:a16="http://schemas.microsoft.com/office/drawing/2014/main" id="{A7B20025-674E-4312-AC75-354D683703A6}"/>
              </a:ext>
            </a:extLst>
          </p:cNvPr>
          <p:cNvSpPr>
            <a:spLocks xmlns:a="http://schemas.openxmlformats.org/drawingml/2006/main" noGrp="1"/>
          </p:cNvSpPr>
          <p:nvPr/>
        </p:nvSpPr>
        <p:spPr>
          <a:xfrm xmlns:a="http://schemas.openxmlformats.org/drawingml/2006/main">
            <a:off x="514350" y="1600200"/>
            <a:ext cx="11163300" cy="9525"/>
          </a:xfrm>
          <a:prstGeom xmlns:a="http://schemas.openxmlformats.org/drawingml/2006/main" prst="rect">
            <a:avLst/>
          </a:prstGeom>
          <a:solidFill xmlns:a="http://schemas.openxmlformats.org/drawingml/2006/main">
            <a:srgbClr val="D9DEE7"/>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4286F46D-B706-4FC3-8A47-49BBC5B2E693}"/>
              </a:ext>
            </a:extLst>
          </p:cNvPr>
          <p:cNvSpPr>
            <a:spLocks xmlns:a="http://schemas.openxmlformats.org/drawingml/2006/main" noGrp="1"/>
          </p:cNvSpPr>
          <p:nvPr/>
        </p:nvSpPr>
        <p:spPr>
          <a:xfrm xmlns:a="http://schemas.openxmlformats.org/drawingml/2006/main">
            <a:off x="819150" y="2238375"/>
            <a:ext cx="3048000" cy="2476500"/>
          </a:xfrm>
          <a:prstGeom xmlns:a="http://schemas.openxmlformats.org/drawingml/2006/main" prst="rect">
            <a:avLst/>
          </a:prstGeom>
          <a:solidFill xmlns:a="http://schemas.openxmlformats.org/drawingml/2006/main">
            <a:srgbClr val="FFFFFF"/>
          </a:solidFill>
          <a:ln xmlns:a="http://schemas.openxmlformats.org/drawingml/2006/main" w="13335">
            <a:solidFill>
              <a:srgbClr val="2D6A4F"/>
            </a:solidFill>
            <a:prstDash val="solid"/>
          </a:ln>
        </p:spPr>
      </p:sp>
      <p:sp>
        <p:nvSpPr>
          <p:cNvPr id="7" name="">
            <a:extLst xmlns:a="http://schemas.openxmlformats.org/drawingml/2006/main">
              <a:ext uri="{FF2B5EF4-FFF2-40B4-BE49-F238E27FC236}">
                <a16:creationId xmlns:a16="http://schemas.microsoft.com/office/drawing/2014/main" id="{6F162031-2D48-42CF-A0D6-F0964A739564}"/>
              </a:ext>
            </a:extLst>
          </p:cNvPr>
          <p:cNvSpPr>
            <a:spLocks xmlns:a="http://schemas.openxmlformats.org/drawingml/2006/main" noGrp="1"/>
          </p:cNvSpPr>
          <p:nvPr/>
        </p:nvSpPr>
        <p:spPr>
          <a:xfrm xmlns:a="http://schemas.openxmlformats.org/drawingml/2006/main">
            <a:off x="819150" y="2238375"/>
            <a:ext cx="3048000" cy="15240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DA152345-AA9D-49E1-A0F3-1C58E03DF1D7}"/>
              </a:ext>
            </a:extLst>
          </p:cNvPr>
          <p:cNvSpPr>
            <a:spLocks xmlns:a="http://schemas.openxmlformats.org/drawingml/2006/main" noGrp="1"/>
          </p:cNvSpPr>
          <p:nvPr/>
        </p:nvSpPr>
        <p:spPr>
          <a:xfrm xmlns:a="http://schemas.openxmlformats.org/drawingml/2006/main">
            <a:off x="1066800" y="2647950"/>
            <a:ext cx="2476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250" b="1">
                <a:solidFill>
                  <a:srgbClr val="2D6A4F"/>
                </a:solidFill>
                <a:latin typeface="Aptos Display"/>
                <a:ea typeface="Aptos Display"/>
                <a:cs typeface="Aptos Display"/>
              </a:defRPr>
            </a:pPr>
            <a:r>
              <a:rPr sz="2250" b="1">
                <a:solidFill>
                  <a:srgbClr val="2D6A4F"/>
                </a:solidFill>
                <a:latin typeface="Aptos Display"/>
                <a:ea typeface="Aptos Display"/>
                <a:cs typeface="Aptos Display"/>
              </a:rPr>
              <a:t>Capture</a:t>
            </a:r>
          </a:p>
        </p:txBody>
      </p:sp>
      <p:sp>
        <p:nvSpPr>
          <p:cNvPr id="9" name="">
            <a:extLst xmlns:a="http://schemas.openxmlformats.org/drawingml/2006/main">
              <a:ext uri="{FF2B5EF4-FFF2-40B4-BE49-F238E27FC236}">
                <a16:creationId xmlns:a16="http://schemas.microsoft.com/office/drawing/2014/main" id="{6E748270-B885-4219-AAAE-82C1E5E41F9B}"/>
              </a:ext>
            </a:extLst>
          </p:cNvPr>
          <p:cNvSpPr>
            <a:spLocks xmlns:a="http://schemas.openxmlformats.org/drawingml/2006/main" noGrp="1"/>
          </p:cNvSpPr>
          <p:nvPr/>
        </p:nvSpPr>
        <p:spPr>
          <a:xfrm xmlns:a="http://schemas.openxmlformats.org/drawingml/2006/main">
            <a:off x="1085850" y="3333750"/>
            <a:ext cx="25146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0">
                <a:solidFill>
                  <a:srgbClr val="26384F"/>
                </a:solidFill>
                <a:latin typeface="Aptos"/>
                <a:ea typeface="Aptos"/>
                <a:cs typeface="Aptos"/>
              </a:defRPr>
            </a:pPr>
            <a:r>
              <a:rPr sz="1425" b="0">
                <a:solidFill>
                  <a:srgbClr val="26384F"/>
                </a:solidFill>
                <a:latin typeface="Aptos"/>
                <a:ea typeface="Aptos"/>
                <a:cs typeface="Aptos"/>
              </a:rPr>
              <a:t>Daily harvesting, transport, production, labour, fuel, requests, deliveries, POD</a:t>
            </a:r>
          </a:p>
        </p:txBody>
      </p:sp>
      <p:sp>
        <p:nvSpPr>
          <p:cNvPr id="10" name="">
            <a:extLst xmlns:a="http://schemas.openxmlformats.org/drawingml/2006/main">
              <a:ext uri="{FF2B5EF4-FFF2-40B4-BE49-F238E27FC236}">
                <a16:creationId xmlns:a16="http://schemas.microsoft.com/office/drawing/2014/main" id="{FA6A3191-7583-417B-8768-9B2B1722329F}"/>
              </a:ext>
            </a:extLst>
          </p:cNvPr>
          <p:cNvSpPr>
            <a:spLocks xmlns:a="http://schemas.openxmlformats.org/drawingml/2006/main" noGrp="1"/>
          </p:cNvSpPr>
          <p:nvPr/>
        </p:nvSpPr>
        <p:spPr>
          <a:xfrm xmlns:a="http://schemas.openxmlformats.org/drawingml/2006/main">
            <a:off x="4457700" y="2238375"/>
            <a:ext cx="3048000" cy="2476500"/>
          </a:xfrm>
          <a:prstGeom xmlns:a="http://schemas.openxmlformats.org/drawingml/2006/main" prst="rect">
            <a:avLst/>
          </a:prstGeom>
          <a:solidFill xmlns:a="http://schemas.openxmlformats.org/drawingml/2006/main">
            <a:srgbClr val="FFFFFF"/>
          </a:solidFill>
          <a:ln xmlns:a="http://schemas.openxmlformats.org/drawingml/2006/main" w="13335">
            <a:solidFill>
              <a:srgbClr val="1A3C5E"/>
            </a:solidFill>
            <a:prstDash val="solid"/>
          </a:ln>
        </p:spPr>
      </p:sp>
      <p:sp>
        <p:nvSpPr>
          <p:cNvPr id="11" name="">
            <a:extLst xmlns:a="http://schemas.openxmlformats.org/drawingml/2006/main">
              <a:ext uri="{FF2B5EF4-FFF2-40B4-BE49-F238E27FC236}">
                <a16:creationId xmlns:a16="http://schemas.microsoft.com/office/drawing/2014/main" id="{CA247CFE-A722-4B79-A262-681B1500588A}"/>
              </a:ext>
            </a:extLst>
          </p:cNvPr>
          <p:cNvSpPr>
            <a:spLocks xmlns:a="http://schemas.openxmlformats.org/drawingml/2006/main" noGrp="1"/>
          </p:cNvSpPr>
          <p:nvPr/>
        </p:nvSpPr>
        <p:spPr>
          <a:xfrm xmlns:a="http://schemas.openxmlformats.org/drawingml/2006/main">
            <a:off x="4457700" y="2238375"/>
            <a:ext cx="3048000" cy="152400"/>
          </a:xfrm>
          <a:prstGeom xmlns:a="http://schemas.openxmlformats.org/drawingml/2006/main" prst="rect">
            <a:avLst/>
          </a:prstGeom>
          <a:solidFill xmlns:a="http://schemas.openxmlformats.org/drawingml/2006/main">
            <a:srgbClr val="1A3C5E"/>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B3354FB2-CC6D-49B0-AABD-C647E3187077}"/>
              </a:ext>
            </a:extLst>
          </p:cNvPr>
          <p:cNvSpPr>
            <a:spLocks xmlns:a="http://schemas.openxmlformats.org/drawingml/2006/main" noGrp="1"/>
          </p:cNvSpPr>
          <p:nvPr/>
        </p:nvSpPr>
        <p:spPr>
          <a:xfrm xmlns:a="http://schemas.openxmlformats.org/drawingml/2006/main">
            <a:off x="4705350" y="2647950"/>
            <a:ext cx="2476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250" b="1">
                <a:solidFill>
                  <a:srgbClr val="1A3C5E"/>
                </a:solidFill>
                <a:latin typeface="Aptos Display"/>
                <a:ea typeface="Aptos Display"/>
                <a:cs typeface="Aptos Display"/>
              </a:defRPr>
            </a:pPr>
            <a:r>
              <a:rPr sz="2250" b="1">
                <a:solidFill>
                  <a:srgbClr val="1A3C5E"/>
                </a:solidFill>
                <a:latin typeface="Aptos Display"/>
                <a:ea typeface="Aptos Display"/>
                <a:cs typeface="Aptos Display"/>
              </a:rPr>
              <a:t>Control</a:t>
            </a:r>
          </a:p>
        </p:txBody>
      </p:sp>
      <p:sp>
        <p:nvSpPr>
          <p:cNvPr id="13" name="">
            <a:extLst xmlns:a="http://schemas.openxmlformats.org/drawingml/2006/main">
              <a:ext uri="{FF2B5EF4-FFF2-40B4-BE49-F238E27FC236}">
                <a16:creationId xmlns:a16="http://schemas.microsoft.com/office/drawing/2014/main" id="{8EE14F38-F435-4919-BD74-1D7199D6525B}"/>
              </a:ext>
            </a:extLst>
          </p:cNvPr>
          <p:cNvSpPr>
            <a:spLocks xmlns:a="http://schemas.openxmlformats.org/drawingml/2006/main" noGrp="1"/>
          </p:cNvSpPr>
          <p:nvPr/>
        </p:nvSpPr>
        <p:spPr>
          <a:xfrm xmlns:a="http://schemas.openxmlformats.org/drawingml/2006/main">
            <a:off x="4724400" y="3333750"/>
            <a:ext cx="25146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0">
                <a:solidFill>
                  <a:srgbClr val="26384F"/>
                </a:solidFill>
                <a:latin typeface="Aptos"/>
                <a:ea typeface="Aptos"/>
                <a:cs typeface="Aptos"/>
              </a:defRPr>
            </a:pPr>
            <a:r>
              <a:rPr sz="1425" b="0">
                <a:solidFill>
                  <a:srgbClr val="26384F"/>
                </a:solidFill>
                <a:latin typeface="Aptos"/>
                <a:ea typeface="Aptos"/>
                <a:cs typeface="Aptos"/>
              </a:rPr>
              <a:t>Role access, workshop isolation, approval gates, stock validation, audit trail</a:t>
            </a:r>
          </a:p>
        </p:txBody>
      </p:sp>
      <p:sp>
        <p:nvSpPr>
          <p:cNvPr id="14" name="">
            <a:extLst xmlns:a="http://schemas.openxmlformats.org/drawingml/2006/main">
              <a:ext uri="{FF2B5EF4-FFF2-40B4-BE49-F238E27FC236}">
                <a16:creationId xmlns:a16="http://schemas.microsoft.com/office/drawing/2014/main" id="{62946F36-C7A9-4C4E-8207-B7198E09D1FA}"/>
              </a:ext>
            </a:extLst>
          </p:cNvPr>
          <p:cNvSpPr>
            <a:spLocks xmlns:a="http://schemas.openxmlformats.org/drawingml/2006/main" noGrp="1"/>
          </p:cNvSpPr>
          <p:nvPr/>
        </p:nvSpPr>
        <p:spPr>
          <a:xfrm xmlns:a="http://schemas.openxmlformats.org/drawingml/2006/main">
            <a:off x="8096250" y="2238375"/>
            <a:ext cx="3048000" cy="2476500"/>
          </a:xfrm>
          <a:prstGeom xmlns:a="http://schemas.openxmlformats.org/drawingml/2006/main" prst="rect">
            <a:avLst/>
          </a:prstGeom>
          <a:solidFill xmlns:a="http://schemas.openxmlformats.org/drawingml/2006/main">
            <a:srgbClr val="FFFFFF"/>
          </a:solidFill>
          <a:ln xmlns:a="http://schemas.openxmlformats.org/drawingml/2006/main" w="13335">
            <a:solidFill>
              <a:srgbClr val="B5500A"/>
            </a:solidFill>
            <a:prstDash val="solid"/>
          </a:ln>
        </p:spPr>
      </p:sp>
      <p:sp>
        <p:nvSpPr>
          <p:cNvPr id="15" name="">
            <a:extLst xmlns:a="http://schemas.openxmlformats.org/drawingml/2006/main">
              <a:ext uri="{FF2B5EF4-FFF2-40B4-BE49-F238E27FC236}">
                <a16:creationId xmlns:a16="http://schemas.microsoft.com/office/drawing/2014/main" id="{3370DBAE-E452-47F8-BC40-DF4334677CC3}"/>
              </a:ext>
            </a:extLst>
          </p:cNvPr>
          <p:cNvSpPr>
            <a:spLocks xmlns:a="http://schemas.openxmlformats.org/drawingml/2006/main" noGrp="1"/>
          </p:cNvSpPr>
          <p:nvPr/>
        </p:nvSpPr>
        <p:spPr>
          <a:xfrm xmlns:a="http://schemas.openxmlformats.org/drawingml/2006/main">
            <a:off x="8096250" y="2238375"/>
            <a:ext cx="3048000" cy="152400"/>
          </a:xfrm>
          <a:prstGeom xmlns:a="http://schemas.openxmlformats.org/drawingml/2006/main" prst="rect">
            <a:avLst/>
          </a:prstGeom>
          <a:solidFill xmlns:a="http://schemas.openxmlformats.org/drawingml/2006/main">
            <a:srgbClr val="B5500A"/>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C9FF7744-13B7-46CD-B325-5F806BBBE4FD}"/>
              </a:ext>
            </a:extLst>
          </p:cNvPr>
          <p:cNvSpPr>
            <a:spLocks xmlns:a="http://schemas.openxmlformats.org/drawingml/2006/main" noGrp="1"/>
          </p:cNvSpPr>
          <p:nvPr/>
        </p:nvSpPr>
        <p:spPr>
          <a:xfrm xmlns:a="http://schemas.openxmlformats.org/drawingml/2006/main">
            <a:off x="8343900" y="2647950"/>
            <a:ext cx="2476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250" b="1">
                <a:solidFill>
                  <a:srgbClr val="B5500A"/>
                </a:solidFill>
                <a:latin typeface="Aptos Display"/>
                <a:ea typeface="Aptos Display"/>
                <a:cs typeface="Aptos Display"/>
              </a:defRPr>
            </a:pPr>
            <a:r>
              <a:rPr sz="2250" b="1">
                <a:solidFill>
                  <a:srgbClr val="B5500A"/>
                </a:solidFill>
                <a:latin typeface="Aptos Display"/>
                <a:ea typeface="Aptos Display"/>
                <a:cs typeface="Aptos Display"/>
              </a:rPr>
              <a:t>Manage</a:t>
            </a:r>
          </a:p>
        </p:txBody>
      </p:sp>
      <p:sp>
        <p:nvSpPr>
          <p:cNvPr id="17" name="">
            <a:extLst xmlns:a="http://schemas.openxmlformats.org/drawingml/2006/main">
              <a:ext uri="{FF2B5EF4-FFF2-40B4-BE49-F238E27FC236}">
                <a16:creationId xmlns:a16="http://schemas.microsoft.com/office/drawing/2014/main" id="{93916EEC-2609-48C8-84B4-58B435C13C4E}"/>
              </a:ext>
            </a:extLst>
          </p:cNvPr>
          <p:cNvSpPr>
            <a:spLocks xmlns:a="http://schemas.openxmlformats.org/drawingml/2006/main" noGrp="1"/>
          </p:cNvSpPr>
          <p:nvPr/>
        </p:nvSpPr>
        <p:spPr>
          <a:xfrm xmlns:a="http://schemas.openxmlformats.org/drawingml/2006/main">
            <a:off x="8362950" y="3333750"/>
            <a:ext cx="25146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0">
                <a:solidFill>
                  <a:srgbClr val="26384F"/>
                </a:solidFill>
                <a:latin typeface="Aptos"/>
                <a:ea typeface="Aptos"/>
                <a:cs typeface="Aptos"/>
              </a:defRPr>
            </a:pPr>
            <a:r>
              <a:rPr sz="1425" b="0">
                <a:solidFill>
                  <a:srgbClr val="26384F"/>
                </a:solidFill>
                <a:latin typeface="Aptos"/>
                <a:ea typeface="Aptos"/>
                <a:cs typeface="Aptos"/>
              </a:rPr>
              <a:t>Dashboards, reports, exception visibility, sign-off evidence, rollout readiness</a:t>
            </a:r>
          </a:p>
        </p:txBody>
      </p:sp>
      <p:sp>
        <p:nvSpPr>
          <p:cNvPr id="18" name="">
            <a:extLst xmlns:a="http://schemas.openxmlformats.org/drawingml/2006/main">
              <a:ext uri="{FF2B5EF4-FFF2-40B4-BE49-F238E27FC236}">
                <a16:creationId xmlns:a16="http://schemas.microsoft.com/office/drawing/2014/main" id="{EDA92CCF-B08C-4003-A844-FCA36F0B5E86}"/>
              </a:ext>
            </a:extLst>
          </p:cNvPr>
          <p:cNvSpPr>
            <a:spLocks xmlns:a="http://schemas.openxmlformats.org/drawingml/2006/main" noGrp="1"/>
          </p:cNvSpPr>
          <p:nvPr/>
        </p:nvSpPr>
        <p:spPr>
          <a:xfrm xmlns:a="http://schemas.openxmlformats.org/drawingml/2006/main">
            <a:off x="514350" y="6496050"/>
            <a:ext cx="666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67085"/>
                </a:solidFill>
                <a:latin typeface="Aptos"/>
                <a:ea typeface="Aptos"/>
                <a:cs typeface="Aptos"/>
              </a:defRPr>
            </a:pPr>
            <a:r>
              <a:rPr sz="750" b="0">
                <a:solidFill>
                  <a:srgbClr val="667085"/>
                </a:solidFill>
                <a:latin typeface="Aptos"/>
                <a:ea typeface="Aptos"/>
                <a:cs typeface="Aptos"/>
              </a:rPr>
              <a:t>UFCL ERP System | Executive Management Presentation | June 2026</a:t>
            </a:r>
          </a:p>
        </p:txBody>
      </p:sp>
      <p:sp>
        <p:nvSpPr>
          <p:cNvPr id="19" name="">
            <a:extLst xmlns:a="http://schemas.openxmlformats.org/drawingml/2006/main">
              <a:ext uri="{FF2B5EF4-FFF2-40B4-BE49-F238E27FC236}">
                <a16:creationId xmlns:a16="http://schemas.microsoft.com/office/drawing/2014/main" id="{D8470E67-E1B6-4B10-8031-3D2F4D8AA5F1}"/>
              </a:ext>
            </a:extLst>
          </p:cNvPr>
          <p:cNvSpPr>
            <a:spLocks xmlns:a="http://schemas.openxmlformats.org/drawingml/2006/main" noGrp="1"/>
          </p:cNvSpPr>
          <p:nvPr/>
        </p:nvSpPr>
        <p:spPr>
          <a:xfrm xmlns:a="http://schemas.openxmlformats.org/drawingml/2006/main">
            <a:off x="11258550" y="645795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67085"/>
                </a:solidFill>
                <a:latin typeface="Aptos"/>
                <a:ea typeface="Aptos"/>
                <a:cs typeface="Aptos"/>
              </a:defRPr>
            </a:pPr>
            <a:r>
              <a:rPr sz="825" b="1">
                <a:solidFill>
                  <a:srgbClr val="667085"/>
                </a:solidFill>
                <a:latin typeface="Aptos"/>
                <a:ea typeface="Aptos"/>
                <a:cs typeface="Aptos"/>
              </a:rPr>
              <a:t>04</a:t>
            </a:r>
          </a:p>
        </p:txBody>
      </p:sp>
    </p:spTree>
    <p:extLst>
      <p:ext uri="{BB962C8B-B14F-4D97-AF65-F5344CB8AC3E}">
        <p14:creationId xmlns:p14="http://schemas.microsoft.com/office/powerpoint/2010/main" val="88546448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5D680C4-CCCD-4020-A130-DCCF0EC99F1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9879D3C4-F0EA-4BE5-85A4-EC2A31988884}"/>
              </a:ext>
            </a:extLst>
          </p:cNvPr>
          <p:cNvSpPr>
            <a:spLocks xmlns:a="http://schemas.openxmlformats.org/drawingml/2006/main" noGrp="1"/>
          </p:cNvSpPr>
          <p:nvPr/>
        </p:nvSpPr>
        <p:spPr>
          <a:xfrm xmlns:a="http://schemas.openxmlformats.org/drawingml/2006/main">
            <a:off x="514350" y="371475"/>
            <a:ext cx="95250" cy="952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D8FB3280-C2DB-4086-9C8D-88F17DA95E89}"/>
              </a:ext>
            </a:extLst>
          </p:cNvPr>
          <p:cNvSpPr>
            <a:spLocks xmlns:a="http://schemas.openxmlformats.org/drawingml/2006/main" noGrp="1"/>
          </p:cNvSpPr>
          <p:nvPr/>
        </p:nvSpPr>
        <p:spPr>
          <a:xfrm xmlns:a="http://schemas.openxmlformats.org/drawingml/2006/main">
            <a:off x="70485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DESKTOP ARCHITECTURE</a:t>
            </a:r>
          </a:p>
        </p:txBody>
      </p:sp>
      <p:sp>
        <p:nvSpPr>
          <p:cNvPr id="4" name="">
            <a:extLst xmlns:a="http://schemas.openxmlformats.org/drawingml/2006/main">
              <a:ext uri="{FF2B5EF4-FFF2-40B4-BE49-F238E27FC236}">
                <a16:creationId xmlns:a16="http://schemas.microsoft.com/office/drawing/2014/main" id="{600223C5-D404-4DE2-ACD6-CDBCBAA9A8F1}"/>
              </a:ext>
            </a:extLst>
          </p:cNvPr>
          <p:cNvSpPr>
            <a:spLocks xmlns:a="http://schemas.openxmlformats.org/drawingml/2006/main" noGrp="1"/>
          </p:cNvSpPr>
          <p:nvPr/>
        </p:nvSpPr>
        <p:spPr>
          <a:xfrm xmlns:a="http://schemas.openxmlformats.org/drawingml/2006/main">
            <a:off x="514350" y="685800"/>
            <a:ext cx="88582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42033"/>
                </a:solidFill>
                <a:latin typeface="Aptos Display"/>
                <a:ea typeface="Aptos Display"/>
                <a:cs typeface="Aptos Display"/>
              </a:defRPr>
            </a:pPr>
            <a:r>
              <a:rPr sz="2550" b="1">
                <a:solidFill>
                  <a:srgbClr val="142033"/>
                </a:solidFill>
                <a:latin typeface="Aptos Display"/>
                <a:ea typeface="Aptos Display"/>
                <a:cs typeface="Aptos Display"/>
              </a:rPr>
              <a:t>The desktop ERP is the management cockpit for master data, approvals, dashboards, and audited transactions.</a:t>
            </a:r>
          </a:p>
        </p:txBody>
      </p:sp>
      <p:sp>
        <p:nvSpPr>
          <p:cNvPr id="5" name="">
            <a:extLst xmlns:a="http://schemas.openxmlformats.org/drawingml/2006/main">
              <a:ext uri="{FF2B5EF4-FFF2-40B4-BE49-F238E27FC236}">
                <a16:creationId xmlns:a16="http://schemas.microsoft.com/office/drawing/2014/main" id="{5EF893CE-A5F1-414B-BBBC-F9812E209432}"/>
              </a:ext>
            </a:extLst>
          </p:cNvPr>
          <p:cNvSpPr>
            <a:spLocks xmlns:a="http://schemas.openxmlformats.org/drawingml/2006/main" noGrp="1"/>
          </p:cNvSpPr>
          <p:nvPr/>
        </p:nvSpPr>
        <p:spPr>
          <a:xfrm xmlns:a="http://schemas.openxmlformats.org/drawingml/2006/main">
            <a:off x="514350" y="1600200"/>
            <a:ext cx="11163300" cy="9525"/>
          </a:xfrm>
          <a:prstGeom xmlns:a="http://schemas.openxmlformats.org/drawingml/2006/main" prst="rect">
            <a:avLst/>
          </a:prstGeom>
          <a:solidFill xmlns:a="http://schemas.openxmlformats.org/drawingml/2006/main">
            <a:srgbClr val="D9DEE7"/>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A0BDC786-9647-4C2D-9DD4-F25664914EB5}"/>
              </a:ext>
            </a:extLst>
          </p:cNvPr>
          <p:cNvSpPr>
            <a:spLocks xmlns:a="http://schemas.openxmlformats.org/drawingml/2006/main" noGrp="1"/>
          </p:cNvSpPr>
          <p:nvPr/>
        </p:nvSpPr>
        <p:spPr>
          <a:xfrm xmlns:a="http://schemas.openxmlformats.org/drawingml/2006/main">
            <a:off x="914400" y="2076450"/>
            <a:ext cx="2476500" cy="742950"/>
          </a:xfrm>
          <a:prstGeom xmlns:a="http://schemas.openxmlformats.org/drawingml/2006/main" prst="rect">
            <a:avLst/>
          </a:prstGeom>
          <a:solidFill xmlns:a="http://schemas.openxmlformats.org/drawingml/2006/main">
            <a:srgbClr val="E7EEF5"/>
          </a:solidFill>
          <a:ln xmlns:a="http://schemas.openxmlformats.org/drawingml/2006/main" w="11430">
            <a:solidFill>
              <a:srgbClr val="1A3C5E"/>
            </a:solidFill>
            <a:prstDash val="solid"/>
          </a:ln>
        </p:spPr>
      </p:sp>
      <p:sp>
        <p:nvSpPr>
          <p:cNvPr id="7" name="">
            <a:extLst xmlns:a="http://schemas.openxmlformats.org/drawingml/2006/main">
              <a:ext uri="{FF2B5EF4-FFF2-40B4-BE49-F238E27FC236}">
                <a16:creationId xmlns:a16="http://schemas.microsoft.com/office/drawing/2014/main" id="{E2906310-5E26-446A-BF25-BAE1B776F30B}"/>
              </a:ext>
            </a:extLst>
          </p:cNvPr>
          <p:cNvSpPr>
            <a:spLocks xmlns:a="http://schemas.openxmlformats.org/drawingml/2006/main" noGrp="1"/>
          </p:cNvSpPr>
          <p:nvPr/>
        </p:nvSpPr>
        <p:spPr>
          <a:xfrm xmlns:a="http://schemas.openxmlformats.org/drawingml/2006/main">
            <a:off x="914400" y="2076450"/>
            <a:ext cx="57150" cy="742950"/>
          </a:xfrm>
          <a:prstGeom xmlns:a="http://schemas.openxmlformats.org/drawingml/2006/main" prst="rect">
            <a:avLst/>
          </a:prstGeom>
          <a:solidFill xmlns:a="http://schemas.openxmlformats.org/drawingml/2006/main">
            <a:srgbClr val="1A3C5E"/>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806D1DD1-AB23-4038-9DFB-C94A843DC658}"/>
              </a:ext>
            </a:extLst>
          </p:cNvPr>
          <p:cNvSpPr>
            <a:spLocks xmlns:a="http://schemas.openxmlformats.org/drawingml/2006/main" noGrp="1"/>
          </p:cNvSpPr>
          <p:nvPr/>
        </p:nvSpPr>
        <p:spPr>
          <a:xfrm xmlns:a="http://schemas.openxmlformats.org/drawingml/2006/main">
            <a:off x="1085850" y="2209800"/>
            <a:ext cx="21907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142033"/>
                </a:solidFill>
                <a:latin typeface="Aptos"/>
                <a:ea typeface="Aptos"/>
                <a:cs typeface="Aptos"/>
              </a:defRPr>
            </a:pPr>
            <a:r>
              <a:rPr sz="1650" b="1">
                <a:solidFill>
                  <a:srgbClr val="142033"/>
                </a:solidFill>
                <a:latin typeface="Aptos"/>
                <a:ea typeface="Aptos"/>
                <a:cs typeface="Aptos"/>
              </a:rPr>
              <a:t>Users &amp; Roles</a:t>
            </a:r>
          </a:p>
        </p:txBody>
      </p:sp>
      <p:sp>
        <p:nvSpPr>
          <p:cNvPr id="9" name="">
            <a:extLst xmlns:a="http://schemas.openxmlformats.org/drawingml/2006/main">
              <a:ext uri="{FF2B5EF4-FFF2-40B4-BE49-F238E27FC236}">
                <a16:creationId xmlns:a16="http://schemas.microsoft.com/office/drawing/2014/main" id="{6C4AAF4D-0FF9-4D4C-9468-D859FA2E06C9}"/>
              </a:ext>
            </a:extLst>
          </p:cNvPr>
          <p:cNvSpPr>
            <a:spLocks xmlns:a="http://schemas.openxmlformats.org/drawingml/2006/main" noGrp="1"/>
          </p:cNvSpPr>
          <p:nvPr/>
        </p:nvSpPr>
        <p:spPr>
          <a:xfrm xmlns:a="http://schemas.openxmlformats.org/drawingml/2006/main">
            <a:off x="3476625" y="2447925"/>
            <a:ext cx="876300" cy="19050"/>
          </a:xfrm>
          <a:prstGeom xmlns:a="http://schemas.openxmlformats.org/drawingml/2006/main" prst="rect">
            <a:avLst/>
          </a:prstGeom>
          <a:solidFill xmlns:a="http://schemas.openxmlformats.org/drawingml/2006/main">
            <a:srgbClr val="D9DEE7"/>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B8E34C31-FE12-4B2E-83CF-6B49476DD541}"/>
              </a:ext>
            </a:extLst>
          </p:cNvPr>
          <p:cNvSpPr>
            <a:spLocks xmlns:a="http://schemas.openxmlformats.org/drawingml/2006/main" noGrp="1"/>
          </p:cNvSpPr>
          <p:nvPr/>
        </p:nvSpPr>
        <p:spPr>
          <a:xfrm xmlns:a="http://schemas.openxmlformats.org/drawingml/2006/main">
            <a:off x="4362450" y="2076450"/>
            <a:ext cx="6172200" cy="742950"/>
          </a:xfrm>
          <a:prstGeom xmlns:a="http://schemas.openxmlformats.org/drawingml/2006/main" prst="rect">
            <a:avLst/>
          </a:prstGeom>
          <a:solidFill xmlns:a="http://schemas.openxmlformats.org/drawingml/2006/main">
            <a:srgbClr val="FFFFFF"/>
          </a:solidFill>
          <a:ln xmlns:a="http://schemas.openxmlformats.org/drawingml/2006/main" w="11430">
            <a:solidFill>
              <a:srgbClr val="1A3C5E"/>
            </a:solidFill>
            <a:prstDash val="solid"/>
          </a:ln>
        </p:spPr>
      </p:sp>
      <p:sp>
        <p:nvSpPr>
          <p:cNvPr id="11" name="">
            <a:extLst xmlns:a="http://schemas.openxmlformats.org/drawingml/2006/main">
              <a:ext uri="{FF2B5EF4-FFF2-40B4-BE49-F238E27FC236}">
                <a16:creationId xmlns:a16="http://schemas.microsoft.com/office/drawing/2014/main" id="{238C2DFB-20EE-48AB-BDEA-6DA8D2930FB4}"/>
              </a:ext>
            </a:extLst>
          </p:cNvPr>
          <p:cNvSpPr>
            <a:spLocks xmlns:a="http://schemas.openxmlformats.org/drawingml/2006/main" noGrp="1"/>
          </p:cNvSpPr>
          <p:nvPr/>
        </p:nvSpPr>
        <p:spPr>
          <a:xfrm xmlns:a="http://schemas.openxmlformats.org/drawingml/2006/main">
            <a:off x="4362450" y="2076450"/>
            <a:ext cx="57150" cy="742950"/>
          </a:xfrm>
          <a:prstGeom xmlns:a="http://schemas.openxmlformats.org/drawingml/2006/main" prst="rect">
            <a:avLst/>
          </a:prstGeom>
          <a:solidFill xmlns:a="http://schemas.openxmlformats.org/drawingml/2006/main">
            <a:srgbClr val="1A3C5E"/>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D68E450F-93D1-4A0D-B91B-429CEC8DFFC3}"/>
              </a:ext>
            </a:extLst>
          </p:cNvPr>
          <p:cNvSpPr>
            <a:spLocks xmlns:a="http://schemas.openxmlformats.org/drawingml/2006/main" noGrp="1"/>
          </p:cNvSpPr>
          <p:nvPr/>
        </p:nvSpPr>
        <p:spPr>
          <a:xfrm xmlns:a="http://schemas.openxmlformats.org/drawingml/2006/main">
            <a:off x="4533900" y="2209800"/>
            <a:ext cx="58864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350" b="0">
                <a:solidFill>
                  <a:srgbClr val="142033"/>
                </a:solidFill>
                <a:latin typeface="Aptos"/>
                <a:ea typeface="Aptos"/>
                <a:cs typeface="Aptos"/>
              </a:defRPr>
            </a:pPr>
            <a:r>
              <a:rPr sz="1350" b="0">
                <a:solidFill>
                  <a:srgbClr val="142033"/>
                </a:solidFill>
                <a:latin typeface="Aptos"/>
                <a:ea typeface="Aptos"/>
                <a:cs typeface="Aptos"/>
              </a:rPr>
              <a:t>Admin, CEO, logistics, workshop leaders, sales, read-only managers</a:t>
            </a:r>
          </a:p>
        </p:txBody>
      </p:sp>
      <p:sp>
        <p:nvSpPr>
          <p:cNvPr id="13" name="">
            <a:extLst xmlns:a="http://schemas.openxmlformats.org/drawingml/2006/main">
              <a:ext uri="{FF2B5EF4-FFF2-40B4-BE49-F238E27FC236}">
                <a16:creationId xmlns:a16="http://schemas.microsoft.com/office/drawing/2014/main" id="{5B23BA8B-0631-41D3-8891-3963C625EFBA}"/>
              </a:ext>
            </a:extLst>
          </p:cNvPr>
          <p:cNvSpPr>
            <a:spLocks xmlns:a="http://schemas.openxmlformats.org/drawingml/2006/main" noGrp="1"/>
          </p:cNvSpPr>
          <p:nvPr/>
        </p:nvSpPr>
        <p:spPr>
          <a:xfrm xmlns:a="http://schemas.openxmlformats.org/drawingml/2006/main">
            <a:off x="914400" y="3219450"/>
            <a:ext cx="2476500" cy="742950"/>
          </a:xfrm>
          <a:prstGeom xmlns:a="http://schemas.openxmlformats.org/drawingml/2006/main" prst="rect">
            <a:avLst/>
          </a:prstGeom>
          <a:solidFill xmlns:a="http://schemas.openxmlformats.org/drawingml/2006/main">
            <a:srgbClr val="E8F3EC"/>
          </a:solidFill>
          <a:ln xmlns:a="http://schemas.openxmlformats.org/drawingml/2006/main" w="11430">
            <a:solidFill>
              <a:srgbClr val="2D6A4F"/>
            </a:solidFill>
            <a:prstDash val="solid"/>
          </a:ln>
        </p:spPr>
      </p:sp>
      <p:sp>
        <p:nvSpPr>
          <p:cNvPr id="14" name="">
            <a:extLst xmlns:a="http://schemas.openxmlformats.org/drawingml/2006/main">
              <a:ext uri="{FF2B5EF4-FFF2-40B4-BE49-F238E27FC236}">
                <a16:creationId xmlns:a16="http://schemas.microsoft.com/office/drawing/2014/main" id="{8D5E7C51-6EDD-43D0-A309-69FDC9AF65D6}"/>
              </a:ext>
            </a:extLst>
          </p:cNvPr>
          <p:cNvSpPr>
            <a:spLocks xmlns:a="http://schemas.openxmlformats.org/drawingml/2006/main" noGrp="1"/>
          </p:cNvSpPr>
          <p:nvPr/>
        </p:nvSpPr>
        <p:spPr>
          <a:xfrm xmlns:a="http://schemas.openxmlformats.org/drawingml/2006/main">
            <a:off x="914400" y="3219450"/>
            <a:ext cx="57150" cy="7429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81C7C80E-65D1-476C-9619-361D2782F92B}"/>
              </a:ext>
            </a:extLst>
          </p:cNvPr>
          <p:cNvSpPr>
            <a:spLocks xmlns:a="http://schemas.openxmlformats.org/drawingml/2006/main" noGrp="1"/>
          </p:cNvSpPr>
          <p:nvPr/>
        </p:nvSpPr>
        <p:spPr>
          <a:xfrm xmlns:a="http://schemas.openxmlformats.org/drawingml/2006/main">
            <a:off x="1085850" y="3352800"/>
            <a:ext cx="21907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142033"/>
                </a:solidFill>
                <a:latin typeface="Aptos"/>
                <a:ea typeface="Aptos"/>
                <a:cs typeface="Aptos"/>
              </a:defRPr>
            </a:pPr>
            <a:r>
              <a:rPr sz="1650" b="1">
                <a:solidFill>
                  <a:srgbClr val="142033"/>
                </a:solidFill>
                <a:latin typeface="Aptos"/>
                <a:ea typeface="Aptos"/>
                <a:cs typeface="Aptos"/>
              </a:rPr>
              <a:t>Operations Modules</a:t>
            </a:r>
          </a:p>
        </p:txBody>
      </p:sp>
      <p:sp>
        <p:nvSpPr>
          <p:cNvPr id="16" name="">
            <a:extLst xmlns:a="http://schemas.openxmlformats.org/drawingml/2006/main">
              <a:ext uri="{FF2B5EF4-FFF2-40B4-BE49-F238E27FC236}">
                <a16:creationId xmlns:a16="http://schemas.microsoft.com/office/drawing/2014/main" id="{ECE51AC6-4A1D-47F9-ABC9-06989911DF22}"/>
              </a:ext>
            </a:extLst>
          </p:cNvPr>
          <p:cNvSpPr>
            <a:spLocks xmlns:a="http://schemas.openxmlformats.org/drawingml/2006/main" noGrp="1"/>
          </p:cNvSpPr>
          <p:nvPr/>
        </p:nvSpPr>
        <p:spPr>
          <a:xfrm xmlns:a="http://schemas.openxmlformats.org/drawingml/2006/main">
            <a:off x="3476625" y="3590925"/>
            <a:ext cx="876300" cy="19050"/>
          </a:xfrm>
          <a:prstGeom xmlns:a="http://schemas.openxmlformats.org/drawingml/2006/main" prst="rect">
            <a:avLst/>
          </a:prstGeom>
          <a:solidFill xmlns:a="http://schemas.openxmlformats.org/drawingml/2006/main">
            <a:srgbClr val="D9DEE7"/>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495AF838-D9ED-4C53-98A3-7C0C2FBE4DD4}"/>
              </a:ext>
            </a:extLst>
          </p:cNvPr>
          <p:cNvSpPr>
            <a:spLocks xmlns:a="http://schemas.openxmlformats.org/drawingml/2006/main" noGrp="1"/>
          </p:cNvSpPr>
          <p:nvPr/>
        </p:nvSpPr>
        <p:spPr>
          <a:xfrm xmlns:a="http://schemas.openxmlformats.org/drawingml/2006/main">
            <a:off x="4362450" y="3219450"/>
            <a:ext cx="6172200" cy="742950"/>
          </a:xfrm>
          <a:prstGeom xmlns:a="http://schemas.openxmlformats.org/drawingml/2006/main" prst="rect">
            <a:avLst/>
          </a:prstGeom>
          <a:solidFill xmlns:a="http://schemas.openxmlformats.org/drawingml/2006/main">
            <a:srgbClr val="FFFFFF"/>
          </a:solidFill>
          <a:ln xmlns:a="http://schemas.openxmlformats.org/drawingml/2006/main" w="11430">
            <a:solidFill>
              <a:srgbClr val="2D6A4F"/>
            </a:solidFill>
            <a:prstDash val="solid"/>
          </a:ln>
        </p:spPr>
      </p:sp>
      <p:sp>
        <p:nvSpPr>
          <p:cNvPr id="18" name="">
            <a:extLst xmlns:a="http://schemas.openxmlformats.org/drawingml/2006/main">
              <a:ext uri="{FF2B5EF4-FFF2-40B4-BE49-F238E27FC236}">
                <a16:creationId xmlns:a16="http://schemas.microsoft.com/office/drawing/2014/main" id="{1DAF01DE-6D96-4E41-A405-6F755706D92D}"/>
              </a:ext>
            </a:extLst>
          </p:cNvPr>
          <p:cNvSpPr>
            <a:spLocks xmlns:a="http://schemas.openxmlformats.org/drawingml/2006/main" noGrp="1"/>
          </p:cNvSpPr>
          <p:nvPr/>
        </p:nvSpPr>
        <p:spPr>
          <a:xfrm xmlns:a="http://schemas.openxmlformats.org/drawingml/2006/main">
            <a:off x="4362450" y="3219450"/>
            <a:ext cx="57150" cy="7429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E5629DAD-2286-4B7E-A5A2-A928B3DA4F64}"/>
              </a:ext>
            </a:extLst>
          </p:cNvPr>
          <p:cNvSpPr>
            <a:spLocks xmlns:a="http://schemas.openxmlformats.org/drawingml/2006/main" noGrp="1"/>
          </p:cNvSpPr>
          <p:nvPr/>
        </p:nvSpPr>
        <p:spPr>
          <a:xfrm xmlns:a="http://schemas.openxmlformats.org/drawingml/2006/main">
            <a:off x="4533900" y="3352800"/>
            <a:ext cx="58864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350" b="0">
                <a:solidFill>
                  <a:srgbClr val="142033"/>
                </a:solidFill>
                <a:latin typeface="Aptos"/>
                <a:ea typeface="Aptos"/>
                <a:cs typeface="Aptos"/>
              </a:defRPr>
            </a:pPr>
            <a:r>
              <a:rPr sz="1350" b="0">
                <a:solidFill>
                  <a:srgbClr val="142033"/>
                </a:solidFill>
                <a:latin typeface="Aptos"/>
                <a:ea typeface="Aptos"/>
                <a:cs typeface="Aptos"/>
              </a:rPr>
              <a:t>Harvesting, transport, sawmill, poles, VAT, labour, deliveries, fuel</a:t>
            </a:r>
          </a:p>
        </p:txBody>
      </p:sp>
      <p:sp>
        <p:nvSpPr>
          <p:cNvPr id="20" name="">
            <a:extLst xmlns:a="http://schemas.openxmlformats.org/drawingml/2006/main">
              <a:ext uri="{FF2B5EF4-FFF2-40B4-BE49-F238E27FC236}">
                <a16:creationId xmlns:a16="http://schemas.microsoft.com/office/drawing/2014/main" id="{2E724DB6-C07A-4DF6-B634-4536553CC98A}"/>
              </a:ext>
            </a:extLst>
          </p:cNvPr>
          <p:cNvSpPr>
            <a:spLocks xmlns:a="http://schemas.openxmlformats.org/drawingml/2006/main" noGrp="1"/>
          </p:cNvSpPr>
          <p:nvPr/>
        </p:nvSpPr>
        <p:spPr>
          <a:xfrm xmlns:a="http://schemas.openxmlformats.org/drawingml/2006/main">
            <a:off x="914400" y="4362450"/>
            <a:ext cx="2476500" cy="742950"/>
          </a:xfrm>
          <a:prstGeom xmlns:a="http://schemas.openxmlformats.org/drawingml/2006/main" prst="rect">
            <a:avLst/>
          </a:prstGeom>
          <a:solidFill xmlns:a="http://schemas.openxmlformats.org/drawingml/2006/main">
            <a:srgbClr val="F8ECE2"/>
          </a:solidFill>
          <a:ln xmlns:a="http://schemas.openxmlformats.org/drawingml/2006/main" w="11430">
            <a:solidFill>
              <a:srgbClr val="B5500A"/>
            </a:solidFill>
            <a:prstDash val="solid"/>
          </a:ln>
        </p:spPr>
      </p:sp>
      <p:sp>
        <p:nvSpPr>
          <p:cNvPr id="21" name="">
            <a:extLst xmlns:a="http://schemas.openxmlformats.org/drawingml/2006/main">
              <a:ext uri="{FF2B5EF4-FFF2-40B4-BE49-F238E27FC236}">
                <a16:creationId xmlns:a16="http://schemas.microsoft.com/office/drawing/2014/main" id="{B71F9921-6513-4FCB-A749-48FAF05EEF12}"/>
              </a:ext>
            </a:extLst>
          </p:cNvPr>
          <p:cNvSpPr>
            <a:spLocks xmlns:a="http://schemas.openxmlformats.org/drawingml/2006/main" noGrp="1"/>
          </p:cNvSpPr>
          <p:nvPr/>
        </p:nvSpPr>
        <p:spPr>
          <a:xfrm xmlns:a="http://schemas.openxmlformats.org/drawingml/2006/main">
            <a:off x="914400" y="4362450"/>
            <a:ext cx="57150" cy="742950"/>
          </a:xfrm>
          <a:prstGeom xmlns:a="http://schemas.openxmlformats.org/drawingml/2006/main" prst="rect">
            <a:avLst/>
          </a:prstGeom>
          <a:solidFill xmlns:a="http://schemas.openxmlformats.org/drawingml/2006/main">
            <a:srgbClr val="B5500A"/>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92EB3756-127C-4786-9343-D3624F883534}"/>
              </a:ext>
            </a:extLst>
          </p:cNvPr>
          <p:cNvSpPr>
            <a:spLocks xmlns:a="http://schemas.openxmlformats.org/drawingml/2006/main" noGrp="1"/>
          </p:cNvSpPr>
          <p:nvPr/>
        </p:nvSpPr>
        <p:spPr>
          <a:xfrm xmlns:a="http://schemas.openxmlformats.org/drawingml/2006/main">
            <a:off x="1085850" y="4495800"/>
            <a:ext cx="21907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142033"/>
                </a:solidFill>
                <a:latin typeface="Aptos"/>
                <a:ea typeface="Aptos"/>
                <a:cs typeface="Aptos"/>
              </a:defRPr>
            </a:pPr>
            <a:r>
              <a:rPr sz="1650" b="1">
                <a:solidFill>
                  <a:srgbClr val="142033"/>
                </a:solidFill>
                <a:latin typeface="Aptos"/>
                <a:ea typeface="Aptos"/>
                <a:cs typeface="Aptos"/>
              </a:rPr>
              <a:t>Controls &amp; Reports</a:t>
            </a:r>
          </a:p>
        </p:txBody>
      </p:sp>
      <p:sp>
        <p:nvSpPr>
          <p:cNvPr id="23" name="">
            <a:extLst xmlns:a="http://schemas.openxmlformats.org/drawingml/2006/main">
              <a:ext uri="{FF2B5EF4-FFF2-40B4-BE49-F238E27FC236}">
                <a16:creationId xmlns:a16="http://schemas.microsoft.com/office/drawing/2014/main" id="{8230A407-7F1F-49F5-917F-23FFAC87D7EC}"/>
              </a:ext>
            </a:extLst>
          </p:cNvPr>
          <p:cNvSpPr>
            <a:spLocks xmlns:a="http://schemas.openxmlformats.org/drawingml/2006/main" noGrp="1"/>
          </p:cNvSpPr>
          <p:nvPr/>
        </p:nvSpPr>
        <p:spPr>
          <a:xfrm xmlns:a="http://schemas.openxmlformats.org/drawingml/2006/main">
            <a:off x="3476625" y="4733925"/>
            <a:ext cx="876300" cy="19050"/>
          </a:xfrm>
          <a:prstGeom xmlns:a="http://schemas.openxmlformats.org/drawingml/2006/main" prst="rect">
            <a:avLst/>
          </a:prstGeom>
          <a:solidFill xmlns:a="http://schemas.openxmlformats.org/drawingml/2006/main">
            <a:srgbClr val="D9DEE7"/>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92939D68-684C-4CF1-BF6E-C32C9C54447B}"/>
              </a:ext>
            </a:extLst>
          </p:cNvPr>
          <p:cNvSpPr>
            <a:spLocks xmlns:a="http://schemas.openxmlformats.org/drawingml/2006/main" noGrp="1"/>
          </p:cNvSpPr>
          <p:nvPr/>
        </p:nvSpPr>
        <p:spPr>
          <a:xfrm xmlns:a="http://schemas.openxmlformats.org/drawingml/2006/main">
            <a:off x="4362450" y="4362450"/>
            <a:ext cx="6172200" cy="742950"/>
          </a:xfrm>
          <a:prstGeom xmlns:a="http://schemas.openxmlformats.org/drawingml/2006/main" prst="rect">
            <a:avLst/>
          </a:prstGeom>
          <a:solidFill xmlns:a="http://schemas.openxmlformats.org/drawingml/2006/main">
            <a:srgbClr val="FFFFFF"/>
          </a:solidFill>
          <a:ln xmlns:a="http://schemas.openxmlformats.org/drawingml/2006/main" w="11430">
            <a:solidFill>
              <a:srgbClr val="B5500A"/>
            </a:solidFill>
            <a:prstDash val="solid"/>
          </a:ln>
        </p:spPr>
      </p:sp>
      <p:sp>
        <p:nvSpPr>
          <p:cNvPr id="25" name="">
            <a:extLst xmlns:a="http://schemas.openxmlformats.org/drawingml/2006/main">
              <a:ext uri="{FF2B5EF4-FFF2-40B4-BE49-F238E27FC236}">
                <a16:creationId xmlns:a16="http://schemas.microsoft.com/office/drawing/2014/main" id="{F99B672D-586D-4766-B554-53A78FA043F8}"/>
              </a:ext>
            </a:extLst>
          </p:cNvPr>
          <p:cNvSpPr>
            <a:spLocks xmlns:a="http://schemas.openxmlformats.org/drawingml/2006/main" noGrp="1"/>
          </p:cNvSpPr>
          <p:nvPr/>
        </p:nvSpPr>
        <p:spPr>
          <a:xfrm xmlns:a="http://schemas.openxmlformats.org/drawingml/2006/main">
            <a:off x="4362450" y="4362450"/>
            <a:ext cx="57150" cy="742950"/>
          </a:xfrm>
          <a:prstGeom xmlns:a="http://schemas.openxmlformats.org/drawingml/2006/main" prst="rect">
            <a:avLst/>
          </a:prstGeom>
          <a:solidFill xmlns:a="http://schemas.openxmlformats.org/drawingml/2006/main">
            <a:srgbClr val="B5500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4879DF02-9B82-4CCF-A350-5EABC13A0615}"/>
              </a:ext>
            </a:extLst>
          </p:cNvPr>
          <p:cNvSpPr>
            <a:spLocks xmlns:a="http://schemas.openxmlformats.org/drawingml/2006/main" noGrp="1"/>
          </p:cNvSpPr>
          <p:nvPr/>
        </p:nvSpPr>
        <p:spPr>
          <a:xfrm xmlns:a="http://schemas.openxmlformats.org/drawingml/2006/main">
            <a:off x="4533900" y="4495800"/>
            <a:ext cx="58864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350" b="0">
                <a:solidFill>
                  <a:srgbClr val="142033"/>
                </a:solidFill>
                <a:latin typeface="Aptos"/>
                <a:ea typeface="Aptos"/>
                <a:cs typeface="Aptos"/>
              </a:defRPr>
            </a:pPr>
            <a:r>
              <a:rPr sz="1350" b="0">
                <a:solidFill>
                  <a:srgbClr val="142033"/>
                </a:solidFill>
                <a:latin typeface="Aptos"/>
                <a:ea typeface="Aptos"/>
                <a:cs typeface="Aptos"/>
              </a:rPr>
              <a:t>Approvals, audit trail, stock reconciliation, dashboards, exports</a:t>
            </a:r>
          </a:p>
        </p:txBody>
      </p:sp>
      <p:sp>
        <p:nvSpPr>
          <p:cNvPr id="27" name="">
            <a:extLst xmlns:a="http://schemas.openxmlformats.org/drawingml/2006/main">
              <a:ext uri="{FF2B5EF4-FFF2-40B4-BE49-F238E27FC236}">
                <a16:creationId xmlns:a16="http://schemas.microsoft.com/office/drawing/2014/main" id="{5FDCCCF9-9904-41AD-9152-41696B5210C2}"/>
              </a:ext>
            </a:extLst>
          </p:cNvPr>
          <p:cNvSpPr>
            <a:spLocks xmlns:a="http://schemas.openxmlformats.org/drawingml/2006/main" noGrp="1"/>
          </p:cNvSpPr>
          <p:nvPr/>
        </p:nvSpPr>
        <p:spPr>
          <a:xfrm xmlns:a="http://schemas.openxmlformats.org/drawingml/2006/main">
            <a:off x="10191750" y="2171700"/>
            <a:ext cx="1123950" cy="2705100"/>
          </a:xfrm>
          <a:prstGeom xmlns:a="http://schemas.openxmlformats.org/drawingml/2006/main" prst="rect">
            <a:avLst/>
          </a:prstGeom>
          <a:solidFill xmlns:a="http://schemas.openxmlformats.org/drawingml/2006/main">
            <a:srgbClr val="102235"/>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C18771CE-DD55-415C-BEC2-F4791F06E561}"/>
              </a:ext>
            </a:extLst>
          </p:cNvPr>
          <p:cNvSpPr>
            <a:spLocks xmlns:a="http://schemas.openxmlformats.org/drawingml/2006/main" noGrp="1"/>
          </p:cNvSpPr>
          <p:nvPr/>
        </p:nvSpPr>
        <p:spPr>
          <a:xfrm xmlns:a="http://schemas.openxmlformats.org/drawingml/2006/main">
            <a:off x="10306050" y="316230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Database</a:t>
            </a:r>
          </a:p>
        </p:txBody>
      </p:sp>
      <p:sp>
        <p:nvSpPr>
          <p:cNvPr id="29" name="">
            <a:extLst xmlns:a="http://schemas.openxmlformats.org/drawingml/2006/main">
              <a:ext uri="{FF2B5EF4-FFF2-40B4-BE49-F238E27FC236}">
                <a16:creationId xmlns:a16="http://schemas.microsoft.com/office/drawing/2014/main" id="{75F21A69-EF58-4198-A745-38826180B07E}"/>
              </a:ext>
            </a:extLst>
          </p:cNvPr>
          <p:cNvSpPr>
            <a:spLocks xmlns:a="http://schemas.openxmlformats.org/drawingml/2006/main" noGrp="1"/>
          </p:cNvSpPr>
          <p:nvPr/>
        </p:nvSpPr>
        <p:spPr>
          <a:xfrm xmlns:a="http://schemas.openxmlformats.org/drawingml/2006/main">
            <a:off x="10363200" y="3543300"/>
            <a:ext cx="7810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0">
                <a:solidFill>
                  <a:srgbClr val="DCE8EF"/>
                </a:solidFill>
                <a:latin typeface="Aptos"/>
                <a:ea typeface="Aptos"/>
                <a:cs typeface="Aptos"/>
              </a:defRPr>
            </a:pPr>
            <a:r>
              <a:rPr sz="975" b="0">
                <a:solidFill>
                  <a:srgbClr val="DCE8EF"/>
                </a:solidFill>
                <a:latin typeface="Aptos"/>
                <a:ea typeface="Aptos"/>
                <a:cs typeface="Aptos"/>
              </a:rPr>
              <a:t>Single source</a:t>
            </a:r>
          </a:p>
          <a:p xmlns:a="http://schemas.openxmlformats.org/drawingml/2006/main">
            <a:pPr algn="ctr">
              <a:defRPr sz="975" b="0">
                <a:solidFill>
                  <a:srgbClr val="DCE8EF"/>
                </a:solidFill>
                <a:latin typeface="Aptos"/>
                <a:ea typeface="Aptos"/>
                <a:cs typeface="Aptos"/>
              </a:defRPr>
            </a:pPr>
            <a:r>
              <a:rPr sz="975" b="0">
                <a:solidFill>
                  <a:srgbClr val="DCE8EF"/>
                </a:solidFill>
                <a:latin typeface="Aptos"/>
                <a:ea typeface="Aptos"/>
                <a:cs typeface="Aptos"/>
              </a:rPr>
              <a:t>of truth</a:t>
            </a:r>
          </a:p>
        </p:txBody>
      </p:sp>
      <p:sp>
        <p:nvSpPr>
          <p:cNvPr id="30" name="">
            <a:extLst xmlns:a="http://schemas.openxmlformats.org/drawingml/2006/main">
              <a:ext uri="{FF2B5EF4-FFF2-40B4-BE49-F238E27FC236}">
                <a16:creationId xmlns:a16="http://schemas.microsoft.com/office/drawing/2014/main" id="{1BAE32BE-E2FD-45A8-837E-2723070ECD96}"/>
              </a:ext>
            </a:extLst>
          </p:cNvPr>
          <p:cNvSpPr>
            <a:spLocks xmlns:a="http://schemas.openxmlformats.org/drawingml/2006/main" noGrp="1"/>
          </p:cNvSpPr>
          <p:nvPr/>
        </p:nvSpPr>
        <p:spPr>
          <a:xfrm xmlns:a="http://schemas.openxmlformats.org/drawingml/2006/main">
            <a:off x="514350" y="6496050"/>
            <a:ext cx="666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67085"/>
                </a:solidFill>
                <a:latin typeface="Aptos"/>
                <a:ea typeface="Aptos"/>
                <a:cs typeface="Aptos"/>
              </a:defRPr>
            </a:pPr>
            <a:r>
              <a:rPr sz="750" b="0">
                <a:solidFill>
                  <a:srgbClr val="667085"/>
                </a:solidFill>
                <a:latin typeface="Aptos"/>
                <a:ea typeface="Aptos"/>
                <a:cs typeface="Aptos"/>
              </a:rPr>
              <a:t>UFCL ERP System | Executive Management Presentation | June 2026</a:t>
            </a:r>
          </a:p>
        </p:txBody>
      </p:sp>
      <p:sp>
        <p:nvSpPr>
          <p:cNvPr id="31" name="">
            <a:extLst xmlns:a="http://schemas.openxmlformats.org/drawingml/2006/main">
              <a:ext uri="{FF2B5EF4-FFF2-40B4-BE49-F238E27FC236}">
                <a16:creationId xmlns:a16="http://schemas.microsoft.com/office/drawing/2014/main" id="{149CF894-381F-4BC1-80CE-970E6EB6AC65}"/>
              </a:ext>
            </a:extLst>
          </p:cNvPr>
          <p:cNvSpPr>
            <a:spLocks xmlns:a="http://schemas.openxmlformats.org/drawingml/2006/main" noGrp="1"/>
          </p:cNvSpPr>
          <p:nvPr/>
        </p:nvSpPr>
        <p:spPr>
          <a:xfrm xmlns:a="http://schemas.openxmlformats.org/drawingml/2006/main">
            <a:off x="11258550" y="645795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67085"/>
                </a:solidFill>
                <a:latin typeface="Aptos"/>
                <a:ea typeface="Aptos"/>
                <a:cs typeface="Aptos"/>
              </a:defRPr>
            </a:pPr>
            <a:r>
              <a:rPr sz="825" b="1">
                <a:solidFill>
                  <a:srgbClr val="667085"/>
                </a:solidFill>
                <a:latin typeface="Aptos"/>
                <a:ea typeface="Aptos"/>
                <a:cs typeface="Aptos"/>
              </a:rPr>
              <a:t>05</a:t>
            </a:r>
          </a:p>
        </p:txBody>
      </p:sp>
    </p:spTree>
    <p:extLst>
      <p:ext uri="{BB962C8B-B14F-4D97-AF65-F5344CB8AC3E}">
        <p14:creationId xmlns:p14="http://schemas.microsoft.com/office/powerpoint/2010/main" val="208367715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859D082-5346-4669-8D09-6DABA0E69E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F07E6FE6-E885-4359-A220-3DCFE224448A}"/>
              </a:ext>
            </a:extLst>
          </p:cNvPr>
          <p:cNvSpPr>
            <a:spLocks xmlns:a="http://schemas.openxmlformats.org/drawingml/2006/main" noGrp="1"/>
          </p:cNvSpPr>
          <p:nvPr/>
        </p:nvSpPr>
        <p:spPr>
          <a:xfrm xmlns:a="http://schemas.openxmlformats.org/drawingml/2006/main">
            <a:off x="514350" y="371475"/>
            <a:ext cx="95250" cy="952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D7A4BF0A-6ADD-4815-80A6-337637BA44C2}"/>
              </a:ext>
            </a:extLst>
          </p:cNvPr>
          <p:cNvSpPr>
            <a:spLocks xmlns:a="http://schemas.openxmlformats.org/drawingml/2006/main" noGrp="1"/>
          </p:cNvSpPr>
          <p:nvPr/>
        </p:nvSpPr>
        <p:spPr>
          <a:xfrm xmlns:a="http://schemas.openxmlformats.org/drawingml/2006/main">
            <a:off x="70485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MOBILE ARCHITECTURE</a:t>
            </a:r>
          </a:p>
        </p:txBody>
      </p:sp>
      <p:sp>
        <p:nvSpPr>
          <p:cNvPr id="4" name="">
            <a:extLst xmlns:a="http://schemas.openxmlformats.org/drawingml/2006/main">
              <a:ext uri="{FF2B5EF4-FFF2-40B4-BE49-F238E27FC236}">
                <a16:creationId xmlns:a16="http://schemas.microsoft.com/office/drawing/2014/main" id="{87340A00-CA79-44A3-9472-620ACDFFFC87}"/>
              </a:ext>
            </a:extLst>
          </p:cNvPr>
          <p:cNvSpPr>
            <a:spLocks xmlns:a="http://schemas.openxmlformats.org/drawingml/2006/main" noGrp="1"/>
          </p:cNvSpPr>
          <p:nvPr/>
        </p:nvSpPr>
        <p:spPr>
          <a:xfrm xmlns:a="http://schemas.openxmlformats.org/drawingml/2006/main">
            <a:off x="514350" y="685800"/>
            <a:ext cx="88582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42033"/>
                </a:solidFill>
                <a:latin typeface="Aptos Display"/>
                <a:ea typeface="Aptos Display"/>
                <a:cs typeface="Aptos Display"/>
              </a:defRPr>
            </a:pPr>
            <a:r>
              <a:rPr sz="2550" b="1">
                <a:solidFill>
                  <a:srgbClr val="142033"/>
                </a:solidFill>
                <a:latin typeface="Aptos Display"/>
                <a:ea typeface="Aptos Display"/>
                <a:cs typeface="Aptos Display"/>
              </a:rPr>
              <a:t>The mobile application extends ERP capture to field teams while protecting the core system of record.</a:t>
            </a:r>
          </a:p>
        </p:txBody>
      </p:sp>
      <p:sp>
        <p:nvSpPr>
          <p:cNvPr id="5" name="">
            <a:extLst xmlns:a="http://schemas.openxmlformats.org/drawingml/2006/main">
              <a:ext uri="{FF2B5EF4-FFF2-40B4-BE49-F238E27FC236}">
                <a16:creationId xmlns:a16="http://schemas.microsoft.com/office/drawing/2014/main" id="{F56D8650-DB68-4DA0-A413-6FF7F42C144B}"/>
              </a:ext>
            </a:extLst>
          </p:cNvPr>
          <p:cNvSpPr>
            <a:spLocks xmlns:a="http://schemas.openxmlformats.org/drawingml/2006/main" noGrp="1"/>
          </p:cNvSpPr>
          <p:nvPr/>
        </p:nvSpPr>
        <p:spPr>
          <a:xfrm xmlns:a="http://schemas.openxmlformats.org/drawingml/2006/main">
            <a:off x="514350" y="1600200"/>
            <a:ext cx="11163300" cy="9525"/>
          </a:xfrm>
          <a:prstGeom xmlns:a="http://schemas.openxmlformats.org/drawingml/2006/main" prst="rect">
            <a:avLst/>
          </a:prstGeom>
          <a:solidFill xmlns:a="http://schemas.openxmlformats.org/drawingml/2006/main">
            <a:srgbClr val="D9DEE7"/>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4C828BC7-73CB-43EE-A06B-4742FC70C634}"/>
              </a:ext>
            </a:extLst>
          </p:cNvPr>
          <p:cNvSpPr>
            <a:spLocks xmlns:a="http://schemas.openxmlformats.org/drawingml/2006/main" noGrp="1"/>
          </p:cNvSpPr>
          <p:nvPr/>
        </p:nvSpPr>
        <p:spPr>
          <a:xfrm xmlns:a="http://schemas.openxmlformats.org/drawingml/2006/main">
            <a:off x="819150" y="2190750"/>
            <a:ext cx="2381250" cy="2571750"/>
          </a:xfrm>
          <a:prstGeom xmlns:a="http://schemas.openxmlformats.org/drawingml/2006/main" prst="rect">
            <a:avLst/>
          </a:prstGeom>
          <a:solidFill xmlns:a="http://schemas.openxmlformats.org/drawingml/2006/main">
            <a:srgbClr val="102235"/>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3B5CE20F-7397-43F6-86B6-59446DCBEA66}"/>
              </a:ext>
            </a:extLst>
          </p:cNvPr>
          <p:cNvSpPr>
            <a:spLocks xmlns:a="http://schemas.openxmlformats.org/drawingml/2006/main" noGrp="1"/>
          </p:cNvSpPr>
          <p:nvPr/>
        </p:nvSpPr>
        <p:spPr>
          <a:xfrm xmlns:a="http://schemas.openxmlformats.org/drawingml/2006/main">
            <a:off x="1104900" y="2495550"/>
            <a:ext cx="18097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Mobile App</a:t>
            </a:r>
          </a:p>
        </p:txBody>
      </p:sp>
      <p:sp>
        <p:nvSpPr>
          <p:cNvPr id="8" name="">
            <a:extLst xmlns:a="http://schemas.openxmlformats.org/drawingml/2006/main">
              <a:ext uri="{FF2B5EF4-FFF2-40B4-BE49-F238E27FC236}">
                <a16:creationId xmlns:a16="http://schemas.microsoft.com/office/drawing/2014/main" id="{9EE53F23-562D-4B4B-AF62-EA7BBFA4F841}"/>
              </a:ext>
            </a:extLst>
          </p:cNvPr>
          <p:cNvSpPr>
            <a:spLocks xmlns:a="http://schemas.openxmlformats.org/drawingml/2006/main" noGrp="1"/>
          </p:cNvSpPr>
          <p:nvPr/>
        </p:nvSpPr>
        <p:spPr>
          <a:xfrm xmlns:a="http://schemas.openxmlformats.org/drawingml/2006/main">
            <a:off x="1162050" y="3219450"/>
            <a:ext cx="169545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0">
                <a:solidFill>
                  <a:srgbClr val="DCE8EF"/>
                </a:solidFill>
                <a:latin typeface="Aptos"/>
                <a:ea typeface="Aptos"/>
                <a:cs typeface="Aptos"/>
              </a:defRPr>
            </a:pPr>
            <a:r>
              <a:rPr sz="1500" b="0">
                <a:solidFill>
                  <a:srgbClr val="DCE8EF"/>
                </a:solidFill>
                <a:latin typeface="Aptos"/>
                <a:ea typeface="Aptos"/>
                <a:cs typeface="Aptos"/>
              </a:rPr>
              <a:t>Offline forms</a:t>
            </a:r>
          </a:p>
          <a:p xmlns:a="http://schemas.openxmlformats.org/drawingml/2006/main">
            <a:pPr algn="ctr">
              <a:defRPr sz="1500" b="0">
                <a:solidFill>
                  <a:srgbClr val="DCE8EF"/>
                </a:solidFill>
                <a:latin typeface="Aptos"/>
                <a:ea typeface="Aptos"/>
                <a:cs typeface="Aptos"/>
              </a:defRPr>
            </a:pPr>
            <a:r>
              <a:rPr sz="1500" b="0">
                <a:solidFill>
                  <a:srgbClr val="DCE8EF"/>
                </a:solidFill>
                <a:latin typeface="Aptos"/>
                <a:ea typeface="Aptos"/>
                <a:cs typeface="Aptos"/>
              </a:rPr>
              <a:t>Local queue</a:t>
            </a:r>
          </a:p>
          <a:p xmlns:a="http://schemas.openxmlformats.org/drawingml/2006/main">
            <a:pPr algn="ctr">
              <a:defRPr sz="1500" b="0">
                <a:solidFill>
                  <a:srgbClr val="DCE8EF"/>
                </a:solidFill>
                <a:latin typeface="Aptos"/>
                <a:ea typeface="Aptos"/>
                <a:cs typeface="Aptos"/>
              </a:defRPr>
            </a:pPr>
            <a:r>
              <a:rPr sz="1500" b="0">
                <a:solidFill>
                  <a:srgbClr val="DCE8EF"/>
                </a:solidFill>
                <a:latin typeface="Aptos"/>
                <a:ea typeface="Aptos"/>
                <a:cs typeface="Aptos"/>
              </a:rPr>
              <a:t>Sync status</a:t>
            </a:r>
          </a:p>
          <a:p xmlns:a="http://schemas.openxmlformats.org/drawingml/2006/main">
            <a:pPr algn="ctr">
              <a:defRPr sz="1500" b="0">
                <a:solidFill>
                  <a:srgbClr val="DCE8EF"/>
                </a:solidFill>
                <a:latin typeface="Aptos"/>
                <a:ea typeface="Aptos"/>
                <a:cs typeface="Aptos"/>
              </a:defRPr>
            </a:pPr>
            <a:r>
              <a:rPr sz="1500" b="0">
                <a:solidFill>
                  <a:srgbClr val="DCE8EF"/>
                </a:solidFill>
                <a:latin typeface="Aptos"/>
                <a:ea typeface="Aptos"/>
                <a:cs typeface="Aptos"/>
              </a:rPr>
              <a:t>User session</a:t>
            </a:r>
          </a:p>
        </p:txBody>
      </p:sp>
      <p:sp>
        <p:nvSpPr>
          <p:cNvPr id="9" name="">
            <a:extLst xmlns:a="http://schemas.openxmlformats.org/drawingml/2006/main">
              <a:ext uri="{FF2B5EF4-FFF2-40B4-BE49-F238E27FC236}">
                <a16:creationId xmlns:a16="http://schemas.microsoft.com/office/drawing/2014/main" id="{598526B3-5E19-4C63-913B-907018FB6031}"/>
              </a:ext>
            </a:extLst>
          </p:cNvPr>
          <p:cNvSpPr>
            <a:spLocks xmlns:a="http://schemas.openxmlformats.org/drawingml/2006/main" noGrp="1"/>
          </p:cNvSpPr>
          <p:nvPr/>
        </p:nvSpPr>
        <p:spPr>
          <a:xfrm xmlns:a="http://schemas.openxmlformats.org/drawingml/2006/main">
            <a:off x="3333750" y="3476625"/>
            <a:ext cx="1428750" cy="3810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45F62D59-5874-4F1D-806E-33A0B174B9E1}"/>
              </a:ext>
            </a:extLst>
          </p:cNvPr>
          <p:cNvSpPr>
            <a:spLocks xmlns:a="http://schemas.openxmlformats.org/drawingml/2006/main" noGrp="1"/>
          </p:cNvSpPr>
          <p:nvPr/>
        </p:nvSpPr>
        <p:spPr>
          <a:xfrm xmlns:a="http://schemas.openxmlformats.org/drawingml/2006/main">
            <a:off x="4819650" y="2876550"/>
            <a:ext cx="2743200" cy="1257300"/>
          </a:xfrm>
          <a:prstGeom xmlns:a="http://schemas.openxmlformats.org/drawingml/2006/main" prst="rect">
            <a:avLst/>
          </a:prstGeom>
          <a:solidFill xmlns:a="http://schemas.openxmlformats.org/drawingml/2006/main">
            <a:srgbClr val="FFFFFF"/>
          </a:solidFill>
          <a:ln xmlns:a="http://schemas.openxmlformats.org/drawingml/2006/main" w="11430">
            <a:solidFill>
              <a:srgbClr val="2D6A4F"/>
            </a:solidFill>
            <a:prstDash val="solid"/>
          </a:ln>
        </p:spPr>
      </p:sp>
      <p:sp>
        <p:nvSpPr>
          <p:cNvPr id="11" name="">
            <a:extLst xmlns:a="http://schemas.openxmlformats.org/drawingml/2006/main">
              <a:ext uri="{FF2B5EF4-FFF2-40B4-BE49-F238E27FC236}">
                <a16:creationId xmlns:a16="http://schemas.microsoft.com/office/drawing/2014/main" id="{23C65D02-F9D6-45B3-A41D-504ACB060D8E}"/>
              </a:ext>
            </a:extLst>
          </p:cNvPr>
          <p:cNvSpPr>
            <a:spLocks xmlns:a="http://schemas.openxmlformats.org/drawingml/2006/main" noGrp="1"/>
          </p:cNvSpPr>
          <p:nvPr/>
        </p:nvSpPr>
        <p:spPr>
          <a:xfrm xmlns:a="http://schemas.openxmlformats.org/drawingml/2006/main">
            <a:off x="4819650" y="2876550"/>
            <a:ext cx="57150" cy="125730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9390F217-7DAB-4D97-B4CA-B8B7D78404A9}"/>
              </a:ext>
            </a:extLst>
          </p:cNvPr>
          <p:cNvSpPr>
            <a:spLocks xmlns:a="http://schemas.openxmlformats.org/drawingml/2006/main" noGrp="1"/>
          </p:cNvSpPr>
          <p:nvPr/>
        </p:nvSpPr>
        <p:spPr>
          <a:xfrm xmlns:a="http://schemas.openxmlformats.org/drawingml/2006/main">
            <a:off x="4991100" y="3009900"/>
            <a:ext cx="245745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42033"/>
                </a:solidFill>
                <a:latin typeface="Aptos"/>
                <a:ea typeface="Aptos"/>
                <a:cs typeface="Aptos"/>
              </a:defRPr>
            </a:pPr>
            <a:r>
              <a:rPr sz="1500" b="1">
                <a:solidFill>
                  <a:srgbClr val="142033"/>
                </a:solidFill>
                <a:latin typeface="Aptos"/>
                <a:ea typeface="Aptos"/>
                <a:cs typeface="Aptos"/>
              </a:rPr>
              <a:t>API Gateway</a:t>
            </a:r>
          </a:p>
          <a:p xmlns:a="http://schemas.openxmlformats.org/drawingml/2006/main">
            <a:pPr algn="l">
              <a:defRPr sz="1500" b="1">
                <a:solidFill>
                  <a:srgbClr val="142033"/>
                </a:solidFill>
                <a:latin typeface="Aptos"/>
                <a:ea typeface="Aptos"/>
                <a:cs typeface="Aptos"/>
              </a:defRPr>
            </a:pPr>
            <a:r>
              <a:rPr sz="1500" b="1">
                <a:solidFill>
                  <a:srgbClr val="142033"/>
                </a:solidFill>
                <a:latin typeface="Aptos"/>
                <a:ea typeface="Aptos"/>
                <a:cs typeface="Aptos"/>
              </a:rPr>
              <a:t>Secure validation and business rules</a:t>
            </a:r>
          </a:p>
        </p:txBody>
      </p:sp>
      <p:sp>
        <p:nvSpPr>
          <p:cNvPr id="13" name="">
            <a:extLst xmlns:a="http://schemas.openxmlformats.org/drawingml/2006/main">
              <a:ext uri="{FF2B5EF4-FFF2-40B4-BE49-F238E27FC236}">
                <a16:creationId xmlns:a16="http://schemas.microsoft.com/office/drawing/2014/main" id="{2A1B0EAF-D9B7-4E3C-8C63-B23125D3E154}"/>
              </a:ext>
            </a:extLst>
          </p:cNvPr>
          <p:cNvSpPr>
            <a:spLocks xmlns:a="http://schemas.openxmlformats.org/drawingml/2006/main" noGrp="1"/>
          </p:cNvSpPr>
          <p:nvPr/>
        </p:nvSpPr>
        <p:spPr>
          <a:xfrm xmlns:a="http://schemas.openxmlformats.org/drawingml/2006/main">
            <a:off x="7677150" y="3476625"/>
            <a:ext cx="1428750" cy="3810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CED27088-F901-4BF0-8C9E-E7EE9845D0F7}"/>
              </a:ext>
            </a:extLst>
          </p:cNvPr>
          <p:cNvSpPr>
            <a:spLocks xmlns:a="http://schemas.openxmlformats.org/drawingml/2006/main" noGrp="1"/>
          </p:cNvSpPr>
          <p:nvPr/>
        </p:nvSpPr>
        <p:spPr>
          <a:xfrm xmlns:a="http://schemas.openxmlformats.org/drawingml/2006/main">
            <a:off x="9163050" y="2876550"/>
            <a:ext cx="2381250" cy="1257300"/>
          </a:xfrm>
          <a:prstGeom xmlns:a="http://schemas.openxmlformats.org/drawingml/2006/main" prst="rect">
            <a:avLst/>
          </a:prstGeom>
          <a:solidFill xmlns:a="http://schemas.openxmlformats.org/drawingml/2006/main">
            <a:srgbClr val="E8F3EC"/>
          </a:solidFill>
          <a:ln xmlns:a="http://schemas.openxmlformats.org/drawingml/2006/main" w="11430">
            <a:solidFill>
              <a:srgbClr val="2D6A4F"/>
            </a:solidFill>
            <a:prstDash val="solid"/>
          </a:ln>
        </p:spPr>
      </p:sp>
      <p:sp>
        <p:nvSpPr>
          <p:cNvPr id="15" name="">
            <a:extLst xmlns:a="http://schemas.openxmlformats.org/drawingml/2006/main">
              <a:ext uri="{FF2B5EF4-FFF2-40B4-BE49-F238E27FC236}">
                <a16:creationId xmlns:a16="http://schemas.microsoft.com/office/drawing/2014/main" id="{EBD2433A-4440-4F05-A5DB-83EFC72D586D}"/>
              </a:ext>
            </a:extLst>
          </p:cNvPr>
          <p:cNvSpPr>
            <a:spLocks xmlns:a="http://schemas.openxmlformats.org/drawingml/2006/main" noGrp="1"/>
          </p:cNvSpPr>
          <p:nvPr/>
        </p:nvSpPr>
        <p:spPr>
          <a:xfrm xmlns:a="http://schemas.openxmlformats.org/drawingml/2006/main">
            <a:off x="9163050" y="2876550"/>
            <a:ext cx="57150" cy="125730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83516F40-8EC2-4191-A0C4-1BBE7C9A434F}"/>
              </a:ext>
            </a:extLst>
          </p:cNvPr>
          <p:cNvSpPr>
            <a:spLocks xmlns:a="http://schemas.openxmlformats.org/drawingml/2006/main" noGrp="1"/>
          </p:cNvSpPr>
          <p:nvPr/>
        </p:nvSpPr>
        <p:spPr>
          <a:xfrm xmlns:a="http://schemas.openxmlformats.org/drawingml/2006/main">
            <a:off x="9334500" y="3009900"/>
            <a:ext cx="20955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1">
                <a:solidFill>
                  <a:srgbClr val="142033"/>
                </a:solidFill>
                <a:latin typeface="Aptos"/>
                <a:ea typeface="Aptos"/>
                <a:cs typeface="Aptos"/>
              </a:defRPr>
            </a:pPr>
            <a:r>
              <a:rPr sz="1425" b="1">
                <a:solidFill>
                  <a:srgbClr val="142033"/>
                </a:solidFill>
                <a:latin typeface="Aptos"/>
                <a:ea typeface="Aptos"/>
                <a:cs typeface="Aptos"/>
              </a:rPr>
              <a:t>Desktop ERP + Database</a:t>
            </a:r>
          </a:p>
          <a:p xmlns:a="http://schemas.openxmlformats.org/drawingml/2006/main">
            <a:pPr algn="l">
              <a:defRPr sz="1425" b="1">
                <a:solidFill>
                  <a:srgbClr val="142033"/>
                </a:solidFill>
                <a:latin typeface="Aptos"/>
                <a:ea typeface="Aptos"/>
                <a:cs typeface="Aptos"/>
              </a:defRPr>
            </a:pPr>
            <a:r>
              <a:rPr sz="1425" b="1">
                <a:solidFill>
                  <a:srgbClr val="142033"/>
                </a:solidFill>
                <a:latin typeface="Aptos"/>
                <a:ea typeface="Aptos"/>
                <a:cs typeface="Aptos"/>
              </a:rPr>
              <a:t>Single source of truth for UFCL</a:t>
            </a:r>
          </a:p>
        </p:txBody>
      </p:sp>
      <p:sp>
        <p:nvSpPr>
          <p:cNvPr id="17" name="">
            <a:extLst xmlns:a="http://schemas.openxmlformats.org/drawingml/2006/main">
              <a:ext uri="{FF2B5EF4-FFF2-40B4-BE49-F238E27FC236}">
                <a16:creationId xmlns:a16="http://schemas.microsoft.com/office/drawing/2014/main" id="{2A1024A8-8057-4805-95C2-85753A6BAC92}"/>
              </a:ext>
            </a:extLst>
          </p:cNvPr>
          <p:cNvSpPr>
            <a:spLocks xmlns:a="http://schemas.openxmlformats.org/drawingml/2006/main" noGrp="1"/>
          </p:cNvSpPr>
          <p:nvPr/>
        </p:nvSpPr>
        <p:spPr>
          <a:xfrm xmlns:a="http://schemas.openxmlformats.org/drawingml/2006/main">
            <a:off x="1143000" y="5286375"/>
            <a:ext cx="9906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0">
                <a:solidFill>
                  <a:srgbClr val="26384F"/>
                </a:solidFill>
                <a:latin typeface="Aptos"/>
                <a:ea typeface="Aptos"/>
                <a:cs typeface="Aptos"/>
              </a:defRPr>
            </a:pPr>
            <a:r>
              <a:rPr sz="1650" b="0">
                <a:solidFill>
                  <a:srgbClr val="26384F"/>
                </a:solidFill>
                <a:latin typeface="Aptos"/>
                <a:ea typeface="Aptos"/>
                <a:cs typeface="Aptos"/>
              </a:rPr>
              <a:t>Field capture remains usable when connectivity is weak; synchronized transactions still pass through ERP controls before becoming official records.</a:t>
            </a:r>
          </a:p>
        </p:txBody>
      </p:sp>
      <p:sp>
        <p:nvSpPr>
          <p:cNvPr id="18" name="">
            <a:extLst xmlns:a="http://schemas.openxmlformats.org/drawingml/2006/main">
              <a:ext uri="{FF2B5EF4-FFF2-40B4-BE49-F238E27FC236}">
                <a16:creationId xmlns:a16="http://schemas.microsoft.com/office/drawing/2014/main" id="{E9374299-D485-4892-A5B0-EB77D2E63D4B}"/>
              </a:ext>
            </a:extLst>
          </p:cNvPr>
          <p:cNvSpPr>
            <a:spLocks xmlns:a="http://schemas.openxmlformats.org/drawingml/2006/main" noGrp="1"/>
          </p:cNvSpPr>
          <p:nvPr/>
        </p:nvSpPr>
        <p:spPr>
          <a:xfrm xmlns:a="http://schemas.openxmlformats.org/drawingml/2006/main">
            <a:off x="514350" y="6496050"/>
            <a:ext cx="666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67085"/>
                </a:solidFill>
                <a:latin typeface="Aptos"/>
                <a:ea typeface="Aptos"/>
                <a:cs typeface="Aptos"/>
              </a:defRPr>
            </a:pPr>
            <a:r>
              <a:rPr sz="750" b="0">
                <a:solidFill>
                  <a:srgbClr val="667085"/>
                </a:solidFill>
                <a:latin typeface="Aptos"/>
                <a:ea typeface="Aptos"/>
                <a:cs typeface="Aptos"/>
              </a:rPr>
              <a:t>UFCL ERP System | Executive Management Presentation | June 2026</a:t>
            </a:r>
          </a:p>
        </p:txBody>
      </p:sp>
      <p:sp>
        <p:nvSpPr>
          <p:cNvPr id="19" name="">
            <a:extLst xmlns:a="http://schemas.openxmlformats.org/drawingml/2006/main">
              <a:ext uri="{FF2B5EF4-FFF2-40B4-BE49-F238E27FC236}">
                <a16:creationId xmlns:a16="http://schemas.microsoft.com/office/drawing/2014/main" id="{5CE488FA-91C6-48DC-B4FE-1DF86D0B2748}"/>
              </a:ext>
            </a:extLst>
          </p:cNvPr>
          <p:cNvSpPr>
            <a:spLocks xmlns:a="http://schemas.openxmlformats.org/drawingml/2006/main" noGrp="1"/>
          </p:cNvSpPr>
          <p:nvPr/>
        </p:nvSpPr>
        <p:spPr>
          <a:xfrm xmlns:a="http://schemas.openxmlformats.org/drawingml/2006/main">
            <a:off x="11258550" y="645795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67085"/>
                </a:solidFill>
                <a:latin typeface="Aptos"/>
                <a:ea typeface="Aptos"/>
                <a:cs typeface="Aptos"/>
              </a:defRPr>
            </a:pPr>
            <a:r>
              <a:rPr sz="825" b="1">
                <a:solidFill>
                  <a:srgbClr val="667085"/>
                </a:solidFill>
                <a:latin typeface="Aptos"/>
                <a:ea typeface="Aptos"/>
                <a:cs typeface="Aptos"/>
              </a:rPr>
              <a:t>06</a:t>
            </a:r>
          </a:p>
        </p:txBody>
      </p:sp>
    </p:spTree>
    <p:extLst>
      <p:ext uri="{BB962C8B-B14F-4D97-AF65-F5344CB8AC3E}">
        <p14:creationId xmlns:p14="http://schemas.microsoft.com/office/powerpoint/2010/main" val="173554799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D15F442-CF7E-461E-82F2-0B143AA68DB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97A39C7B-71F1-472B-9B3A-ABBAEACC7D1D}"/>
              </a:ext>
            </a:extLst>
          </p:cNvPr>
          <p:cNvSpPr>
            <a:spLocks xmlns:a="http://schemas.openxmlformats.org/drawingml/2006/main" noGrp="1"/>
          </p:cNvSpPr>
          <p:nvPr/>
        </p:nvSpPr>
        <p:spPr>
          <a:xfrm xmlns:a="http://schemas.openxmlformats.org/drawingml/2006/main">
            <a:off x="514350" y="371475"/>
            <a:ext cx="95250" cy="952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A235D2F2-563E-4171-AEF7-130F62FBD490}"/>
              </a:ext>
            </a:extLst>
          </p:cNvPr>
          <p:cNvSpPr>
            <a:spLocks xmlns:a="http://schemas.openxmlformats.org/drawingml/2006/main" noGrp="1"/>
          </p:cNvSpPr>
          <p:nvPr/>
        </p:nvSpPr>
        <p:spPr>
          <a:xfrm xmlns:a="http://schemas.openxmlformats.org/drawingml/2006/main">
            <a:off x="70485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DEPLOYMENT ARCHITECTURE</a:t>
            </a:r>
          </a:p>
        </p:txBody>
      </p:sp>
      <p:sp>
        <p:nvSpPr>
          <p:cNvPr id="4" name="">
            <a:extLst xmlns:a="http://schemas.openxmlformats.org/drawingml/2006/main">
              <a:ext uri="{FF2B5EF4-FFF2-40B4-BE49-F238E27FC236}">
                <a16:creationId xmlns:a16="http://schemas.microsoft.com/office/drawing/2014/main" id="{9BCFFC47-2976-4119-8ADB-4875849FCCC8}"/>
              </a:ext>
            </a:extLst>
          </p:cNvPr>
          <p:cNvSpPr>
            <a:spLocks xmlns:a="http://schemas.openxmlformats.org/drawingml/2006/main" noGrp="1"/>
          </p:cNvSpPr>
          <p:nvPr/>
        </p:nvSpPr>
        <p:spPr>
          <a:xfrm xmlns:a="http://schemas.openxmlformats.org/drawingml/2006/main">
            <a:off x="514350" y="685800"/>
            <a:ext cx="88582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42033"/>
                </a:solidFill>
                <a:latin typeface="Aptos Display"/>
                <a:ea typeface="Aptos Display"/>
                <a:cs typeface="Aptos Display"/>
              </a:defRPr>
            </a:pPr>
            <a:r>
              <a:rPr sz="2550" b="1">
                <a:solidFill>
                  <a:srgbClr val="142033"/>
                </a:solidFill>
                <a:latin typeface="Aptos Display"/>
                <a:ea typeface="Aptos Display"/>
                <a:cs typeface="Aptos Display"/>
              </a:rPr>
              <a:t>Phase 1 can deploy as a practical desktop-plus-API-plus-mobile architecture.</a:t>
            </a:r>
          </a:p>
        </p:txBody>
      </p:sp>
      <p:sp>
        <p:nvSpPr>
          <p:cNvPr id="5" name="">
            <a:extLst xmlns:a="http://schemas.openxmlformats.org/drawingml/2006/main">
              <a:ext uri="{FF2B5EF4-FFF2-40B4-BE49-F238E27FC236}">
                <a16:creationId xmlns:a16="http://schemas.microsoft.com/office/drawing/2014/main" id="{1C80D3D3-1BF0-4996-BAE2-5A287CEEF0A5}"/>
              </a:ext>
            </a:extLst>
          </p:cNvPr>
          <p:cNvSpPr>
            <a:spLocks xmlns:a="http://schemas.openxmlformats.org/drawingml/2006/main" noGrp="1"/>
          </p:cNvSpPr>
          <p:nvPr/>
        </p:nvSpPr>
        <p:spPr>
          <a:xfrm xmlns:a="http://schemas.openxmlformats.org/drawingml/2006/main">
            <a:off x="514350" y="1600200"/>
            <a:ext cx="11163300" cy="9525"/>
          </a:xfrm>
          <a:prstGeom xmlns:a="http://schemas.openxmlformats.org/drawingml/2006/main" prst="rect">
            <a:avLst/>
          </a:prstGeom>
          <a:solidFill xmlns:a="http://schemas.openxmlformats.org/drawingml/2006/main">
            <a:srgbClr val="D9DEE7"/>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4506784E-3484-418B-9A75-0C6684C951AF}"/>
              </a:ext>
            </a:extLst>
          </p:cNvPr>
          <p:cNvSpPr>
            <a:spLocks xmlns:a="http://schemas.openxmlformats.org/drawingml/2006/main" noGrp="1"/>
          </p:cNvSpPr>
          <p:nvPr/>
        </p:nvSpPr>
        <p:spPr>
          <a:xfrm xmlns:a="http://schemas.openxmlformats.org/drawingml/2006/main">
            <a:off x="742950" y="2324100"/>
            <a:ext cx="2809875" cy="1238250"/>
          </a:xfrm>
          <a:prstGeom xmlns:a="http://schemas.openxmlformats.org/drawingml/2006/main" prst="rect">
            <a:avLst/>
          </a:prstGeom>
          <a:solidFill xmlns:a="http://schemas.openxmlformats.org/drawingml/2006/main">
            <a:srgbClr val="FFFFFF"/>
          </a:solidFill>
          <a:ln xmlns:a="http://schemas.openxmlformats.org/drawingml/2006/main" w="11430">
            <a:solidFill>
              <a:srgbClr val="1A3C5E"/>
            </a:solidFill>
            <a:prstDash val="solid"/>
          </a:ln>
        </p:spPr>
      </p:sp>
      <p:sp>
        <p:nvSpPr>
          <p:cNvPr id="7" name="">
            <a:extLst xmlns:a="http://schemas.openxmlformats.org/drawingml/2006/main">
              <a:ext uri="{FF2B5EF4-FFF2-40B4-BE49-F238E27FC236}">
                <a16:creationId xmlns:a16="http://schemas.microsoft.com/office/drawing/2014/main" id="{078FEF65-CDB5-4E1C-BB17-A06BE90685D0}"/>
              </a:ext>
            </a:extLst>
          </p:cNvPr>
          <p:cNvSpPr>
            <a:spLocks xmlns:a="http://schemas.openxmlformats.org/drawingml/2006/main" noGrp="1"/>
          </p:cNvSpPr>
          <p:nvPr/>
        </p:nvSpPr>
        <p:spPr>
          <a:xfrm xmlns:a="http://schemas.openxmlformats.org/drawingml/2006/main">
            <a:off x="742950" y="2324100"/>
            <a:ext cx="57150" cy="1238250"/>
          </a:xfrm>
          <a:prstGeom xmlns:a="http://schemas.openxmlformats.org/drawingml/2006/main" prst="rect">
            <a:avLst/>
          </a:prstGeom>
          <a:solidFill xmlns:a="http://schemas.openxmlformats.org/drawingml/2006/main">
            <a:srgbClr val="1A3C5E"/>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FA8D1476-BF85-4075-8CF5-CF7B5FFC785C}"/>
              </a:ext>
            </a:extLst>
          </p:cNvPr>
          <p:cNvSpPr>
            <a:spLocks xmlns:a="http://schemas.openxmlformats.org/drawingml/2006/main" noGrp="1"/>
          </p:cNvSpPr>
          <p:nvPr/>
        </p:nvSpPr>
        <p:spPr>
          <a:xfrm xmlns:a="http://schemas.openxmlformats.org/drawingml/2006/main">
            <a:off x="914400" y="2457450"/>
            <a:ext cx="2524125"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42033"/>
                </a:solidFill>
                <a:latin typeface="Aptos"/>
                <a:ea typeface="Aptos"/>
                <a:cs typeface="Aptos"/>
              </a:defRPr>
            </a:pPr>
            <a:r>
              <a:rPr sz="1500" b="1">
                <a:solidFill>
                  <a:srgbClr val="142033"/>
                </a:solidFill>
                <a:latin typeface="Aptos"/>
                <a:ea typeface="Aptos"/>
                <a:cs typeface="Aptos"/>
              </a:rPr>
              <a:t>Workshop Desktop ERP</a:t>
            </a:r>
          </a:p>
          <a:p xmlns:a="http://schemas.openxmlformats.org/drawingml/2006/main">
            <a:pPr algn="l">
              <a:defRPr sz="1500" b="1">
                <a:solidFill>
                  <a:srgbClr val="142033"/>
                </a:solidFill>
                <a:latin typeface="Aptos"/>
                <a:ea typeface="Aptos"/>
                <a:cs typeface="Aptos"/>
              </a:defRPr>
            </a:pPr>
            <a:r>
              <a:rPr sz="1500" b="1">
                <a:solidFill>
                  <a:srgbClr val="142033"/>
                </a:solidFill>
                <a:latin typeface="Aptos"/>
                <a:ea typeface="Aptos"/>
                <a:cs typeface="Aptos"/>
              </a:rPr>
              <a:t>Admin, dashboards, approvals</a:t>
            </a:r>
          </a:p>
        </p:txBody>
      </p:sp>
      <p:sp>
        <p:nvSpPr>
          <p:cNvPr id="9" name="">
            <a:extLst xmlns:a="http://schemas.openxmlformats.org/drawingml/2006/main">
              <a:ext uri="{FF2B5EF4-FFF2-40B4-BE49-F238E27FC236}">
                <a16:creationId xmlns:a16="http://schemas.microsoft.com/office/drawing/2014/main" id="{9F66FD14-17F5-4437-967D-D673D3853966}"/>
              </a:ext>
            </a:extLst>
          </p:cNvPr>
          <p:cNvSpPr>
            <a:spLocks xmlns:a="http://schemas.openxmlformats.org/drawingml/2006/main" noGrp="1"/>
          </p:cNvSpPr>
          <p:nvPr/>
        </p:nvSpPr>
        <p:spPr>
          <a:xfrm xmlns:a="http://schemas.openxmlformats.org/drawingml/2006/main">
            <a:off x="4695825" y="2324100"/>
            <a:ext cx="2809875" cy="1238250"/>
          </a:xfrm>
          <a:prstGeom xmlns:a="http://schemas.openxmlformats.org/drawingml/2006/main" prst="rect">
            <a:avLst/>
          </a:prstGeom>
          <a:solidFill xmlns:a="http://schemas.openxmlformats.org/drawingml/2006/main">
            <a:srgbClr val="FFFFFF"/>
          </a:solidFill>
          <a:ln xmlns:a="http://schemas.openxmlformats.org/drawingml/2006/main" w="11430">
            <a:solidFill>
              <a:srgbClr val="2D6A4F"/>
            </a:solidFill>
            <a:prstDash val="solid"/>
          </a:ln>
        </p:spPr>
      </p:sp>
      <p:sp>
        <p:nvSpPr>
          <p:cNvPr id="10" name="">
            <a:extLst xmlns:a="http://schemas.openxmlformats.org/drawingml/2006/main">
              <a:ext uri="{FF2B5EF4-FFF2-40B4-BE49-F238E27FC236}">
                <a16:creationId xmlns:a16="http://schemas.microsoft.com/office/drawing/2014/main" id="{FC50A251-8209-4862-93C1-2D70C1F5CA0E}"/>
              </a:ext>
            </a:extLst>
          </p:cNvPr>
          <p:cNvSpPr>
            <a:spLocks xmlns:a="http://schemas.openxmlformats.org/drawingml/2006/main" noGrp="1"/>
          </p:cNvSpPr>
          <p:nvPr/>
        </p:nvSpPr>
        <p:spPr>
          <a:xfrm xmlns:a="http://schemas.openxmlformats.org/drawingml/2006/main">
            <a:off x="4695825" y="2324100"/>
            <a:ext cx="57150" cy="12382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C58D73C0-0D85-4288-AF74-020E16AAE359}"/>
              </a:ext>
            </a:extLst>
          </p:cNvPr>
          <p:cNvSpPr>
            <a:spLocks xmlns:a="http://schemas.openxmlformats.org/drawingml/2006/main" noGrp="1"/>
          </p:cNvSpPr>
          <p:nvPr/>
        </p:nvSpPr>
        <p:spPr>
          <a:xfrm xmlns:a="http://schemas.openxmlformats.org/drawingml/2006/main">
            <a:off x="4867275" y="2457450"/>
            <a:ext cx="2524125"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42033"/>
                </a:solidFill>
                <a:latin typeface="Aptos"/>
                <a:ea typeface="Aptos"/>
                <a:cs typeface="Aptos"/>
              </a:defRPr>
            </a:pPr>
            <a:r>
              <a:rPr sz="1500" b="1">
                <a:solidFill>
                  <a:srgbClr val="142033"/>
                </a:solidFill>
                <a:latin typeface="Aptos"/>
                <a:ea typeface="Aptos"/>
                <a:cs typeface="Aptos"/>
              </a:rPr>
              <a:t>UFCL API Layer</a:t>
            </a:r>
          </a:p>
          <a:p xmlns:a="http://schemas.openxmlformats.org/drawingml/2006/main">
            <a:pPr algn="l">
              <a:defRPr sz="1500" b="1">
                <a:solidFill>
                  <a:srgbClr val="142033"/>
                </a:solidFill>
                <a:latin typeface="Aptos"/>
                <a:ea typeface="Aptos"/>
                <a:cs typeface="Aptos"/>
              </a:defRPr>
            </a:pPr>
            <a:r>
              <a:rPr sz="1500" b="1">
                <a:solidFill>
                  <a:srgbClr val="142033"/>
                </a:solidFill>
                <a:latin typeface="Aptos"/>
                <a:ea typeface="Aptos"/>
                <a:cs typeface="Aptos"/>
              </a:rPr>
              <a:t>Authentication, sync, validation</a:t>
            </a:r>
          </a:p>
        </p:txBody>
      </p:sp>
      <p:sp>
        <p:nvSpPr>
          <p:cNvPr id="12" name="">
            <a:extLst xmlns:a="http://schemas.openxmlformats.org/drawingml/2006/main">
              <a:ext uri="{FF2B5EF4-FFF2-40B4-BE49-F238E27FC236}">
                <a16:creationId xmlns:a16="http://schemas.microsoft.com/office/drawing/2014/main" id="{06BC9FAC-46ED-40E0-95C1-A13506763C71}"/>
              </a:ext>
            </a:extLst>
          </p:cNvPr>
          <p:cNvSpPr>
            <a:spLocks xmlns:a="http://schemas.openxmlformats.org/drawingml/2006/main" noGrp="1"/>
          </p:cNvSpPr>
          <p:nvPr/>
        </p:nvSpPr>
        <p:spPr>
          <a:xfrm xmlns:a="http://schemas.openxmlformats.org/drawingml/2006/main">
            <a:off x="8648700" y="2324100"/>
            <a:ext cx="2809875" cy="1238250"/>
          </a:xfrm>
          <a:prstGeom xmlns:a="http://schemas.openxmlformats.org/drawingml/2006/main" prst="rect">
            <a:avLst/>
          </a:prstGeom>
          <a:solidFill xmlns:a="http://schemas.openxmlformats.org/drawingml/2006/main">
            <a:srgbClr val="FFFFFF"/>
          </a:solidFill>
          <a:ln xmlns:a="http://schemas.openxmlformats.org/drawingml/2006/main" w="11430">
            <a:solidFill>
              <a:srgbClr val="B5500A"/>
            </a:solidFill>
            <a:prstDash val="solid"/>
          </a:ln>
        </p:spPr>
      </p:sp>
      <p:sp>
        <p:nvSpPr>
          <p:cNvPr id="13" name="">
            <a:extLst xmlns:a="http://schemas.openxmlformats.org/drawingml/2006/main">
              <a:ext uri="{FF2B5EF4-FFF2-40B4-BE49-F238E27FC236}">
                <a16:creationId xmlns:a16="http://schemas.microsoft.com/office/drawing/2014/main" id="{93060361-2F80-46ED-B1D9-4AD34DBD5BAF}"/>
              </a:ext>
            </a:extLst>
          </p:cNvPr>
          <p:cNvSpPr>
            <a:spLocks xmlns:a="http://schemas.openxmlformats.org/drawingml/2006/main" noGrp="1"/>
          </p:cNvSpPr>
          <p:nvPr/>
        </p:nvSpPr>
        <p:spPr>
          <a:xfrm xmlns:a="http://schemas.openxmlformats.org/drawingml/2006/main">
            <a:off x="8648700" y="2324100"/>
            <a:ext cx="57150" cy="1238250"/>
          </a:xfrm>
          <a:prstGeom xmlns:a="http://schemas.openxmlformats.org/drawingml/2006/main" prst="rect">
            <a:avLst/>
          </a:prstGeom>
          <a:solidFill xmlns:a="http://schemas.openxmlformats.org/drawingml/2006/main">
            <a:srgbClr val="B5500A"/>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7E4F5494-F5E8-46A2-BF63-E3D5E972AB21}"/>
              </a:ext>
            </a:extLst>
          </p:cNvPr>
          <p:cNvSpPr>
            <a:spLocks xmlns:a="http://schemas.openxmlformats.org/drawingml/2006/main" noGrp="1"/>
          </p:cNvSpPr>
          <p:nvPr/>
        </p:nvSpPr>
        <p:spPr>
          <a:xfrm xmlns:a="http://schemas.openxmlformats.org/drawingml/2006/main">
            <a:off x="8820150" y="2457450"/>
            <a:ext cx="2524125"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142033"/>
                </a:solidFill>
                <a:latin typeface="Aptos"/>
                <a:ea typeface="Aptos"/>
                <a:cs typeface="Aptos"/>
              </a:defRPr>
            </a:pPr>
            <a:r>
              <a:rPr sz="1500" b="1">
                <a:solidFill>
                  <a:srgbClr val="142033"/>
                </a:solidFill>
                <a:latin typeface="Aptos"/>
                <a:ea typeface="Aptos"/>
                <a:cs typeface="Aptos"/>
              </a:rPr>
              <a:t>Mobile Field App</a:t>
            </a:r>
          </a:p>
          <a:p xmlns:a="http://schemas.openxmlformats.org/drawingml/2006/main">
            <a:pPr algn="l">
              <a:defRPr sz="1500" b="1">
                <a:solidFill>
                  <a:srgbClr val="142033"/>
                </a:solidFill>
                <a:latin typeface="Aptos"/>
                <a:ea typeface="Aptos"/>
                <a:cs typeface="Aptos"/>
              </a:defRPr>
            </a:pPr>
            <a:r>
              <a:rPr sz="1500" b="1">
                <a:solidFill>
                  <a:srgbClr val="142033"/>
                </a:solidFill>
                <a:latin typeface="Aptos"/>
                <a:ea typeface="Aptos"/>
                <a:cs typeface="Aptos"/>
              </a:rPr>
              <a:t>Offline capture, later sync</a:t>
            </a:r>
          </a:p>
        </p:txBody>
      </p:sp>
      <p:sp>
        <p:nvSpPr>
          <p:cNvPr id="15" name="">
            <a:extLst xmlns:a="http://schemas.openxmlformats.org/drawingml/2006/main">
              <a:ext uri="{FF2B5EF4-FFF2-40B4-BE49-F238E27FC236}">
                <a16:creationId xmlns:a16="http://schemas.microsoft.com/office/drawing/2014/main" id="{223590FF-30F5-4FAC-B126-FE2A61FB0785}"/>
              </a:ext>
            </a:extLst>
          </p:cNvPr>
          <p:cNvSpPr>
            <a:spLocks xmlns:a="http://schemas.openxmlformats.org/drawingml/2006/main" noGrp="1"/>
          </p:cNvSpPr>
          <p:nvPr/>
        </p:nvSpPr>
        <p:spPr>
          <a:xfrm xmlns:a="http://schemas.openxmlformats.org/drawingml/2006/main">
            <a:off x="3657600" y="2943225"/>
            <a:ext cx="895350" cy="28575"/>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4AE9DA7B-3AA5-429D-92B4-FD802BA06A32}"/>
              </a:ext>
            </a:extLst>
          </p:cNvPr>
          <p:cNvSpPr>
            <a:spLocks xmlns:a="http://schemas.openxmlformats.org/drawingml/2006/main" noGrp="1"/>
          </p:cNvSpPr>
          <p:nvPr/>
        </p:nvSpPr>
        <p:spPr>
          <a:xfrm xmlns:a="http://schemas.openxmlformats.org/drawingml/2006/main">
            <a:off x="7620000" y="2943225"/>
            <a:ext cx="895350" cy="28575"/>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F8EA51C8-48C9-40A3-AE21-ACE0B98B8D0F}"/>
              </a:ext>
            </a:extLst>
          </p:cNvPr>
          <p:cNvSpPr>
            <a:spLocks xmlns:a="http://schemas.openxmlformats.org/drawingml/2006/main" noGrp="1"/>
          </p:cNvSpPr>
          <p:nvPr/>
        </p:nvSpPr>
        <p:spPr>
          <a:xfrm xmlns:a="http://schemas.openxmlformats.org/drawingml/2006/main">
            <a:off x="3429000" y="4610100"/>
            <a:ext cx="5334000" cy="876300"/>
          </a:xfrm>
          <a:prstGeom xmlns:a="http://schemas.openxmlformats.org/drawingml/2006/main" prst="rect">
            <a:avLst/>
          </a:prstGeom>
          <a:solidFill xmlns:a="http://schemas.openxmlformats.org/drawingml/2006/main">
            <a:srgbClr val="E8F3EC"/>
          </a:solidFill>
          <a:ln xmlns:a="http://schemas.openxmlformats.org/drawingml/2006/main" w="11430">
            <a:solidFill>
              <a:srgbClr val="2D6A4F"/>
            </a:solidFill>
            <a:prstDash val="solid"/>
          </a:ln>
        </p:spPr>
      </p:sp>
      <p:sp>
        <p:nvSpPr>
          <p:cNvPr id="18" name="">
            <a:extLst xmlns:a="http://schemas.openxmlformats.org/drawingml/2006/main">
              <a:ext uri="{FF2B5EF4-FFF2-40B4-BE49-F238E27FC236}">
                <a16:creationId xmlns:a16="http://schemas.microsoft.com/office/drawing/2014/main" id="{1DAB4CDC-668C-4A78-9EB4-239F30F29147}"/>
              </a:ext>
            </a:extLst>
          </p:cNvPr>
          <p:cNvSpPr>
            <a:spLocks xmlns:a="http://schemas.openxmlformats.org/drawingml/2006/main" noGrp="1"/>
          </p:cNvSpPr>
          <p:nvPr/>
        </p:nvSpPr>
        <p:spPr>
          <a:xfrm xmlns:a="http://schemas.openxmlformats.org/drawingml/2006/main">
            <a:off x="3429000" y="4610100"/>
            <a:ext cx="57150" cy="87630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856D5B9A-63A4-4B9B-94CF-66EF4B052DCF}"/>
              </a:ext>
            </a:extLst>
          </p:cNvPr>
          <p:cNvSpPr>
            <a:spLocks xmlns:a="http://schemas.openxmlformats.org/drawingml/2006/main" noGrp="1"/>
          </p:cNvSpPr>
          <p:nvPr/>
        </p:nvSpPr>
        <p:spPr>
          <a:xfrm xmlns:a="http://schemas.openxmlformats.org/drawingml/2006/main">
            <a:off x="3600450" y="4743450"/>
            <a:ext cx="5048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142033"/>
                </a:solidFill>
                <a:latin typeface="Aptos"/>
                <a:ea typeface="Aptos"/>
                <a:cs typeface="Aptos"/>
              </a:defRPr>
            </a:pPr>
            <a:r>
              <a:rPr sz="1650" b="1">
                <a:solidFill>
                  <a:srgbClr val="142033"/>
                </a:solidFill>
                <a:latin typeface="Aptos"/>
                <a:ea typeface="Aptos"/>
                <a:cs typeface="Aptos"/>
              </a:rPr>
              <a:t>Central UFCL Database</a:t>
            </a:r>
          </a:p>
          <a:p xmlns:a="http://schemas.openxmlformats.org/drawingml/2006/main">
            <a:pPr algn="l">
              <a:defRPr sz="1650" b="1">
                <a:solidFill>
                  <a:srgbClr val="142033"/>
                </a:solidFill>
                <a:latin typeface="Aptos"/>
                <a:ea typeface="Aptos"/>
                <a:cs typeface="Aptos"/>
              </a:defRPr>
            </a:pPr>
            <a:r>
              <a:rPr sz="1650" b="1">
                <a:solidFill>
                  <a:srgbClr val="142033"/>
                </a:solidFill>
                <a:latin typeface="Aptos"/>
                <a:ea typeface="Aptos"/>
                <a:cs typeface="Aptos"/>
              </a:rPr>
              <a:t>Users, production, stock, deliveries, audit records</a:t>
            </a:r>
          </a:p>
        </p:txBody>
      </p:sp>
      <p:sp>
        <p:nvSpPr>
          <p:cNvPr id="20" name="">
            <a:extLst xmlns:a="http://schemas.openxmlformats.org/drawingml/2006/main">
              <a:ext uri="{FF2B5EF4-FFF2-40B4-BE49-F238E27FC236}">
                <a16:creationId xmlns:a16="http://schemas.microsoft.com/office/drawing/2014/main" id="{194F94F7-2D30-4840-B37D-99581BF32AD0}"/>
              </a:ext>
            </a:extLst>
          </p:cNvPr>
          <p:cNvSpPr>
            <a:spLocks xmlns:a="http://schemas.openxmlformats.org/drawingml/2006/main" noGrp="1"/>
          </p:cNvSpPr>
          <p:nvPr/>
        </p:nvSpPr>
        <p:spPr>
          <a:xfrm xmlns:a="http://schemas.openxmlformats.org/drawingml/2006/main">
            <a:off x="6076950" y="3638550"/>
            <a:ext cx="28575" cy="83820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CA1C9ABD-4062-4381-91FA-DA384F91B5D7}"/>
              </a:ext>
            </a:extLst>
          </p:cNvPr>
          <p:cNvSpPr>
            <a:spLocks xmlns:a="http://schemas.openxmlformats.org/drawingml/2006/main" noGrp="1"/>
          </p:cNvSpPr>
          <p:nvPr/>
        </p:nvSpPr>
        <p:spPr>
          <a:xfrm xmlns:a="http://schemas.openxmlformats.org/drawingml/2006/main">
            <a:off x="514350" y="6496050"/>
            <a:ext cx="666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67085"/>
                </a:solidFill>
                <a:latin typeface="Aptos"/>
                <a:ea typeface="Aptos"/>
                <a:cs typeface="Aptos"/>
              </a:defRPr>
            </a:pPr>
            <a:r>
              <a:rPr sz="750" b="0">
                <a:solidFill>
                  <a:srgbClr val="667085"/>
                </a:solidFill>
                <a:latin typeface="Aptos"/>
                <a:ea typeface="Aptos"/>
                <a:cs typeface="Aptos"/>
              </a:rPr>
              <a:t>UFCL ERP System | Executive Management Presentation | June 2026</a:t>
            </a:r>
          </a:p>
        </p:txBody>
      </p:sp>
      <p:sp>
        <p:nvSpPr>
          <p:cNvPr id="22" name="">
            <a:extLst xmlns:a="http://schemas.openxmlformats.org/drawingml/2006/main">
              <a:ext uri="{FF2B5EF4-FFF2-40B4-BE49-F238E27FC236}">
                <a16:creationId xmlns:a16="http://schemas.microsoft.com/office/drawing/2014/main" id="{6DA0C06B-2EC4-4893-9070-7602F0741D79}"/>
              </a:ext>
            </a:extLst>
          </p:cNvPr>
          <p:cNvSpPr>
            <a:spLocks xmlns:a="http://schemas.openxmlformats.org/drawingml/2006/main" noGrp="1"/>
          </p:cNvSpPr>
          <p:nvPr/>
        </p:nvSpPr>
        <p:spPr>
          <a:xfrm xmlns:a="http://schemas.openxmlformats.org/drawingml/2006/main">
            <a:off x="11258550" y="645795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67085"/>
                </a:solidFill>
                <a:latin typeface="Aptos"/>
                <a:ea typeface="Aptos"/>
                <a:cs typeface="Aptos"/>
              </a:defRPr>
            </a:pPr>
            <a:r>
              <a:rPr sz="825" b="1">
                <a:solidFill>
                  <a:srgbClr val="667085"/>
                </a:solidFill>
                <a:latin typeface="Aptos"/>
                <a:ea typeface="Aptos"/>
                <a:cs typeface="Aptos"/>
              </a:rPr>
              <a:t>07</a:t>
            </a:r>
          </a:p>
        </p:txBody>
      </p:sp>
    </p:spTree>
    <p:extLst>
      <p:ext uri="{BB962C8B-B14F-4D97-AF65-F5344CB8AC3E}">
        <p14:creationId xmlns:p14="http://schemas.microsoft.com/office/powerpoint/2010/main" val="175793175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FAAEFFC-DAC9-448F-A188-DB75B91B3D9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AACC3FDC-CD55-4F2D-BF5E-11FD1980ABFD}"/>
              </a:ext>
            </a:extLst>
          </p:cNvPr>
          <p:cNvSpPr>
            <a:spLocks xmlns:a="http://schemas.openxmlformats.org/drawingml/2006/main" noGrp="1"/>
          </p:cNvSpPr>
          <p:nvPr/>
        </p:nvSpPr>
        <p:spPr>
          <a:xfrm xmlns:a="http://schemas.openxmlformats.org/drawingml/2006/main">
            <a:off x="514350" y="371475"/>
            <a:ext cx="95250" cy="952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6840BD59-FAED-4D03-A4A4-AD21993E8714}"/>
              </a:ext>
            </a:extLst>
          </p:cNvPr>
          <p:cNvSpPr>
            <a:spLocks xmlns:a="http://schemas.openxmlformats.org/drawingml/2006/main" noGrp="1"/>
          </p:cNvSpPr>
          <p:nvPr/>
        </p:nvSpPr>
        <p:spPr>
          <a:xfrm xmlns:a="http://schemas.openxmlformats.org/drawingml/2006/main">
            <a:off x="70485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WORKSHOP ISOLATION</a:t>
            </a:r>
          </a:p>
        </p:txBody>
      </p:sp>
      <p:sp>
        <p:nvSpPr>
          <p:cNvPr id="4" name="">
            <a:extLst xmlns:a="http://schemas.openxmlformats.org/drawingml/2006/main">
              <a:ext uri="{FF2B5EF4-FFF2-40B4-BE49-F238E27FC236}">
                <a16:creationId xmlns:a16="http://schemas.microsoft.com/office/drawing/2014/main" id="{BFE25F15-CD3E-4D31-8835-49E796DF1E6B}"/>
              </a:ext>
            </a:extLst>
          </p:cNvPr>
          <p:cNvSpPr>
            <a:spLocks xmlns:a="http://schemas.openxmlformats.org/drawingml/2006/main" noGrp="1"/>
          </p:cNvSpPr>
          <p:nvPr/>
        </p:nvSpPr>
        <p:spPr>
          <a:xfrm xmlns:a="http://schemas.openxmlformats.org/drawingml/2006/main">
            <a:off x="514350" y="685800"/>
            <a:ext cx="88582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42033"/>
                </a:solidFill>
                <a:latin typeface="Aptos Display"/>
                <a:ea typeface="Aptos Display"/>
                <a:cs typeface="Aptos Display"/>
              </a:defRPr>
            </a:pPr>
            <a:r>
              <a:rPr sz="2550" b="1">
                <a:solidFill>
                  <a:srgbClr val="142033"/>
                </a:solidFill>
                <a:latin typeface="Aptos Display"/>
                <a:ea typeface="Aptos Display"/>
                <a:cs typeface="Aptos Display"/>
              </a:rPr>
              <a:t>Workshop isolation protects operational ownership while executives retain cross-workshop visibility.</a:t>
            </a:r>
          </a:p>
        </p:txBody>
      </p:sp>
      <p:sp>
        <p:nvSpPr>
          <p:cNvPr id="5" name="">
            <a:extLst xmlns:a="http://schemas.openxmlformats.org/drawingml/2006/main">
              <a:ext uri="{FF2B5EF4-FFF2-40B4-BE49-F238E27FC236}">
                <a16:creationId xmlns:a16="http://schemas.microsoft.com/office/drawing/2014/main" id="{B798DC12-42B3-4E7F-9E1A-A71F57919D95}"/>
              </a:ext>
            </a:extLst>
          </p:cNvPr>
          <p:cNvSpPr>
            <a:spLocks xmlns:a="http://schemas.openxmlformats.org/drawingml/2006/main" noGrp="1"/>
          </p:cNvSpPr>
          <p:nvPr/>
        </p:nvSpPr>
        <p:spPr>
          <a:xfrm xmlns:a="http://schemas.openxmlformats.org/drawingml/2006/main">
            <a:off x="514350" y="1600200"/>
            <a:ext cx="11163300" cy="9525"/>
          </a:xfrm>
          <a:prstGeom xmlns:a="http://schemas.openxmlformats.org/drawingml/2006/main" prst="rect">
            <a:avLst/>
          </a:prstGeom>
          <a:solidFill xmlns:a="http://schemas.openxmlformats.org/drawingml/2006/main">
            <a:srgbClr val="D9DEE7"/>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030985EC-38CF-4E4D-B83D-176E45E2A07E}"/>
              </a:ext>
            </a:extLst>
          </p:cNvPr>
          <p:cNvSpPr>
            <a:spLocks xmlns:a="http://schemas.openxmlformats.org/drawingml/2006/main" noGrp="1"/>
          </p:cNvSpPr>
          <p:nvPr/>
        </p:nvSpPr>
        <p:spPr>
          <a:xfrm xmlns:a="http://schemas.openxmlformats.org/drawingml/2006/main">
            <a:off x="914400" y="2238375"/>
            <a:ext cx="2857500" cy="2190750"/>
          </a:xfrm>
          <a:prstGeom xmlns:a="http://schemas.openxmlformats.org/drawingml/2006/main" prst="rect">
            <a:avLst/>
          </a:prstGeom>
          <a:solidFill xmlns:a="http://schemas.openxmlformats.org/drawingml/2006/main">
            <a:srgbClr val="FFFFFF"/>
          </a:solidFill>
          <a:ln xmlns:a="http://schemas.openxmlformats.org/drawingml/2006/main" w="13335">
            <a:solidFill>
              <a:srgbClr val="1A3C5E"/>
            </a:solidFill>
            <a:prstDash val="solid"/>
          </a:ln>
        </p:spPr>
      </p:sp>
      <p:sp>
        <p:nvSpPr>
          <p:cNvPr id="7" name="">
            <a:extLst xmlns:a="http://schemas.openxmlformats.org/drawingml/2006/main">
              <a:ext uri="{FF2B5EF4-FFF2-40B4-BE49-F238E27FC236}">
                <a16:creationId xmlns:a16="http://schemas.microsoft.com/office/drawing/2014/main" id="{4AB364DD-7F0F-4100-ACB9-67DC4BBB47E5}"/>
              </a:ext>
            </a:extLst>
          </p:cNvPr>
          <p:cNvSpPr>
            <a:spLocks xmlns:a="http://schemas.openxmlformats.org/drawingml/2006/main" noGrp="1"/>
          </p:cNvSpPr>
          <p:nvPr/>
        </p:nvSpPr>
        <p:spPr>
          <a:xfrm xmlns:a="http://schemas.openxmlformats.org/drawingml/2006/main">
            <a:off x="1143000" y="2514600"/>
            <a:ext cx="2400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1A3C5E"/>
                </a:solidFill>
                <a:latin typeface="Aptos"/>
                <a:ea typeface="Aptos"/>
                <a:cs typeface="Aptos"/>
              </a:defRPr>
            </a:pPr>
            <a:r>
              <a:rPr sz="1950" b="1">
                <a:solidFill>
                  <a:srgbClr val="1A3C5E"/>
                </a:solidFill>
                <a:latin typeface="Aptos"/>
                <a:ea typeface="Aptos"/>
                <a:cs typeface="Aptos"/>
              </a:rPr>
              <a:t>Gatare</a:t>
            </a:r>
          </a:p>
        </p:txBody>
      </p:sp>
      <p:sp>
        <p:nvSpPr>
          <p:cNvPr id="8" name="">
            <a:extLst xmlns:a="http://schemas.openxmlformats.org/drawingml/2006/main">
              <a:ext uri="{FF2B5EF4-FFF2-40B4-BE49-F238E27FC236}">
                <a16:creationId xmlns:a16="http://schemas.microsoft.com/office/drawing/2014/main" id="{FFF26F4E-9CF8-43F6-9989-805298FE5C2F}"/>
              </a:ext>
            </a:extLst>
          </p:cNvPr>
          <p:cNvSpPr>
            <a:spLocks xmlns:a="http://schemas.openxmlformats.org/drawingml/2006/main" noGrp="1"/>
          </p:cNvSpPr>
          <p:nvPr/>
        </p:nvSpPr>
        <p:spPr>
          <a:xfrm xmlns:a="http://schemas.openxmlformats.org/drawingml/2006/main">
            <a:off x="1257300" y="3124200"/>
            <a:ext cx="21717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0">
                <a:solidFill>
                  <a:srgbClr val="26384F"/>
                </a:solidFill>
                <a:latin typeface="Aptos"/>
                <a:ea typeface="Aptos"/>
                <a:cs typeface="Aptos"/>
              </a:defRPr>
            </a:pPr>
            <a:r>
              <a:rPr sz="1425" b="0">
                <a:solidFill>
                  <a:srgbClr val="26384F"/>
                </a:solidFill>
                <a:latin typeface="Aptos"/>
                <a:ea typeface="Aptos"/>
                <a:cs typeface="Aptos"/>
              </a:rPr>
              <a:t>Harvesting</a:t>
            </a:r>
          </a:p>
          <a:p xmlns:a="http://schemas.openxmlformats.org/drawingml/2006/main">
            <a:pPr algn="ctr">
              <a:defRPr sz="1425" b="0">
                <a:solidFill>
                  <a:srgbClr val="26384F"/>
                </a:solidFill>
                <a:latin typeface="Aptos"/>
                <a:ea typeface="Aptos"/>
                <a:cs typeface="Aptos"/>
              </a:defRPr>
            </a:pPr>
            <a:r>
              <a:rPr sz="1425" b="0">
                <a:solidFill>
                  <a:srgbClr val="26384F"/>
                </a:solidFill>
                <a:latin typeface="Aptos"/>
                <a:ea typeface="Aptos"/>
                <a:cs typeface="Aptos"/>
              </a:rPr>
              <a:t>Sawmill production</a:t>
            </a:r>
          </a:p>
          <a:p xmlns:a="http://schemas.openxmlformats.org/drawingml/2006/main">
            <a:pPr algn="ctr">
              <a:defRPr sz="1425" b="0">
                <a:solidFill>
                  <a:srgbClr val="26384F"/>
                </a:solidFill>
                <a:latin typeface="Aptos"/>
                <a:ea typeface="Aptos"/>
                <a:cs typeface="Aptos"/>
              </a:defRPr>
            </a:pPr>
            <a:r>
              <a:rPr sz="1425" b="0">
                <a:solidFill>
                  <a:srgbClr val="26384F"/>
                </a:solidFill>
                <a:latin typeface="Aptos"/>
                <a:ea typeface="Aptos"/>
                <a:cs typeface="Aptos"/>
              </a:rPr>
              <a:t>Poles workflow</a:t>
            </a:r>
          </a:p>
          <a:p xmlns:a="http://schemas.openxmlformats.org/drawingml/2006/main">
            <a:pPr algn="ctr">
              <a:defRPr sz="1425" b="0">
                <a:solidFill>
                  <a:srgbClr val="26384F"/>
                </a:solidFill>
                <a:latin typeface="Aptos"/>
                <a:ea typeface="Aptos"/>
                <a:cs typeface="Aptos"/>
              </a:defRPr>
            </a:pPr>
            <a:r>
              <a:rPr sz="1425" b="0">
                <a:solidFill>
                  <a:srgbClr val="26384F"/>
                </a:solidFill>
                <a:latin typeface="Aptos"/>
                <a:ea typeface="Aptos"/>
                <a:cs typeface="Aptos"/>
              </a:rPr>
              <a:t>Workshop stock</a:t>
            </a:r>
          </a:p>
        </p:txBody>
      </p:sp>
      <p:sp>
        <p:nvSpPr>
          <p:cNvPr id="9" name="">
            <a:extLst xmlns:a="http://schemas.openxmlformats.org/drawingml/2006/main">
              <a:ext uri="{FF2B5EF4-FFF2-40B4-BE49-F238E27FC236}">
                <a16:creationId xmlns:a16="http://schemas.microsoft.com/office/drawing/2014/main" id="{14D29632-09D3-4C4F-B062-298D685479BC}"/>
              </a:ext>
            </a:extLst>
          </p:cNvPr>
          <p:cNvSpPr>
            <a:spLocks xmlns:a="http://schemas.openxmlformats.org/drawingml/2006/main" noGrp="1"/>
          </p:cNvSpPr>
          <p:nvPr/>
        </p:nvSpPr>
        <p:spPr>
          <a:xfrm xmlns:a="http://schemas.openxmlformats.org/drawingml/2006/main">
            <a:off x="4552950" y="2238375"/>
            <a:ext cx="2857500" cy="2190750"/>
          </a:xfrm>
          <a:prstGeom xmlns:a="http://schemas.openxmlformats.org/drawingml/2006/main" prst="rect">
            <a:avLst/>
          </a:prstGeom>
          <a:solidFill xmlns:a="http://schemas.openxmlformats.org/drawingml/2006/main">
            <a:srgbClr val="FFFFFF"/>
          </a:solidFill>
          <a:ln xmlns:a="http://schemas.openxmlformats.org/drawingml/2006/main" w="13335">
            <a:solidFill>
              <a:srgbClr val="2D6A4F"/>
            </a:solidFill>
            <a:prstDash val="solid"/>
          </a:ln>
        </p:spPr>
      </p:sp>
      <p:sp>
        <p:nvSpPr>
          <p:cNvPr id="10" name="">
            <a:extLst xmlns:a="http://schemas.openxmlformats.org/drawingml/2006/main">
              <a:ext uri="{FF2B5EF4-FFF2-40B4-BE49-F238E27FC236}">
                <a16:creationId xmlns:a16="http://schemas.microsoft.com/office/drawing/2014/main" id="{80C7D561-B024-4DA7-90EE-431A21D7EB9E}"/>
              </a:ext>
            </a:extLst>
          </p:cNvPr>
          <p:cNvSpPr>
            <a:spLocks xmlns:a="http://schemas.openxmlformats.org/drawingml/2006/main" noGrp="1"/>
          </p:cNvSpPr>
          <p:nvPr/>
        </p:nvSpPr>
        <p:spPr>
          <a:xfrm xmlns:a="http://schemas.openxmlformats.org/drawingml/2006/main">
            <a:off x="4781550" y="2514600"/>
            <a:ext cx="2400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2D6A4F"/>
                </a:solidFill>
                <a:latin typeface="Aptos"/>
                <a:ea typeface="Aptos"/>
                <a:cs typeface="Aptos"/>
              </a:defRPr>
            </a:pPr>
            <a:r>
              <a:rPr sz="1950" b="1">
                <a:solidFill>
                  <a:srgbClr val="2D6A4F"/>
                </a:solidFill>
                <a:latin typeface="Aptos"/>
                <a:ea typeface="Aptos"/>
                <a:cs typeface="Aptos"/>
              </a:rPr>
              <a:t>Nyanza</a:t>
            </a:r>
          </a:p>
        </p:txBody>
      </p:sp>
      <p:sp>
        <p:nvSpPr>
          <p:cNvPr id="11" name="">
            <a:extLst xmlns:a="http://schemas.openxmlformats.org/drawingml/2006/main">
              <a:ext uri="{FF2B5EF4-FFF2-40B4-BE49-F238E27FC236}">
                <a16:creationId xmlns:a16="http://schemas.microsoft.com/office/drawing/2014/main" id="{779B9B2E-AAAE-4C08-ABE4-298BAEAD1BB3}"/>
              </a:ext>
            </a:extLst>
          </p:cNvPr>
          <p:cNvSpPr>
            <a:spLocks xmlns:a="http://schemas.openxmlformats.org/drawingml/2006/main" noGrp="1"/>
          </p:cNvSpPr>
          <p:nvPr/>
        </p:nvSpPr>
        <p:spPr>
          <a:xfrm xmlns:a="http://schemas.openxmlformats.org/drawingml/2006/main">
            <a:off x="4895850" y="3124200"/>
            <a:ext cx="21717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0">
                <a:solidFill>
                  <a:srgbClr val="26384F"/>
                </a:solidFill>
                <a:latin typeface="Aptos"/>
                <a:ea typeface="Aptos"/>
                <a:cs typeface="Aptos"/>
              </a:defRPr>
            </a:pPr>
            <a:r>
              <a:rPr sz="1425" b="0">
                <a:solidFill>
                  <a:srgbClr val="26384F"/>
                </a:solidFill>
                <a:latin typeface="Aptos"/>
                <a:ea typeface="Aptos"/>
                <a:cs typeface="Aptos"/>
              </a:rPr>
              <a:t>Inbound transfers</a:t>
            </a:r>
          </a:p>
          <a:p xmlns:a="http://schemas.openxmlformats.org/drawingml/2006/main">
            <a:pPr algn="ctr">
              <a:defRPr sz="1425" b="0">
                <a:solidFill>
                  <a:srgbClr val="26384F"/>
                </a:solidFill>
                <a:latin typeface="Aptos"/>
                <a:ea typeface="Aptos"/>
                <a:cs typeface="Aptos"/>
              </a:defRPr>
            </a:pPr>
            <a:r>
              <a:rPr sz="1425" b="0">
                <a:solidFill>
                  <a:srgbClr val="26384F"/>
                </a:solidFill>
                <a:latin typeface="Aptos"/>
                <a:ea typeface="Aptos"/>
                <a:cs typeface="Aptos"/>
              </a:rPr>
              <a:t>Value-added timber</a:t>
            </a:r>
          </a:p>
          <a:p xmlns:a="http://schemas.openxmlformats.org/drawingml/2006/main">
            <a:pPr algn="ctr">
              <a:defRPr sz="1425" b="0">
                <a:solidFill>
                  <a:srgbClr val="26384F"/>
                </a:solidFill>
                <a:latin typeface="Aptos"/>
                <a:ea typeface="Aptos"/>
                <a:cs typeface="Aptos"/>
              </a:defRPr>
            </a:pPr>
            <a:r>
              <a:rPr sz="1425" b="0">
                <a:solidFill>
                  <a:srgbClr val="26384F"/>
                </a:solidFill>
                <a:latin typeface="Aptos"/>
                <a:ea typeface="Aptos"/>
                <a:cs typeface="Aptos"/>
              </a:rPr>
              <a:t>Workshop stock</a:t>
            </a:r>
          </a:p>
          <a:p xmlns:a="http://schemas.openxmlformats.org/drawingml/2006/main">
            <a:pPr algn="ctr">
              <a:defRPr sz="1425" b="0">
                <a:solidFill>
                  <a:srgbClr val="26384F"/>
                </a:solidFill>
                <a:latin typeface="Aptos"/>
                <a:ea typeface="Aptos"/>
                <a:cs typeface="Aptos"/>
              </a:defRPr>
            </a:pPr>
            <a:r>
              <a:rPr sz="1425" b="0">
                <a:solidFill>
                  <a:srgbClr val="26384F"/>
                </a:solidFill>
                <a:latin typeface="Aptos"/>
                <a:ea typeface="Aptos"/>
                <a:cs typeface="Aptos"/>
              </a:rPr>
              <a:t>Local production team</a:t>
            </a:r>
          </a:p>
        </p:txBody>
      </p:sp>
      <p:sp>
        <p:nvSpPr>
          <p:cNvPr id="12" name="">
            <a:extLst xmlns:a="http://schemas.openxmlformats.org/drawingml/2006/main">
              <a:ext uri="{FF2B5EF4-FFF2-40B4-BE49-F238E27FC236}">
                <a16:creationId xmlns:a16="http://schemas.microsoft.com/office/drawing/2014/main" id="{97D792DC-89E2-406D-B239-8250CF0C253B}"/>
              </a:ext>
            </a:extLst>
          </p:cNvPr>
          <p:cNvSpPr>
            <a:spLocks xmlns:a="http://schemas.openxmlformats.org/drawingml/2006/main" noGrp="1"/>
          </p:cNvSpPr>
          <p:nvPr/>
        </p:nvSpPr>
        <p:spPr>
          <a:xfrm xmlns:a="http://schemas.openxmlformats.org/drawingml/2006/main">
            <a:off x="8191500" y="2238375"/>
            <a:ext cx="2857500" cy="2190750"/>
          </a:xfrm>
          <a:prstGeom xmlns:a="http://schemas.openxmlformats.org/drawingml/2006/main" prst="rect">
            <a:avLst/>
          </a:prstGeom>
          <a:solidFill xmlns:a="http://schemas.openxmlformats.org/drawingml/2006/main">
            <a:srgbClr val="FFFFFF"/>
          </a:solidFill>
          <a:ln xmlns:a="http://schemas.openxmlformats.org/drawingml/2006/main" w="13335">
            <a:solidFill>
              <a:srgbClr val="B5500A"/>
            </a:solidFill>
            <a:prstDash val="solid"/>
          </a:ln>
        </p:spPr>
      </p:sp>
      <p:sp>
        <p:nvSpPr>
          <p:cNvPr id="13" name="">
            <a:extLst xmlns:a="http://schemas.openxmlformats.org/drawingml/2006/main">
              <a:ext uri="{FF2B5EF4-FFF2-40B4-BE49-F238E27FC236}">
                <a16:creationId xmlns:a16="http://schemas.microsoft.com/office/drawing/2014/main" id="{7287908E-A8CF-44A9-AD6D-691D494A7069}"/>
              </a:ext>
            </a:extLst>
          </p:cNvPr>
          <p:cNvSpPr>
            <a:spLocks xmlns:a="http://schemas.openxmlformats.org/drawingml/2006/main" noGrp="1"/>
          </p:cNvSpPr>
          <p:nvPr/>
        </p:nvSpPr>
        <p:spPr>
          <a:xfrm xmlns:a="http://schemas.openxmlformats.org/drawingml/2006/main">
            <a:off x="8420100" y="2514600"/>
            <a:ext cx="2400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B5500A"/>
                </a:solidFill>
                <a:latin typeface="Aptos"/>
                <a:ea typeface="Aptos"/>
                <a:cs typeface="Aptos"/>
              </a:defRPr>
            </a:pPr>
            <a:r>
              <a:rPr sz="1950" b="1">
                <a:solidFill>
                  <a:srgbClr val="B5500A"/>
                </a:solidFill>
                <a:latin typeface="Aptos"/>
                <a:ea typeface="Aptos"/>
                <a:cs typeface="Aptos"/>
              </a:rPr>
              <a:t>HQ / CEO View</a:t>
            </a:r>
          </a:p>
        </p:txBody>
      </p:sp>
      <p:sp>
        <p:nvSpPr>
          <p:cNvPr id="14" name="">
            <a:extLst xmlns:a="http://schemas.openxmlformats.org/drawingml/2006/main">
              <a:ext uri="{FF2B5EF4-FFF2-40B4-BE49-F238E27FC236}">
                <a16:creationId xmlns:a16="http://schemas.microsoft.com/office/drawing/2014/main" id="{BF77A0E3-6162-4C3C-BBE4-B9475080EBFB}"/>
              </a:ext>
            </a:extLst>
          </p:cNvPr>
          <p:cNvSpPr>
            <a:spLocks xmlns:a="http://schemas.openxmlformats.org/drawingml/2006/main" noGrp="1"/>
          </p:cNvSpPr>
          <p:nvPr/>
        </p:nvSpPr>
        <p:spPr>
          <a:xfrm xmlns:a="http://schemas.openxmlformats.org/drawingml/2006/main">
            <a:off x="8534400" y="3124200"/>
            <a:ext cx="21717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0">
                <a:solidFill>
                  <a:srgbClr val="26384F"/>
                </a:solidFill>
                <a:latin typeface="Aptos"/>
                <a:ea typeface="Aptos"/>
                <a:cs typeface="Aptos"/>
              </a:defRPr>
            </a:pPr>
            <a:r>
              <a:rPr sz="1425" b="0">
                <a:solidFill>
                  <a:srgbClr val="26384F"/>
                </a:solidFill>
                <a:latin typeface="Aptos"/>
                <a:ea typeface="Aptos"/>
                <a:cs typeface="Aptos"/>
              </a:rPr>
              <a:t>Cross-workshop dashboards</a:t>
            </a:r>
          </a:p>
          <a:p xmlns:a="http://schemas.openxmlformats.org/drawingml/2006/main">
            <a:pPr algn="ctr">
              <a:defRPr sz="1425" b="0">
                <a:solidFill>
                  <a:srgbClr val="26384F"/>
                </a:solidFill>
                <a:latin typeface="Aptos"/>
                <a:ea typeface="Aptos"/>
                <a:cs typeface="Aptos"/>
              </a:defRPr>
            </a:pPr>
            <a:r>
              <a:rPr sz="1425" b="0">
                <a:solidFill>
                  <a:srgbClr val="26384F"/>
                </a:solidFill>
                <a:latin typeface="Aptos"/>
                <a:ea typeface="Aptos"/>
                <a:cs typeface="Aptos"/>
              </a:rPr>
              <a:t>Approvals</a:t>
            </a:r>
          </a:p>
          <a:p xmlns:a="http://schemas.openxmlformats.org/drawingml/2006/main">
            <a:pPr algn="ctr">
              <a:defRPr sz="1425" b="0">
                <a:solidFill>
                  <a:srgbClr val="26384F"/>
                </a:solidFill>
                <a:latin typeface="Aptos"/>
                <a:ea typeface="Aptos"/>
                <a:cs typeface="Aptos"/>
              </a:defRPr>
            </a:pPr>
            <a:r>
              <a:rPr sz="1425" b="0">
                <a:solidFill>
                  <a:srgbClr val="26384F"/>
                </a:solidFill>
                <a:latin typeface="Aptos"/>
                <a:ea typeface="Aptos"/>
                <a:cs typeface="Aptos"/>
              </a:rPr>
              <a:t>Audit trail</a:t>
            </a:r>
          </a:p>
          <a:p xmlns:a="http://schemas.openxmlformats.org/drawingml/2006/main">
            <a:pPr algn="ctr">
              <a:defRPr sz="1425" b="0">
                <a:solidFill>
                  <a:srgbClr val="26384F"/>
                </a:solidFill>
                <a:latin typeface="Aptos"/>
                <a:ea typeface="Aptos"/>
                <a:cs typeface="Aptos"/>
              </a:defRPr>
            </a:pPr>
            <a:r>
              <a:rPr sz="1425" b="0">
                <a:solidFill>
                  <a:srgbClr val="26384F"/>
                </a:solidFill>
                <a:latin typeface="Aptos"/>
                <a:ea typeface="Aptos"/>
                <a:cs typeface="Aptos"/>
              </a:rPr>
              <a:t>Executive reporting</a:t>
            </a:r>
          </a:p>
        </p:txBody>
      </p:sp>
      <p:sp>
        <p:nvSpPr>
          <p:cNvPr id="15" name="">
            <a:extLst xmlns:a="http://schemas.openxmlformats.org/drawingml/2006/main">
              <a:ext uri="{FF2B5EF4-FFF2-40B4-BE49-F238E27FC236}">
                <a16:creationId xmlns:a16="http://schemas.microsoft.com/office/drawing/2014/main" id="{F1A6763E-A40F-4851-9077-0AA0BB55603C}"/>
              </a:ext>
            </a:extLst>
          </p:cNvPr>
          <p:cNvSpPr>
            <a:spLocks xmlns:a="http://schemas.openxmlformats.org/drawingml/2006/main" noGrp="1"/>
          </p:cNvSpPr>
          <p:nvPr/>
        </p:nvSpPr>
        <p:spPr>
          <a:xfrm xmlns:a="http://schemas.openxmlformats.org/drawingml/2006/main">
            <a:off x="1238250" y="5143500"/>
            <a:ext cx="9715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0">
                <a:solidFill>
                  <a:srgbClr val="26384F"/>
                </a:solidFill>
                <a:latin typeface="Aptos"/>
                <a:ea typeface="Aptos"/>
                <a:cs typeface="Aptos"/>
              </a:defRPr>
            </a:pPr>
            <a:r>
              <a:rPr sz="1650" b="0">
                <a:solidFill>
                  <a:srgbClr val="26384F"/>
                </a:solidFill>
                <a:latin typeface="Aptos"/>
                <a:ea typeface="Aptos"/>
                <a:cs typeface="Aptos"/>
              </a:rPr>
              <a:t>Scoped users see only their assigned workshop. Cross-workshop roles such as CEO, admin, and logistics operate through controlled permissions.</a:t>
            </a:r>
          </a:p>
        </p:txBody>
      </p:sp>
      <p:sp>
        <p:nvSpPr>
          <p:cNvPr id="16" name="">
            <a:extLst xmlns:a="http://schemas.openxmlformats.org/drawingml/2006/main">
              <a:ext uri="{FF2B5EF4-FFF2-40B4-BE49-F238E27FC236}">
                <a16:creationId xmlns:a16="http://schemas.microsoft.com/office/drawing/2014/main" id="{DF41791F-FD5D-4463-AC5C-6AFF062242AE}"/>
              </a:ext>
            </a:extLst>
          </p:cNvPr>
          <p:cNvSpPr>
            <a:spLocks xmlns:a="http://schemas.openxmlformats.org/drawingml/2006/main" noGrp="1"/>
          </p:cNvSpPr>
          <p:nvPr/>
        </p:nvSpPr>
        <p:spPr>
          <a:xfrm xmlns:a="http://schemas.openxmlformats.org/drawingml/2006/main">
            <a:off x="514350" y="6496050"/>
            <a:ext cx="666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67085"/>
                </a:solidFill>
                <a:latin typeface="Aptos"/>
                <a:ea typeface="Aptos"/>
                <a:cs typeface="Aptos"/>
              </a:defRPr>
            </a:pPr>
            <a:r>
              <a:rPr sz="750" b="0">
                <a:solidFill>
                  <a:srgbClr val="667085"/>
                </a:solidFill>
                <a:latin typeface="Aptos"/>
                <a:ea typeface="Aptos"/>
                <a:cs typeface="Aptos"/>
              </a:rPr>
              <a:t>UFCL ERP System | Executive Management Presentation | June 2026</a:t>
            </a:r>
          </a:p>
        </p:txBody>
      </p:sp>
      <p:sp>
        <p:nvSpPr>
          <p:cNvPr id="17" name="">
            <a:extLst xmlns:a="http://schemas.openxmlformats.org/drawingml/2006/main">
              <a:ext uri="{FF2B5EF4-FFF2-40B4-BE49-F238E27FC236}">
                <a16:creationId xmlns:a16="http://schemas.microsoft.com/office/drawing/2014/main" id="{A3C98F9B-BDE3-4113-906A-851A1CD82A88}"/>
              </a:ext>
            </a:extLst>
          </p:cNvPr>
          <p:cNvSpPr>
            <a:spLocks xmlns:a="http://schemas.openxmlformats.org/drawingml/2006/main" noGrp="1"/>
          </p:cNvSpPr>
          <p:nvPr/>
        </p:nvSpPr>
        <p:spPr>
          <a:xfrm xmlns:a="http://schemas.openxmlformats.org/drawingml/2006/main">
            <a:off x="11258550" y="645795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67085"/>
                </a:solidFill>
                <a:latin typeface="Aptos"/>
                <a:ea typeface="Aptos"/>
                <a:cs typeface="Aptos"/>
              </a:defRPr>
            </a:pPr>
            <a:r>
              <a:rPr sz="825" b="1">
                <a:solidFill>
                  <a:srgbClr val="667085"/>
                </a:solidFill>
                <a:latin typeface="Aptos"/>
                <a:ea typeface="Aptos"/>
                <a:cs typeface="Aptos"/>
              </a:rPr>
              <a:t>08</a:t>
            </a:r>
          </a:p>
        </p:txBody>
      </p:sp>
    </p:spTree>
    <p:extLst>
      <p:ext uri="{BB962C8B-B14F-4D97-AF65-F5344CB8AC3E}">
        <p14:creationId xmlns:p14="http://schemas.microsoft.com/office/powerpoint/2010/main" val="186325728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0136226-8B81-4CB3-BC81-F040D7A4298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03A30860-939F-46DF-A226-1766D792C89F}"/>
              </a:ext>
            </a:extLst>
          </p:cNvPr>
          <p:cNvSpPr>
            <a:spLocks xmlns:a="http://schemas.openxmlformats.org/drawingml/2006/main" noGrp="1"/>
          </p:cNvSpPr>
          <p:nvPr/>
        </p:nvSpPr>
        <p:spPr>
          <a:xfrm xmlns:a="http://schemas.openxmlformats.org/drawingml/2006/main">
            <a:off x="514350" y="371475"/>
            <a:ext cx="95250" cy="952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B04CA3F8-A832-4CF8-A70E-8A32B484FFAD}"/>
              </a:ext>
            </a:extLst>
          </p:cNvPr>
          <p:cNvSpPr>
            <a:spLocks xmlns:a="http://schemas.openxmlformats.org/drawingml/2006/main" noGrp="1"/>
          </p:cNvSpPr>
          <p:nvPr/>
        </p:nvSpPr>
        <p:spPr>
          <a:xfrm xmlns:a="http://schemas.openxmlformats.org/drawingml/2006/main">
            <a:off x="70485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OPERATING FLOW</a:t>
            </a:r>
          </a:p>
        </p:txBody>
      </p:sp>
      <p:sp>
        <p:nvSpPr>
          <p:cNvPr id="4" name="">
            <a:extLst xmlns:a="http://schemas.openxmlformats.org/drawingml/2006/main">
              <a:ext uri="{FF2B5EF4-FFF2-40B4-BE49-F238E27FC236}">
                <a16:creationId xmlns:a16="http://schemas.microsoft.com/office/drawing/2014/main" id="{7AAE8502-A0D6-4FE5-948A-329B6D76396C}"/>
              </a:ext>
            </a:extLst>
          </p:cNvPr>
          <p:cNvSpPr>
            <a:spLocks xmlns:a="http://schemas.openxmlformats.org/drawingml/2006/main" noGrp="1"/>
          </p:cNvSpPr>
          <p:nvPr/>
        </p:nvSpPr>
        <p:spPr>
          <a:xfrm xmlns:a="http://schemas.openxmlformats.org/drawingml/2006/main">
            <a:off x="514350" y="685800"/>
            <a:ext cx="88582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42033"/>
                </a:solidFill>
                <a:latin typeface="Aptos Display"/>
                <a:ea typeface="Aptos Display"/>
                <a:cs typeface="Aptos Display"/>
              </a:defRPr>
            </a:pPr>
            <a:r>
              <a:rPr sz="2550" b="1">
                <a:solidFill>
                  <a:srgbClr val="142033"/>
                </a:solidFill>
                <a:latin typeface="Aptos Display"/>
                <a:ea typeface="Aptos Display"/>
                <a:cs typeface="Aptos Display"/>
              </a:rPr>
              <a:t>Phase 1 validates UFCL through two complete production chains, not isolated screens.</a:t>
            </a:r>
          </a:p>
        </p:txBody>
      </p:sp>
      <p:sp>
        <p:nvSpPr>
          <p:cNvPr id="5" name="">
            <a:extLst xmlns:a="http://schemas.openxmlformats.org/drawingml/2006/main">
              <a:ext uri="{FF2B5EF4-FFF2-40B4-BE49-F238E27FC236}">
                <a16:creationId xmlns:a16="http://schemas.microsoft.com/office/drawing/2014/main" id="{7E058452-51BD-4E7F-9A42-51FA22FCF737}"/>
              </a:ext>
            </a:extLst>
          </p:cNvPr>
          <p:cNvSpPr>
            <a:spLocks xmlns:a="http://schemas.openxmlformats.org/drawingml/2006/main" noGrp="1"/>
          </p:cNvSpPr>
          <p:nvPr/>
        </p:nvSpPr>
        <p:spPr>
          <a:xfrm xmlns:a="http://schemas.openxmlformats.org/drawingml/2006/main">
            <a:off x="514350" y="1600200"/>
            <a:ext cx="11163300" cy="9525"/>
          </a:xfrm>
          <a:prstGeom xmlns:a="http://schemas.openxmlformats.org/drawingml/2006/main" prst="rect">
            <a:avLst/>
          </a:prstGeom>
          <a:solidFill xmlns:a="http://schemas.openxmlformats.org/drawingml/2006/main">
            <a:srgbClr val="D9DEE7"/>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66061CBB-93BC-4E2D-82F3-49FC3C336063}"/>
              </a:ext>
            </a:extLst>
          </p:cNvPr>
          <p:cNvSpPr>
            <a:spLocks xmlns:a="http://schemas.openxmlformats.org/drawingml/2006/main" noGrp="1"/>
          </p:cNvSpPr>
          <p:nvPr/>
        </p:nvSpPr>
        <p:spPr>
          <a:xfrm xmlns:a="http://schemas.openxmlformats.org/drawingml/2006/main">
            <a:off x="838200" y="2133600"/>
            <a:ext cx="2286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2D6A4F"/>
                </a:solidFill>
                <a:latin typeface="Aptos"/>
                <a:ea typeface="Aptos"/>
                <a:cs typeface="Aptos"/>
              </a:defRPr>
            </a:pPr>
            <a:r>
              <a:rPr sz="1875" b="1">
                <a:solidFill>
                  <a:srgbClr val="2D6A4F"/>
                </a:solidFill>
                <a:latin typeface="Aptos"/>
                <a:ea typeface="Aptos"/>
                <a:cs typeface="Aptos"/>
              </a:rPr>
              <a:t>Timber Chain</a:t>
            </a:r>
          </a:p>
        </p:txBody>
      </p:sp>
      <p:sp>
        <p:nvSpPr>
          <p:cNvPr id="7" name="">
            <a:extLst xmlns:a="http://schemas.openxmlformats.org/drawingml/2006/main">
              <a:ext uri="{FF2B5EF4-FFF2-40B4-BE49-F238E27FC236}">
                <a16:creationId xmlns:a16="http://schemas.microsoft.com/office/drawing/2014/main" id="{747B0474-1F93-49A6-8C3C-F4007E2682F6}"/>
              </a:ext>
            </a:extLst>
          </p:cNvPr>
          <p:cNvSpPr>
            <a:spLocks xmlns:a="http://schemas.openxmlformats.org/drawingml/2006/main" noGrp="1"/>
          </p:cNvSpPr>
          <p:nvPr/>
        </p:nvSpPr>
        <p:spPr>
          <a:xfrm xmlns:a="http://schemas.openxmlformats.org/drawingml/2006/main">
            <a:off x="838200" y="2667000"/>
            <a:ext cx="1200150" cy="552450"/>
          </a:xfrm>
          <a:prstGeom xmlns:a="http://schemas.openxmlformats.org/drawingml/2006/main" prst="rect">
            <a:avLst/>
          </a:prstGeom>
          <a:solidFill xmlns:a="http://schemas.openxmlformats.org/drawingml/2006/main">
            <a:srgbClr val="FFFFFF"/>
          </a:solidFill>
          <a:ln xmlns:a="http://schemas.openxmlformats.org/drawingml/2006/main" w="11430">
            <a:solidFill>
              <a:srgbClr val="2D6A4F"/>
            </a:solidFill>
            <a:prstDash val="solid"/>
          </a:ln>
        </p:spPr>
      </p:sp>
      <p:sp>
        <p:nvSpPr>
          <p:cNvPr id="8" name="">
            <a:extLst xmlns:a="http://schemas.openxmlformats.org/drawingml/2006/main">
              <a:ext uri="{FF2B5EF4-FFF2-40B4-BE49-F238E27FC236}">
                <a16:creationId xmlns:a16="http://schemas.microsoft.com/office/drawing/2014/main" id="{C6D1A219-16B4-4EBB-9437-E212F4A69245}"/>
              </a:ext>
            </a:extLst>
          </p:cNvPr>
          <p:cNvSpPr>
            <a:spLocks xmlns:a="http://schemas.openxmlformats.org/drawingml/2006/main" noGrp="1"/>
          </p:cNvSpPr>
          <p:nvPr/>
        </p:nvSpPr>
        <p:spPr>
          <a:xfrm xmlns:a="http://schemas.openxmlformats.org/drawingml/2006/main">
            <a:off x="838200" y="2667000"/>
            <a:ext cx="57150" cy="5524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AFD8879D-08A8-41E4-87C8-60CFF1301B8B}"/>
              </a:ext>
            </a:extLst>
          </p:cNvPr>
          <p:cNvSpPr>
            <a:spLocks xmlns:a="http://schemas.openxmlformats.org/drawingml/2006/main" noGrp="1"/>
          </p:cNvSpPr>
          <p:nvPr/>
        </p:nvSpPr>
        <p:spPr>
          <a:xfrm xmlns:a="http://schemas.openxmlformats.org/drawingml/2006/main">
            <a:off x="1009650" y="2800350"/>
            <a:ext cx="9144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42033"/>
                </a:solidFill>
                <a:latin typeface="Aptos"/>
                <a:ea typeface="Aptos"/>
                <a:cs typeface="Aptos"/>
              </a:defRPr>
            </a:pPr>
            <a:r>
              <a:rPr sz="1200" b="1">
                <a:solidFill>
                  <a:srgbClr val="142033"/>
                </a:solidFill>
                <a:latin typeface="Aptos"/>
                <a:ea typeface="Aptos"/>
                <a:cs typeface="Aptos"/>
              </a:rPr>
              <a:t>Setup</a:t>
            </a:r>
          </a:p>
        </p:txBody>
      </p:sp>
      <p:sp>
        <p:nvSpPr>
          <p:cNvPr id="10" name="">
            <a:extLst xmlns:a="http://schemas.openxmlformats.org/drawingml/2006/main">
              <a:ext uri="{FF2B5EF4-FFF2-40B4-BE49-F238E27FC236}">
                <a16:creationId xmlns:a16="http://schemas.microsoft.com/office/drawing/2014/main" id="{F274F958-C835-4A98-B423-8BD2330D7DAB}"/>
              </a:ext>
            </a:extLst>
          </p:cNvPr>
          <p:cNvSpPr>
            <a:spLocks xmlns:a="http://schemas.openxmlformats.org/drawingml/2006/main" noGrp="1"/>
          </p:cNvSpPr>
          <p:nvPr/>
        </p:nvSpPr>
        <p:spPr>
          <a:xfrm xmlns:a="http://schemas.openxmlformats.org/drawingml/2006/main">
            <a:off x="2343150" y="2667000"/>
            <a:ext cx="1200150" cy="552450"/>
          </a:xfrm>
          <a:prstGeom xmlns:a="http://schemas.openxmlformats.org/drawingml/2006/main" prst="rect">
            <a:avLst/>
          </a:prstGeom>
          <a:solidFill xmlns:a="http://schemas.openxmlformats.org/drawingml/2006/main">
            <a:srgbClr val="E8F3EC"/>
          </a:solidFill>
          <a:ln xmlns:a="http://schemas.openxmlformats.org/drawingml/2006/main" w="11430">
            <a:solidFill>
              <a:srgbClr val="2D6A4F"/>
            </a:solidFill>
            <a:prstDash val="solid"/>
          </a:ln>
        </p:spPr>
      </p:sp>
      <p:sp>
        <p:nvSpPr>
          <p:cNvPr id="11" name="">
            <a:extLst xmlns:a="http://schemas.openxmlformats.org/drawingml/2006/main">
              <a:ext uri="{FF2B5EF4-FFF2-40B4-BE49-F238E27FC236}">
                <a16:creationId xmlns:a16="http://schemas.microsoft.com/office/drawing/2014/main" id="{6ED1C531-0370-4D1C-8416-B9A7861C7EA5}"/>
              </a:ext>
            </a:extLst>
          </p:cNvPr>
          <p:cNvSpPr>
            <a:spLocks xmlns:a="http://schemas.openxmlformats.org/drawingml/2006/main" noGrp="1"/>
          </p:cNvSpPr>
          <p:nvPr/>
        </p:nvSpPr>
        <p:spPr>
          <a:xfrm xmlns:a="http://schemas.openxmlformats.org/drawingml/2006/main">
            <a:off x="2343150" y="2667000"/>
            <a:ext cx="57150" cy="5524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D46D55F1-3DC1-4AEF-B52B-E325CFA2CE89}"/>
              </a:ext>
            </a:extLst>
          </p:cNvPr>
          <p:cNvSpPr>
            <a:spLocks xmlns:a="http://schemas.openxmlformats.org/drawingml/2006/main" noGrp="1"/>
          </p:cNvSpPr>
          <p:nvPr/>
        </p:nvSpPr>
        <p:spPr>
          <a:xfrm xmlns:a="http://schemas.openxmlformats.org/drawingml/2006/main">
            <a:off x="2514600" y="2800350"/>
            <a:ext cx="9144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42033"/>
                </a:solidFill>
                <a:latin typeface="Aptos"/>
                <a:ea typeface="Aptos"/>
                <a:cs typeface="Aptos"/>
              </a:defRPr>
            </a:pPr>
            <a:r>
              <a:rPr sz="1200" b="1">
                <a:solidFill>
                  <a:srgbClr val="142033"/>
                </a:solidFill>
                <a:latin typeface="Aptos"/>
                <a:ea typeface="Aptos"/>
                <a:cs typeface="Aptos"/>
              </a:rPr>
              <a:t>Harvesting</a:t>
            </a:r>
          </a:p>
        </p:txBody>
      </p:sp>
      <p:sp>
        <p:nvSpPr>
          <p:cNvPr id="13" name="">
            <a:extLst xmlns:a="http://schemas.openxmlformats.org/drawingml/2006/main">
              <a:ext uri="{FF2B5EF4-FFF2-40B4-BE49-F238E27FC236}">
                <a16:creationId xmlns:a16="http://schemas.microsoft.com/office/drawing/2014/main" id="{64E2C05E-083F-4ADB-82CF-B8500A92F34A}"/>
              </a:ext>
            </a:extLst>
          </p:cNvPr>
          <p:cNvSpPr>
            <a:spLocks xmlns:a="http://schemas.openxmlformats.org/drawingml/2006/main" noGrp="1"/>
          </p:cNvSpPr>
          <p:nvPr/>
        </p:nvSpPr>
        <p:spPr>
          <a:xfrm xmlns:a="http://schemas.openxmlformats.org/drawingml/2006/main">
            <a:off x="3848100" y="2667000"/>
            <a:ext cx="1200150" cy="552450"/>
          </a:xfrm>
          <a:prstGeom xmlns:a="http://schemas.openxmlformats.org/drawingml/2006/main" prst="rect">
            <a:avLst/>
          </a:prstGeom>
          <a:solidFill xmlns:a="http://schemas.openxmlformats.org/drawingml/2006/main">
            <a:srgbClr val="FFFFFF"/>
          </a:solidFill>
          <a:ln xmlns:a="http://schemas.openxmlformats.org/drawingml/2006/main" w="11430">
            <a:solidFill>
              <a:srgbClr val="2D6A4F"/>
            </a:solidFill>
            <a:prstDash val="solid"/>
          </a:ln>
        </p:spPr>
      </p:sp>
      <p:sp>
        <p:nvSpPr>
          <p:cNvPr id="14" name="">
            <a:extLst xmlns:a="http://schemas.openxmlformats.org/drawingml/2006/main">
              <a:ext uri="{FF2B5EF4-FFF2-40B4-BE49-F238E27FC236}">
                <a16:creationId xmlns:a16="http://schemas.microsoft.com/office/drawing/2014/main" id="{5FFD2252-9314-4463-8238-A2D98A76C014}"/>
              </a:ext>
            </a:extLst>
          </p:cNvPr>
          <p:cNvSpPr>
            <a:spLocks xmlns:a="http://schemas.openxmlformats.org/drawingml/2006/main" noGrp="1"/>
          </p:cNvSpPr>
          <p:nvPr/>
        </p:nvSpPr>
        <p:spPr>
          <a:xfrm xmlns:a="http://schemas.openxmlformats.org/drawingml/2006/main">
            <a:off x="3848100" y="2667000"/>
            <a:ext cx="57150" cy="5524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883EFF70-B28C-4B62-9362-69FA45F8FF77}"/>
              </a:ext>
            </a:extLst>
          </p:cNvPr>
          <p:cNvSpPr>
            <a:spLocks xmlns:a="http://schemas.openxmlformats.org/drawingml/2006/main" noGrp="1"/>
          </p:cNvSpPr>
          <p:nvPr/>
        </p:nvSpPr>
        <p:spPr>
          <a:xfrm xmlns:a="http://schemas.openxmlformats.org/drawingml/2006/main">
            <a:off x="4019550" y="2800350"/>
            <a:ext cx="9144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42033"/>
                </a:solidFill>
                <a:latin typeface="Aptos"/>
                <a:ea typeface="Aptos"/>
                <a:cs typeface="Aptos"/>
              </a:defRPr>
            </a:pPr>
            <a:r>
              <a:rPr sz="1200" b="1">
                <a:solidFill>
                  <a:srgbClr val="142033"/>
                </a:solidFill>
                <a:latin typeface="Aptos"/>
                <a:ea typeface="Aptos"/>
                <a:cs typeface="Aptos"/>
              </a:rPr>
              <a:t>Transport</a:t>
            </a:r>
          </a:p>
        </p:txBody>
      </p:sp>
      <p:sp>
        <p:nvSpPr>
          <p:cNvPr id="16" name="">
            <a:extLst xmlns:a="http://schemas.openxmlformats.org/drawingml/2006/main">
              <a:ext uri="{FF2B5EF4-FFF2-40B4-BE49-F238E27FC236}">
                <a16:creationId xmlns:a16="http://schemas.microsoft.com/office/drawing/2014/main" id="{6434809F-F2DC-43D2-9A6D-C666E8CC62BA}"/>
              </a:ext>
            </a:extLst>
          </p:cNvPr>
          <p:cNvSpPr>
            <a:spLocks xmlns:a="http://schemas.openxmlformats.org/drawingml/2006/main" noGrp="1"/>
          </p:cNvSpPr>
          <p:nvPr/>
        </p:nvSpPr>
        <p:spPr>
          <a:xfrm xmlns:a="http://schemas.openxmlformats.org/drawingml/2006/main">
            <a:off x="5353050" y="2667000"/>
            <a:ext cx="1200150" cy="552450"/>
          </a:xfrm>
          <a:prstGeom xmlns:a="http://schemas.openxmlformats.org/drawingml/2006/main" prst="rect">
            <a:avLst/>
          </a:prstGeom>
          <a:solidFill xmlns:a="http://schemas.openxmlformats.org/drawingml/2006/main">
            <a:srgbClr val="E8F3EC"/>
          </a:solidFill>
          <a:ln xmlns:a="http://schemas.openxmlformats.org/drawingml/2006/main" w="11430">
            <a:solidFill>
              <a:srgbClr val="2D6A4F"/>
            </a:solidFill>
            <a:prstDash val="solid"/>
          </a:ln>
        </p:spPr>
      </p:sp>
      <p:sp>
        <p:nvSpPr>
          <p:cNvPr id="17" name="">
            <a:extLst xmlns:a="http://schemas.openxmlformats.org/drawingml/2006/main">
              <a:ext uri="{FF2B5EF4-FFF2-40B4-BE49-F238E27FC236}">
                <a16:creationId xmlns:a16="http://schemas.microsoft.com/office/drawing/2014/main" id="{0D5F3544-5FB1-41DD-98FC-17B801ED78DE}"/>
              </a:ext>
            </a:extLst>
          </p:cNvPr>
          <p:cNvSpPr>
            <a:spLocks xmlns:a="http://schemas.openxmlformats.org/drawingml/2006/main" noGrp="1"/>
          </p:cNvSpPr>
          <p:nvPr/>
        </p:nvSpPr>
        <p:spPr>
          <a:xfrm xmlns:a="http://schemas.openxmlformats.org/drawingml/2006/main">
            <a:off x="5353050" y="2667000"/>
            <a:ext cx="57150" cy="5524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BA8F5AAB-6411-4371-A58A-72AA14872BC6}"/>
              </a:ext>
            </a:extLst>
          </p:cNvPr>
          <p:cNvSpPr>
            <a:spLocks xmlns:a="http://schemas.openxmlformats.org/drawingml/2006/main" noGrp="1"/>
          </p:cNvSpPr>
          <p:nvPr/>
        </p:nvSpPr>
        <p:spPr>
          <a:xfrm xmlns:a="http://schemas.openxmlformats.org/drawingml/2006/main">
            <a:off x="5524500" y="2800350"/>
            <a:ext cx="9144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42033"/>
                </a:solidFill>
                <a:latin typeface="Aptos"/>
                <a:ea typeface="Aptos"/>
                <a:cs typeface="Aptos"/>
              </a:defRPr>
            </a:pPr>
            <a:r>
              <a:rPr sz="1200" b="1">
                <a:solidFill>
                  <a:srgbClr val="142033"/>
                </a:solidFill>
                <a:latin typeface="Aptos"/>
                <a:ea typeface="Aptos"/>
                <a:cs typeface="Aptos"/>
              </a:rPr>
              <a:t>Sawmill</a:t>
            </a:r>
          </a:p>
        </p:txBody>
      </p:sp>
      <p:sp>
        <p:nvSpPr>
          <p:cNvPr id="19" name="">
            <a:extLst xmlns:a="http://schemas.openxmlformats.org/drawingml/2006/main">
              <a:ext uri="{FF2B5EF4-FFF2-40B4-BE49-F238E27FC236}">
                <a16:creationId xmlns:a16="http://schemas.microsoft.com/office/drawing/2014/main" id="{99CDD3DC-D9A0-41B6-A879-1B0BB4385E98}"/>
              </a:ext>
            </a:extLst>
          </p:cNvPr>
          <p:cNvSpPr>
            <a:spLocks xmlns:a="http://schemas.openxmlformats.org/drawingml/2006/main" noGrp="1"/>
          </p:cNvSpPr>
          <p:nvPr/>
        </p:nvSpPr>
        <p:spPr>
          <a:xfrm xmlns:a="http://schemas.openxmlformats.org/drawingml/2006/main">
            <a:off x="6858000" y="2667000"/>
            <a:ext cx="1200150" cy="552450"/>
          </a:xfrm>
          <a:prstGeom xmlns:a="http://schemas.openxmlformats.org/drawingml/2006/main" prst="rect">
            <a:avLst/>
          </a:prstGeom>
          <a:solidFill xmlns:a="http://schemas.openxmlformats.org/drawingml/2006/main">
            <a:srgbClr val="FFFFFF"/>
          </a:solidFill>
          <a:ln xmlns:a="http://schemas.openxmlformats.org/drawingml/2006/main" w="11430">
            <a:solidFill>
              <a:srgbClr val="2D6A4F"/>
            </a:solidFill>
            <a:prstDash val="solid"/>
          </a:ln>
        </p:spPr>
      </p:sp>
      <p:sp>
        <p:nvSpPr>
          <p:cNvPr id="20" name="">
            <a:extLst xmlns:a="http://schemas.openxmlformats.org/drawingml/2006/main">
              <a:ext uri="{FF2B5EF4-FFF2-40B4-BE49-F238E27FC236}">
                <a16:creationId xmlns:a16="http://schemas.microsoft.com/office/drawing/2014/main" id="{767F680A-DE0A-43DE-B4A1-C1B5B478111E}"/>
              </a:ext>
            </a:extLst>
          </p:cNvPr>
          <p:cNvSpPr>
            <a:spLocks xmlns:a="http://schemas.openxmlformats.org/drawingml/2006/main" noGrp="1"/>
          </p:cNvSpPr>
          <p:nvPr/>
        </p:nvSpPr>
        <p:spPr>
          <a:xfrm xmlns:a="http://schemas.openxmlformats.org/drawingml/2006/main">
            <a:off x="6858000" y="2667000"/>
            <a:ext cx="57150" cy="5524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EDAC684B-7489-472D-A546-A0EC80E79F41}"/>
              </a:ext>
            </a:extLst>
          </p:cNvPr>
          <p:cNvSpPr>
            <a:spLocks xmlns:a="http://schemas.openxmlformats.org/drawingml/2006/main" noGrp="1"/>
          </p:cNvSpPr>
          <p:nvPr/>
        </p:nvSpPr>
        <p:spPr>
          <a:xfrm xmlns:a="http://schemas.openxmlformats.org/drawingml/2006/main">
            <a:off x="7029450" y="2800350"/>
            <a:ext cx="9144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42033"/>
                </a:solidFill>
                <a:latin typeface="Aptos"/>
                <a:ea typeface="Aptos"/>
                <a:cs typeface="Aptos"/>
              </a:defRPr>
            </a:pPr>
            <a:r>
              <a:rPr sz="1200" b="1">
                <a:solidFill>
                  <a:srgbClr val="142033"/>
                </a:solidFill>
                <a:latin typeface="Aptos"/>
                <a:ea typeface="Aptos"/>
                <a:cs typeface="Aptos"/>
              </a:rPr>
              <a:t>Transfer</a:t>
            </a:r>
          </a:p>
        </p:txBody>
      </p:sp>
      <p:sp>
        <p:nvSpPr>
          <p:cNvPr id="22" name="">
            <a:extLst xmlns:a="http://schemas.openxmlformats.org/drawingml/2006/main">
              <a:ext uri="{FF2B5EF4-FFF2-40B4-BE49-F238E27FC236}">
                <a16:creationId xmlns:a16="http://schemas.microsoft.com/office/drawing/2014/main" id="{E6DDBAE1-E217-41D4-9153-7432A873F1B3}"/>
              </a:ext>
            </a:extLst>
          </p:cNvPr>
          <p:cNvSpPr>
            <a:spLocks xmlns:a="http://schemas.openxmlformats.org/drawingml/2006/main" noGrp="1"/>
          </p:cNvSpPr>
          <p:nvPr/>
        </p:nvSpPr>
        <p:spPr>
          <a:xfrm xmlns:a="http://schemas.openxmlformats.org/drawingml/2006/main">
            <a:off x="8362950" y="2667000"/>
            <a:ext cx="1200150" cy="552450"/>
          </a:xfrm>
          <a:prstGeom xmlns:a="http://schemas.openxmlformats.org/drawingml/2006/main" prst="rect">
            <a:avLst/>
          </a:prstGeom>
          <a:solidFill xmlns:a="http://schemas.openxmlformats.org/drawingml/2006/main">
            <a:srgbClr val="E8F3EC"/>
          </a:solidFill>
          <a:ln xmlns:a="http://schemas.openxmlformats.org/drawingml/2006/main" w="11430">
            <a:solidFill>
              <a:srgbClr val="2D6A4F"/>
            </a:solidFill>
            <a:prstDash val="solid"/>
          </a:ln>
        </p:spPr>
      </p:sp>
      <p:sp>
        <p:nvSpPr>
          <p:cNvPr id="23" name="">
            <a:extLst xmlns:a="http://schemas.openxmlformats.org/drawingml/2006/main">
              <a:ext uri="{FF2B5EF4-FFF2-40B4-BE49-F238E27FC236}">
                <a16:creationId xmlns:a16="http://schemas.microsoft.com/office/drawing/2014/main" id="{B3A21004-2FD1-45E1-926C-BB6ED8A3F216}"/>
              </a:ext>
            </a:extLst>
          </p:cNvPr>
          <p:cNvSpPr>
            <a:spLocks xmlns:a="http://schemas.openxmlformats.org/drawingml/2006/main" noGrp="1"/>
          </p:cNvSpPr>
          <p:nvPr/>
        </p:nvSpPr>
        <p:spPr>
          <a:xfrm xmlns:a="http://schemas.openxmlformats.org/drawingml/2006/main">
            <a:off x="8362950" y="2667000"/>
            <a:ext cx="57150" cy="5524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FC63C4AB-3AFC-40A8-9105-DB750C0BD74A}"/>
              </a:ext>
            </a:extLst>
          </p:cNvPr>
          <p:cNvSpPr>
            <a:spLocks xmlns:a="http://schemas.openxmlformats.org/drawingml/2006/main" noGrp="1"/>
          </p:cNvSpPr>
          <p:nvPr/>
        </p:nvSpPr>
        <p:spPr>
          <a:xfrm xmlns:a="http://schemas.openxmlformats.org/drawingml/2006/main">
            <a:off x="8534400" y="2800350"/>
            <a:ext cx="9144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42033"/>
                </a:solidFill>
                <a:latin typeface="Aptos"/>
                <a:ea typeface="Aptos"/>
                <a:cs typeface="Aptos"/>
              </a:defRPr>
            </a:pPr>
            <a:r>
              <a:rPr sz="1200" b="1">
                <a:solidFill>
                  <a:srgbClr val="142033"/>
                </a:solidFill>
                <a:latin typeface="Aptos"/>
                <a:ea typeface="Aptos"/>
                <a:cs typeface="Aptos"/>
              </a:rPr>
              <a:t>VAT</a:t>
            </a:r>
          </a:p>
        </p:txBody>
      </p:sp>
      <p:sp>
        <p:nvSpPr>
          <p:cNvPr id="25" name="">
            <a:extLst xmlns:a="http://schemas.openxmlformats.org/drawingml/2006/main">
              <a:ext uri="{FF2B5EF4-FFF2-40B4-BE49-F238E27FC236}">
                <a16:creationId xmlns:a16="http://schemas.microsoft.com/office/drawing/2014/main" id="{D5DB1BE2-F499-4EEB-8133-C3689112EA87}"/>
              </a:ext>
            </a:extLst>
          </p:cNvPr>
          <p:cNvSpPr>
            <a:spLocks xmlns:a="http://schemas.openxmlformats.org/drawingml/2006/main" noGrp="1"/>
          </p:cNvSpPr>
          <p:nvPr/>
        </p:nvSpPr>
        <p:spPr>
          <a:xfrm xmlns:a="http://schemas.openxmlformats.org/drawingml/2006/main">
            <a:off x="9867900" y="2667000"/>
            <a:ext cx="1200150" cy="552450"/>
          </a:xfrm>
          <a:prstGeom xmlns:a="http://schemas.openxmlformats.org/drawingml/2006/main" prst="rect">
            <a:avLst/>
          </a:prstGeom>
          <a:solidFill xmlns:a="http://schemas.openxmlformats.org/drawingml/2006/main">
            <a:srgbClr val="FFFFFF"/>
          </a:solidFill>
          <a:ln xmlns:a="http://schemas.openxmlformats.org/drawingml/2006/main" w="11430">
            <a:solidFill>
              <a:srgbClr val="2D6A4F"/>
            </a:solidFill>
            <a:prstDash val="solid"/>
          </a:ln>
        </p:spPr>
      </p:sp>
      <p:sp>
        <p:nvSpPr>
          <p:cNvPr id="26" name="">
            <a:extLst xmlns:a="http://schemas.openxmlformats.org/drawingml/2006/main">
              <a:ext uri="{FF2B5EF4-FFF2-40B4-BE49-F238E27FC236}">
                <a16:creationId xmlns:a16="http://schemas.microsoft.com/office/drawing/2014/main" id="{51BF8B7F-37CC-4F22-8D99-1F448E671825}"/>
              </a:ext>
            </a:extLst>
          </p:cNvPr>
          <p:cNvSpPr>
            <a:spLocks xmlns:a="http://schemas.openxmlformats.org/drawingml/2006/main" noGrp="1"/>
          </p:cNvSpPr>
          <p:nvPr/>
        </p:nvSpPr>
        <p:spPr>
          <a:xfrm xmlns:a="http://schemas.openxmlformats.org/drawingml/2006/main">
            <a:off x="9867900" y="2667000"/>
            <a:ext cx="57150" cy="5524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593FECA0-C178-4AA1-AA7A-C0056942E522}"/>
              </a:ext>
            </a:extLst>
          </p:cNvPr>
          <p:cNvSpPr>
            <a:spLocks xmlns:a="http://schemas.openxmlformats.org/drawingml/2006/main" noGrp="1"/>
          </p:cNvSpPr>
          <p:nvPr/>
        </p:nvSpPr>
        <p:spPr>
          <a:xfrm xmlns:a="http://schemas.openxmlformats.org/drawingml/2006/main">
            <a:off x="10039350" y="2800350"/>
            <a:ext cx="9144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42033"/>
                </a:solidFill>
                <a:latin typeface="Aptos"/>
                <a:ea typeface="Aptos"/>
                <a:cs typeface="Aptos"/>
              </a:defRPr>
            </a:pPr>
            <a:r>
              <a:rPr sz="1200" b="1">
                <a:solidFill>
                  <a:srgbClr val="142033"/>
                </a:solidFill>
                <a:latin typeface="Aptos"/>
                <a:ea typeface="Aptos"/>
                <a:cs typeface="Aptos"/>
              </a:rPr>
              <a:t>Sales</a:t>
            </a:r>
          </a:p>
        </p:txBody>
      </p:sp>
      <p:sp>
        <p:nvSpPr>
          <p:cNvPr id="28" name="">
            <a:extLst xmlns:a="http://schemas.openxmlformats.org/drawingml/2006/main">
              <a:ext uri="{FF2B5EF4-FFF2-40B4-BE49-F238E27FC236}">
                <a16:creationId xmlns:a16="http://schemas.microsoft.com/office/drawing/2014/main" id="{E133AC21-E65C-4B2A-8364-81059BD63FC5}"/>
              </a:ext>
            </a:extLst>
          </p:cNvPr>
          <p:cNvSpPr>
            <a:spLocks xmlns:a="http://schemas.openxmlformats.org/drawingml/2006/main" noGrp="1"/>
          </p:cNvSpPr>
          <p:nvPr/>
        </p:nvSpPr>
        <p:spPr>
          <a:xfrm xmlns:a="http://schemas.openxmlformats.org/drawingml/2006/main">
            <a:off x="838200" y="4038600"/>
            <a:ext cx="2286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B5500A"/>
                </a:solidFill>
                <a:latin typeface="Aptos"/>
                <a:ea typeface="Aptos"/>
                <a:cs typeface="Aptos"/>
              </a:defRPr>
            </a:pPr>
            <a:r>
              <a:rPr sz="1875" b="1">
                <a:solidFill>
                  <a:srgbClr val="B5500A"/>
                </a:solidFill>
                <a:latin typeface="Aptos"/>
                <a:ea typeface="Aptos"/>
                <a:cs typeface="Aptos"/>
              </a:rPr>
              <a:t>Poles Chain</a:t>
            </a:r>
          </a:p>
        </p:txBody>
      </p:sp>
      <p:sp>
        <p:nvSpPr>
          <p:cNvPr id="29" name="">
            <a:extLst xmlns:a="http://schemas.openxmlformats.org/drawingml/2006/main">
              <a:ext uri="{FF2B5EF4-FFF2-40B4-BE49-F238E27FC236}">
                <a16:creationId xmlns:a16="http://schemas.microsoft.com/office/drawing/2014/main" id="{8F84BE26-4E0C-48C8-BC7F-EA7BB918E157}"/>
              </a:ext>
            </a:extLst>
          </p:cNvPr>
          <p:cNvSpPr>
            <a:spLocks xmlns:a="http://schemas.openxmlformats.org/drawingml/2006/main" noGrp="1"/>
          </p:cNvSpPr>
          <p:nvPr/>
        </p:nvSpPr>
        <p:spPr>
          <a:xfrm xmlns:a="http://schemas.openxmlformats.org/drawingml/2006/main">
            <a:off x="838200" y="4572000"/>
            <a:ext cx="1390650" cy="552450"/>
          </a:xfrm>
          <a:prstGeom xmlns:a="http://schemas.openxmlformats.org/drawingml/2006/main" prst="rect">
            <a:avLst/>
          </a:prstGeom>
          <a:solidFill xmlns:a="http://schemas.openxmlformats.org/drawingml/2006/main">
            <a:srgbClr val="FFFFFF"/>
          </a:solidFill>
          <a:ln xmlns:a="http://schemas.openxmlformats.org/drawingml/2006/main" w="11430">
            <a:solidFill>
              <a:srgbClr val="B5500A"/>
            </a:solidFill>
            <a:prstDash val="solid"/>
          </a:ln>
        </p:spPr>
      </p:sp>
      <p:sp>
        <p:nvSpPr>
          <p:cNvPr id="30" name="">
            <a:extLst xmlns:a="http://schemas.openxmlformats.org/drawingml/2006/main">
              <a:ext uri="{FF2B5EF4-FFF2-40B4-BE49-F238E27FC236}">
                <a16:creationId xmlns:a16="http://schemas.microsoft.com/office/drawing/2014/main" id="{A4217480-18BB-4CD0-A628-D4616C1C2BBB}"/>
              </a:ext>
            </a:extLst>
          </p:cNvPr>
          <p:cNvSpPr>
            <a:spLocks xmlns:a="http://schemas.openxmlformats.org/drawingml/2006/main" noGrp="1"/>
          </p:cNvSpPr>
          <p:nvPr/>
        </p:nvSpPr>
        <p:spPr>
          <a:xfrm xmlns:a="http://schemas.openxmlformats.org/drawingml/2006/main">
            <a:off x="838200" y="4572000"/>
            <a:ext cx="57150" cy="552450"/>
          </a:xfrm>
          <a:prstGeom xmlns:a="http://schemas.openxmlformats.org/drawingml/2006/main" prst="rect">
            <a:avLst/>
          </a:prstGeom>
          <a:solidFill xmlns:a="http://schemas.openxmlformats.org/drawingml/2006/main">
            <a:srgbClr val="B5500A"/>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2A41CB38-5B78-4489-8DAE-2DACCE00ECCC}"/>
              </a:ext>
            </a:extLst>
          </p:cNvPr>
          <p:cNvSpPr>
            <a:spLocks xmlns:a="http://schemas.openxmlformats.org/drawingml/2006/main" noGrp="1"/>
          </p:cNvSpPr>
          <p:nvPr/>
        </p:nvSpPr>
        <p:spPr>
          <a:xfrm xmlns:a="http://schemas.openxmlformats.org/drawingml/2006/main">
            <a:off x="1009650" y="4705350"/>
            <a:ext cx="11049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033"/>
                </a:solidFill>
                <a:latin typeface="Aptos"/>
                <a:ea typeface="Aptos"/>
                <a:cs typeface="Aptos"/>
              </a:defRPr>
            </a:pPr>
            <a:r>
              <a:rPr sz="1125" b="1">
                <a:solidFill>
                  <a:srgbClr val="142033"/>
                </a:solidFill>
                <a:latin typeface="Aptos"/>
                <a:ea typeface="Aptos"/>
                <a:cs typeface="Aptos"/>
              </a:rPr>
              <a:t>Request</a:t>
            </a:r>
          </a:p>
        </p:txBody>
      </p:sp>
      <p:sp>
        <p:nvSpPr>
          <p:cNvPr id="32" name="">
            <a:extLst xmlns:a="http://schemas.openxmlformats.org/drawingml/2006/main">
              <a:ext uri="{FF2B5EF4-FFF2-40B4-BE49-F238E27FC236}">
                <a16:creationId xmlns:a16="http://schemas.microsoft.com/office/drawing/2014/main" id="{4BA0E8B1-31E6-4971-BBBB-43E0D18AD46F}"/>
              </a:ext>
            </a:extLst>
          </p:cNvPr>
          <p:cNvSpPr>
            <a:spLocks xmlns:a="http://schemas.openxmlformats.org/drawingml/2006/main" noGrp="1"/>
          </p:cNvSpPr>
          <p:nvPr/>
        </p:nvSpPr>
        <p:spPr>
          <a:xfrm xmlns:a="http://schemas.openxmlformats.org/drawingml/2006/main">
            <a:off x="2600325" y="4572000"/>
            <a:ext cx="1390650" cy="552450"/>
          </a:xfrm>
          <a:prstGeom xmlns:a="http://schemas.openxmlformats.org/drawingml/2006/main" prst="rect">
            <a:avLst/>
          </a:prstGeom>
          <a:solidFill xmlns:a="http://schemas.openxmlformats.org/drawingml/2006/main">
            <a:srgbClr val="F8ECE2"/>
          </a:solidFill>
          <a:ln xmlns:a="http://schemas.openxmlformats.org/drawingml/2006/main" w="11430">
            <a:solidFill>
              <a:srgbClr val="B5500A"/>
            </a:solidFill>
            <a:prstDash val="solid"/>
          </a:ln>
        </p:spPr>
      </p:sp>
      <p:sp>
        <p:nvSpPr>
          <p:cNvPr id="33" name="">
            <a:extLst xmlns:a="http://schemas.openxmlformats.org/drawingml/2006/main">
              <a:ext uri="{FF2B5EF4-FFF2-40B4-BE49-F238E27FC236}">
                <a16:creationId xmlns:a16="http://schemas.microsoft.com/office/drawing/2014/main" id="{20F3C19C-C0F3-45A7-B7AA-81560B81C296}"/>
              </a:ext>
            </a:extLst>
          </p:cNvPr>
          <p:cNvSpPr>
            <a:spLocks xmlns:a="http://schemas.openxmlformats.org/drawingml/2006/main" noGrp="1"/>
          </p:cNvSpPr>
          <p:nvPr/>
        </p:nvSpPr>
        <p:spPr>
          <a:xfrm xmlns:a="http://schemas.openxmlformats.org/drawingml/2006/main">
            <a:off x="2600325" y="4572000"/>
            <a:ext cx="57150" cy="552450"/>
          </a:xfrm>
          <a:prstGeom xmlns:a="http://schemas.openxmlformats.org/drawingml/2006/main" prst="rect">
            <a:avLst/>
          </a:prstGeom>
          <a:solidFill xmlns:a="http://schemas.openxmlformats.org/drawingml/2006/main">
            <a:srgbClr val="B5500A"/>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CA5D301E-CFF5-4C6E-B8C5-020389CCA306}"/>
              </a:ext>
            </a:extLst>
          </p:cNvPr>
          <p:cNvSpPr>
            <a:spLocks xmlns:a="http://schemas.openxmlformats.org/drawingml/2006/main" noGrp="1"/>
          </p:cNvSpPr>
          <p:nvPr/>
        </p:nvSpPr>
        <p:spPr>
          <a:xfrm xmlns:a="http://schemas.openxmlformats.org/drawingml/2006/main">
            <a:off x="2771775" y="4705350"/>
            <a:ext cx="11049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033"/>
                </a:solidFill>
                <a:latin typeface="Aptos"/>
                <a:ea typeface="Aptos"/>
                <a:cs typeface="Aptos"/>
              </a:defRPr>
            </a:pPr>
            <a:r>
              <a:rPr sz="1125" b="1">
                <a:solidFill>
                  <a:srgbClr val="142033"/>
                </a:solidFill>
                <a:latin typeface="Aptos"/>
                <a:ea typeface="Aptos"/>
                <a:cs typeface="Aptos"/>
              </a:rPr>
              <a:t>CEO Approval</a:t>
            </a:r>
          </a:p>
        </p:txBody>
      </p:sp>
      <p:sp>
        <p:nvSpPr>
          <p:cNvPr id="35" name="">
            <a:extLst xmlns:a="http://schemas.openxmlformats.org/drawingml/2006/main">
              <a:ext uri="{FF2B5EF4-FFF2-40B4-BE49-F238E27FC236}">
                <a16:creationId xmlns:a16="http://schemas.microsoft.com/office/drawing/2014/main" id="{CF77BF87-2EB9-4EA8-B767-8C6EC17AF1BD}"/>
              </a:ext>
            </a:extLst>
          </p:cNvPr>
          <p:cNvSpPr>
            <a:spLocks xmlns:a="http://schemas.openxmlformats.org/drawingml/2006/main" noGrp="1"/>
          </p:cNvSpPr>
          <p:nvPr/>
        </p:nvSpPr>
        <p:spPr>
          <a:xfrm xmlns:a="http://schemas.openxmlformats.org/drawingml/2006/main">
            <a:off x="4362450" y="4572000"/>
            <a:ext cx="1390650" cy="552450"/>
          </a:xfrm>
          <a:prstGeom xmlns:a="http://schemas.openxmlformats.org/drawingml/2006/main" prst="rect">
            <a:avLst/>
          </a:prstGeom>
          <a:solidFill xmlns:a="http://schemas.openxmlformats.org/drawingml/2006/main">
            <a:srgbClr val="FFFFFF"/>
          </a:solidFill>
          <a:ln xmlns:a="http://schemas.openxmlformats.org/drawingml/2006/main" w="11430">
            <a:solidFill>
              <a:srgbClr val="B5500A"/>
            </a:solidFill>
            <a:prstDash val="solid"/>
          </a:ln>
        </p:spPr>
      </p:sp>
      <p:sp>
        <p:nvSpPr>
          <p:cNvPr id="36" name="">
            <a:extLst xmlns:a="http://schemas.openxmlformats.org/drawingml/2006/main">
              <a:ext uri="{FF2B5EF4-FFF2-40B4-BE49-F238E27FC236}">
                <a16:creationId xmlns:a16="http://schemas.microsoft.com/office/drawing/2014/main" id="{1DB9AE0F-32B0-4B75-9A23-A1D0D9C1954D}"/>
              </a:ext>
            </a:extLst>
          </p:cNvPr>
          <p:cNvSpPr>
            <a:spLocks xmlns:a="http://schemas.openxmlformats.org/drawingml/2006/main" noGrp="1"/>
          </p:cNvSpPr>
          <p:nvPr/>
        </p:nvSpPr>
        <p:spPr>
          <a:xfrm xmlns:a="http://schemas.openxmlformats.org/drawingml/2006/main">
            <a:off x="4362450" y="4572000"/>
            <a:ext cx="57150" cy="552450"/>
          </a:xfrm>
          <a:prstGeom xmlns:a="http://schemas.openxmlformats.org/drawingml/2006/main" prst="rect">
            <a:avLst/>
          </a:prstGeom>
          <a:solidFill xmlns:a="http://schemas.openxmlformats.org/drawingml/2006/main">
            <a:srgbClr val="B5500A"/>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2DFD3273-F3FE-40A3-B221-173E31564EC4}"/>
              </a:ext>
            </a:extLst>
          </p:cNvPr>
          <p:cNvSpPr>
            <a:spLocks xmlns:a="http://schemas.openxmlformats.org/drawingml/2006/main" noGrp="1"/>
          </p:cNvSpPr>
          <p:nvPr/>
        </p:nvSpPr>
        <p:spPr>
          <a:xfrm xmlns:a="http://schemas.openxmlformats.org/drawingml/2006/main">
            <a:off x="4533900" y="4705350"/>
            <a:ext cx="11049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033"/>
                </a:solidFill>
                <a:latin typeface="Aptos"/>
                <a:ea typeface="Aptos"/>
                <a:cs typeface="Aptos"/>
              </a:defRPr>
            </a:pPr>
            <a:r>
              <a:rPr sz="1125" b="1">
                <a:solidFill>
                  <a:srgbClr val="142033"/>
                </a:solidFill>
                <a:latin typeface="Aptos"/>
                <a:ea typeface="Aptos"/>
                <a:cs typeface="Aptos"/>
              </a:rPr>
              <a:t>Supplier Delivery</a:t>
            </a:r>
          </a:p>
        </p:txBody>
      </p:sp>
      <p:sp>
        <p:nvSpPr>
          <p:cNvPr id="38" name="">
            <a:extLst xmlns:a="http://schemas.openxmlformats.org/drawingml/2006/main">
              <a:ext uri="{FF2B5EF4-FFF2-40B4-BE49-F238E27FC236}">
                <a16:creationId xmlns:a16="http://schemas.microsoft.com/office/drawing/2014/main" id="{047CE2C6-93DA-43F3-8AB5-578B55DEC8E5}"/>
              </a:ext>
            </a:extLst>
          </p:cNvPr>
          <p:cNvSpPr>
            <a:spLocks xmlns:a="http://schemas.openxmlformats.org/drawingml/2006/main" noGrp="1"/>
          </p:cNvSpPr>
          <p:nvPr/>
        </p:nvSpPr>
        <p:spPr>
          <a:xfrm xmlns:a="http://schemas.openxmlformats.org/drawingml/2006/main">
            <a:off x="6124575" y="4572000"/>
            <a:ext cx="1390650" cy="552450"/>
          </a:xfrm>
          <a:prstGeom xmlns:a="http://schemas.openxmlformats.org/drawingml/2006/main" prst="rect">
            <a:avLst/>
          </a:prstGeom>
          <a:solidFill xmlns:a="http://schemas.openxmlformats.org/drawingml/2006/main">
            <a:srgbClr val="F8ECE2"/>
          </a:solidFill>
          <a:ln xmlns:a="http://schemas.openxmlformats.org/drawingml/2006/main" w="11430">
            <a:solidFill>
              <a:srgbClr val="B5500A"/>
            </a:solidFill>
            <a:prstDash val="solid"/>
          </a:ln>
        </p:spPr>
      </p:sp>
      <p:sp>
        <p:nvSpPr>
          <p:cNvPr id="39" name="">
            <a:extLst xmlns:a="http://schemas.openxmlformats.org/drawingml/2006/main">
              <a:ext uri="{FF2B5EF4-FFF2-40B4-BE49-F238E27FC236}">
                <a16:creationId xmlns:a16="http://schemas.microsoft.com/office/drawing/2014/main" id="{5E992A77-72C9-42A7-B866-0BD8CFFD9834}"/>
              </a:ext>
            </a:extLst>
          </p:cNvPr>
          <p:cNvSpPr>
            <a:spLocks xmlns:a="http://schemas.openxmlformats.org/drawingml/2006/main" noGrp="1"/>
          </p:cNvSpPr>
          <p:nvPr/>
        </p:nvSpPr>
        <p:spPr>
          <a:xfrm xmlns:a="http://schemas.openxmlformats.org/drawingml/2006/main">
            <a:off x="6124575" y="4572000"/>
            <a:ext cx="57150" cy="552450"/>
          </a:xfrm>
          <a:prstGeom xmlns:a="http://schemas.openxmlformats.org/drawingml/2006/main" prst="rect">
            <a:avLst/>
          </a:prstGeom>
          <a:solidFill xmlns:a="http://schemas.openxmlformats.org/drawingml/2006/main">
            <a:srgbClr val="B5500A"/>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C253C51A-CA8A-4529-9DC5-C08267A37266}"/>
              </a:ext>
            </a:extLst>
          </p:cNvPr>
          <p:cNvSpPr>
            <a:spLocks xmlns:a="http://schemas.openxmlformats.org/drawingml/2006/main" noGrp="1"/>
          </p:cNvSpPr>
          <p:nvPr/>
        </p:nvSpPr>
        <p:spPr>
          <a:xfrm xmlns:a="http://schemas.openxmlformats.org/drawingml/2006/main">
            <a:off x="6296025" y="4705350"/>
            <a:ext cx="11049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033"/>
                </a:solidFill>
                <a:latin typeface="Aptos"/>
                <a:ea typeface="Aptos"/>
                <a:cs typeface="Aptos"/>
              </a:defRPr>
            </a:pPr>
            <a:r>
              <a:rPr sz="1125" b="1">
                <a:solidFill>
                  <a:srgbClr val="142033"/>
                </a:solidFill>
                <a:latin typeface="Aptos"/>
                <a:ea typeface="Aptos"/>
                <a:cs typeface="Aptos"/>
              </a:rPr>
              <a:t>Quality Check</a:t>
            </a:r>
          </a:p>
        </p:txBody>
      </p:sp>
      <p:sp>
        <p:nvSpPr>
          <p:cNvPr id="41" name="">
            <a:extLst xmlns:a="http://schemas.openxmlformats.org/drawingml/2006/main">
              <a:ext uri="{FF2B5EF4-FFF2-40B4-BE49-F238E27FC236}">
                <a16:creationId xmlns:a16="http://schemas.microsoft.com/office/drawing/2014/main" id="{0E781706-E250-40A6-8ABA-F041DAF8BAC3}"/>
              </a:ext>
            </a:extLst>
          </p:cNvPr>
          <p:cNvSpPr>
            <a:spLocks xmlns:a="http://schemas.openxmlformats.org/drawingml/2006/main" noGrp="1"/>
          </p:cNvSpPr>
          <p:nvPr/>
        </p:nvSpPr>
        <p:spPr>
          <a:xfrm xmlns:a="http://schemas.openxmlformats.org/drawingml/2006/main">
            <a:off x="7886700" y="4572000"/>
            <a:ext cx="1390650" cy="552450"/>
          </a:xfrm>
          <a:prstGeom xmlns:a="http://schemas.openxmlformats.org/drawingml/2006/main" prst="rect">
            <a:avLst/>
          </a:prstGeom>
          <a:solidFill xmlns:a="http://schemas.openxmlformats.org/drawingml/2006/main">
            <a:srgbClr val="FFFFFF"/>
          </a:solidFill>
          <a:ln xmlns:a="http://schemas.openxmlformats.org/drawingml/2006/main" w="11430">
            <a:solidFill>
              <a:srgbClr val="B5500A"/>
            </a:solidFill>
            <a:prstDash val="solid"/>
          </a:ln>
        </p:spPr>
      </p:sp>
      <p:sp>
        <p:nvSpPr>
          <p:cNvPr id="42" name="">
            <a:extLst xmlns:a="http://schemas.openxmlformats.org/drawingml/2006/main">
              <a:ext uri="{FF2B5EF4-FFF2-40B4-BE49-F238E27FC236}">
                <a16:creationId xmlns:a16="http://schemas.microsoft.com/office/drawing/2014/main" id="{E673E3F2-2040-4E88-81DD-582555E3AEBF}"/>
              </a:ext>
            </a:extLst>
          </p:cNvPr>
          <p:cNvSpPr>
            <a:spLocks xmlns:a="http://schemas.openxmlformats.org/drawingml/2006/main" noGrp="1"/>
          </p:cNvSpPr>
          <p:nvPr/>
        </p:nvSpPr>
        <p:spPr>
          <a:xfrm xmlns:a="http://schemas.openxmlformats.org/drawingml/2006/main">
            <a:off x="7886700" y="4572000"/>
            <a:ext cx="57150" cy="552450"/>
          </a:xfrm>
          <a:prstGeom xmlns:a="http://schemas.openxmlformats.org/drawingml/2006/main" prst="rect">
            <a:avLst/>
          </a:prstGeom>
          <a:solidFill xmlns:a="http://schemas.openxmlformats.org/drawingml/2006/main">
            <a:srgbClr val="B5500A"/>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AA95FE69-3804-44CD-A94E-19DC8096CA4C}"/>
              </a:ext>
            </a:extLst>
          </p:cNvPr>
          <p:cNvSpPr>
            <a:spLocks xmlns:a="http://schemas.openxmlformats.org/drawingml/2006/main" noGrp="1"/>
          </p:cNvSpPr>
          <p:nvPr/>
        </p:nvSpPr>
        <p:spPr>
          <a:xfrm xmlns:a="http://schemas.openxmlformats.org/drawingml/2006/main">
            <a:off x="8058150" y="4705350"/>
            <a:ext cx="11049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033"/>
                </a:solidFill>
                <a:latin typeface="Aptos"/>
                <a:ea typeface="Aptos"/>
                <a:cs typeface="Aptos"/>
              </a:defRPr>
            </a:pPr>
            <a:r>
              <a:rPr sz="1125" b="1">
                <a:solidFill>
                  <a:srgbClr val="142033"/>
                </a:solidFill>
                <a:latin typeface="Aptos"/>
                <a:ea typeface="Aptos"/>
                <a:cs typeface="Aptos"/>
              </a:rPr>
              <a:t>Production</a:t>
            </a:r>
          </a:p>
        </p:txBody>
      </p:sp>
      <p:sp>
        <p:nvSpPr>
          <p:cNvPr id="44" name="">
            <a:extLst xmlns:a="http://schemas.openxmlformats.org/drawingml/2006/main">
              <a:ext uri="{FF2B5EF4-FFF2-40B4-BE49-F238E27FC236}">
                <a16:creationId xmlns:a16="http://schemas.microsoft.com/office/drawing/2014/main" id="{2A2779FA-1EC2-4706-8D31-5BAD9740C5A1}"/>
              </a:ext>
            </a:extLst>
          </p:cNvPr>
          <p:cNvSpPr>
            <a:spLocks xmlns:a="http://schemas.openxmlformats.org/drawingml/2006/main" noGrp="1"/>
          </p:cNvSpPr>
          <p:nvPr/>
        </p:nvSpPr>
        <p:spPr>
          <a:xfrm xmlns:a="http://schemas.openxmlformats.org/drawingml/2006/main">
            <a:off x="9648825" y="4572000"/>
            <a:ext cx="1390650" cy="552450"/>
          </a:xfrm>
          <a:prstGeom xmlns:a="http://schemas.openxmlformats.org/drawingml/2006/main" prst="rect">
            <a:avLst/>
          </a:prstGeom>
          <a:solidFill xmlns:a="http://schemas.openxmlformats.org/drawingml/2006/main">
            <a:srgbClr val="F8ECE2"/>
          </a:solidFill>
          <a:ln xmlns:a="http://schemas.openxmlformats.org/drawingml/2006/main" w="11430">
            <a:solidFill>
              <a:srgbClr val="B5500A"/>
            </a:solidFill>
            <a:prstDash val="solid"/>
          </a:ln>
        </p:spPr>
      </p:sp>
      <p:sp>
        <p:nvSpPr>
          <p:cNvPr id="45" name="">
            <a:extLst xmlns:a="http://schemas.openxmlformats.org/drawingml/2006/main">
              <a:ext uri="{FF2B5EF4-FFF2-40B4-BE49-F238E27FC236}">
                <a16:creationId xmlns:a16="http://schemas.microsoft.com/office/drawing/2014/main" id="{6128A56D-2A23-4962-83E9-AEA998264F3D}"/>
              </a:ext>
            </a:extLst>
          </p:cNvPr>
          <p:cNvSpPr>
            <a:spLocks xmlns:a="http://schemas.openxmlformats.org/drawingml/2006/main" noGrp="1"/>
          </p:cNvSpPr>
          <p:nvPr/>
        </p:nvSpPr>
        <p:spPr>
          <a:xfrm xmlns:a="http://schemas.openxmlformats.org/drawingml/2006/main">
            <a:off x="9648825" y="4572000"/>
            <a:ext cx="57150" cy="552450"/>
          </a:xfrm>
          <a:prstGeom xmlns:a="http://schemas.openxmlformats.org/drawingml/2006/main" prst="rect">
            <a:avLst/>
          </a:prstGeom>
          <a:solidFill xmlns:a="http://schemas.openxmlformats.org/drawingml/2006/main">
            <a:srgbClr val="B5500A"/>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DFB2A4CF-46AC-47D6-97B0-48B538268ED7}"/>
              </a:ext>
            </a:extLst>
          </p:cNvPr>
          <p:cNvSpPr>
            <a:spLocks xmlns:a="http://schemas.openxmlformats.org/drawingml/2006/main" noGrp="1"/>
          </p:cNvSpPr>
          <p:nvPr/>
        </p:nvSpPr>
        <p:spPr>
          <a:xfrm xmlns:a="http://schemas.openxmlformats.org/drawingml/2006/main">
            <a:off x="9820275" y="4705350"/>
            <a:ext cx="11049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033"/>
                </a:solidFill>
                <a:latin typeface="Aptos"/>
                <a:ea typeface="Aptos"/>
                <a:cs typeface="Aptos"/>
              </a:defRPr>
            </a:pPr>
            <a:r>
              <a:rPr sz="1125" b="1">
                <a:solidFill>
                  <a:srgbClr val="142033"/>
                </a:solidFill>
                <a:latin typeface="Aptos"/>
                <a:ea typeface="Aptos"/>
                <a:cs typeface="Aptos"/>
              </a:rPr>
              <a:t>Sales</a:t>
            </a:r>
          </a:p>
        </p:txBody>
      </p:sp>
      <p:sp>
        <p:nvSpPr>
          <p:cNvPr id="47" name="">
            <a:extLst xmlns:a="http://schemas.openxmlformats.org/drawingml/2006/main">
              <a:ext uri="{FF2B5EF4-FFF2-40B4-BE49-F238E27FC236}">
                <a16:creationId xmlns:a16="http://schemas.microsoft.com/office/drawing/2014/main" id="{33310C90-EB51-4FE1-AA9B-82E59E0EFA5F}"/>
              </a:ext>
            </a:extLst>
          </p:cNvPr>
          <p:cNvSpPr>
            <a:spLocks xmlns:a="http://schemas.openxmlformats.org/drawingml/2006/main" noGrp="1"/>
          </p:cNvSpPr>
          <p:nvPr/>
        </p:nvSpPr>
        <p:spPr>
          <a:xfrm xmlns:a="http://schemas.openxmlformats.org/drawingml/2006/main">
            <a:off x="514350" y="6496050"/>
            <a:ext cx="666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67085"/>
                </a:solidFill>
                <a:latin typeface="Aptos"/>
                <a:ea typeface="Aptos"/>
                <a:cs typeface="Aptos"/>
              </a:defRPr>
            </a:pPr>
            <a:r>
              <a:rPr sz="750" b="0">
                <a:solidFill>
                  <a:srgbClr val="667085"/>
                </a:solidFill>
                <a:latin typeface="Aptos"/>
                <a:ea typeface="Aptos"/>
                <a:cs typeface="Aptos"/>
              </a:rPr>
              <a:t>UFCL ERP System | Executive Management Presentation | June 2026</a:t>
            </a:r>
          </a:p>
        </p:txBody>
      </p:sp>
      <p:sp>
        <p:nvSpPr>
          <p:cNvPr id="48" name="">
            <a:extLst xmlns:a="http://schemas.openxmlformats.org/drawingml/2006/main">
              <a:ext uri="{FF2B5EF4-FFF2-40B4-BE49-F238E27FC236}">
                <a16:creationId xmlns:a16="http://schemas.microsoft.com/office/drawing/2014/main" id="{2CA5E74D-FAB7-4E2A-A8B7-3208A960A067}"/>
              </a:ext>
            </a:extLst>
          </p:cNvPr>
          <p:cNvSpPr>
            <a:spLocks xmlns:a="http://schemas.openxmlformats.org/drawingml/2006/main" noGrp="1"/>
          </p:cNvSpPr>
          <p:nvPr/>
        </p:nvSpPr>
        <p:spPr>
          <a:xfrm xmlns:a="http://schemas.openxmlformats.org/drawingml/2006/main">
            <a:off x="11258550" y="645795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67085"/>
                </a:solidFill>
                <a:latin typeface="Aptos"/>
                <a:ea typeface="Aptos"/>
                <a:cs typeface="Aptos"/>
              </a:defRPr>
            </a:pPr>
            <a:r>
              <a:rPr sz="825" b="1">
                <a:solidFill>
                  <a:srgbClr val="667085"/>
                </a:solidFill>
                <a:latin typeface="Aptos"/>
                <a:ea typeface="Aptos"/>
                <a:cs typeface="Aptos"/>
              </a:rPr>
              <a:t>09</a:t>
            </a:r>
          </a:p>
        </p:txBody>
      </p:sp>
    </p:spTree>
    <p:extLst>
      <p:ext uri="{BB962C8B-B14F-4D97-AF65-F5344CB8AC3E}">
        <p14:creationId xmlns:p14="http://schemas.microsoft.com/office/powerpoint/2010/main" val="86938147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E3F2A2D-0B3B-416D-A747-5151AE59F9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4C33AEA5-2139-4E24-B5F9-D84478FA1900}"/>
              </a:ext>
            </a:extLst>
          </p:cNvPr>
          <p:cNvSpPr>
            <a:spLocks xmlns:a="http://schemas.openxmlformats.org/drawingml/2006/main" noGrp="1"/>
          </p:cNvSpPr>
          <p:nvPr/>
        </p:nvSpPr>
        <p:spPr>
          <a:xfrm xmlns:a="http://schemas.openxmlformats.org/drawingml/2006/main">
            <a:off x="514350" y="371475"/>
            <a:ext cx="95250" cy="952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A0D60A76-6504-441D-8B06-BF0B978903CB}"/>
              </a:ext>
            </a:extLst>
          </p:cNvPr>
          <p:cNvSpPr>
            <a:spLocks xmlns:a="http://schemas.openxmlformats.org/drawingml/2006/main" noGrp="1"/>
          </p:cNvSpPr>
          <p:nvPr/>
        </p:nvSpPr>
        <p:spPr>
          <a:xfrm xmlns:a="http://schemas.openxmlformats.org/drawingml/2006/main">
            <a:off x="70485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HARVESTING TO SAWMILL</a:t>
            </a:r>
          </a:p>
        </p:txBody>
      </p:sp>
      <p:sp>
        <p:nvSpPr>
          <p:cNvPr id="4" name="">
            <a:extLst xmlns:a="http://schemas.openxmlformats.org/drawingml/2006/main">
              <a:ext uri="{FF2B5EF4-FFF2-40B4-BE49-F238E27FC236}">
                <a16:creationId xmlns:a16="http://schemas.microsoft.com/office/drawing/2014/main" id="{8B1023E3-D829-4800-9BF4-9A4EC2F5BD96}"/>
              </a:ext>
            </a:extLst>
          </p:cNvPr>
          <p:cNvSpPr>
            <a:spLocks xmlns:a="http://schemas.openxmlformats.org/drawingml/2006/main" noGrp="1"/>
          </p:cNvSpPr>
          <p:nvPr/>
        </p:nvSpPr>
        <p:spPr>
          <a:xfrm xmlns:a="http://schemas.openxmlformats.org/drawingml/2006/main">
            <a:off x="514350" y="685800"/>
            <a:ext cx="88582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42033"/>
                </a:solidFill>
                <a:latin typeface="Aptos Display"/>
                <a:ea typeface="Aptos Display"/>
                <a:cs typeface="Aptos Display"/>
              </a:defRPr>
            </a:pPr>
            <a:r>
              <a:rPr sz="2550" b="1">
                <a:solidFill>
                  <a:srgbClr val="142033"/>
                </a:solidFill>
                <a:latin typeface="Aptos Display"/>
                <a:ea typeface="Aptos Display"/>
                <a:cs typeface="Aptos Display"/>
              </a:rPr>
              <a:t>The timber chain creates traceability from forest compartment to finished timber stock.</a:t>
            </a:r>
          </a:p>
        </p:txBody>
      </p:sp>
      <p:sp>
        <p:nvSpPr>
          <p:cNvPr id="5" name="">
            <a:extLst xmlns:a="http://schemas.openxmlformats.org/drawingml/2006/main">
              <a:ext uri="{FF2B5EF4-FFF2-40B4-BE49-F238E27FC236}">
                <a16:creationId xmlns:a16="http://schemas.microsoft.com/office/drawing/2014/main" id="{55D5F2A5-2E60-4AD7-AEA8-EF225B7EEBE4}"/>
              </a:ext>
            </a:extLst>
          </p:cNvPr>
          <p:cNvSpPr>
            <a:spLocks xmlns:a="http://schemas.openxmlformats.org/drawingml/2006/main" noGrp="1"/>
          </p:cNvSpPr>
          <p:nvPr/>
        </p:nvSpPr>
        <p:spPr>
          <a:xfrm xmlns:a="http://schemas.openxmlformats.org/drawingml/2006/main">
            <a:off x="514350" y="1600200"/>
            <a:ext cx="11163300" cy="9525"/>
          </a:xfrm>
          <a:prstGeom xmlns:a="http://schemas.openxmlformats.org/drawingml/2006/main" prst="rect">
            <a:avLst/>
          </a:prstGeom>
          <a:solidFill xmlns:a="http://schemas.openxmlformats.org/drawingml/2006/main">
            <a:srgbClr val="D9DEE7"/>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373B3285-2C4E-4DC9-9FAD-0B37AD5A9AEF}"/>
              </a:ext>
            </a:extLst>
          </p:cNvPr>
          <p:cNvSpPr>
            <a:spLocks xmlns:a="http://schemas.openxmlformats.org/drawingml/2006/main" noGrp="1"/>
          </p:cNvSpPr>
          <p:nvPr/>
        </p:nvSpPr>
        <p:spPr>
          <a:xfrm xmlns:a="http://schemas.openxmlformats.org/drawingml/2006/main">
            <a:off x="895350" y="2238375"/>
            <a:ext cx="2190750" cy="704850"/>
          </a:xfrm>
          <a:prstGeom xmlns:a="http://schemas.openxmlformats.org/drawingml/2006/main" prst="rect">
            <a:avLst/>
          </a:prstGeom>
          <a:solidFill xmlns:a="http://schemas.openxmlformats.org/drawingml/2006/main">
            <a:srgbClr val="FFFFFF"/>
          </a:solidFill>
          <a:ln xmlns:a="http://schemas.openxmlformats.org/drawingml/2006/main" w="11430">
            <a:solidFill>
              <a:srgbClr val="2D6A4F"/>
            </a:solidFill>
            <a:prstDash val="solid"/>
          </a:ln>
        </p:spPr>
      </p:sp>
      <p:sp>
        <p:nvSpPr>
          <p:cNvPr id="7" name="">
            <a:extLst xmlns:a="http://schemas.openxmlformats.org/drawingml/2006/main">
              <a:ext uri="{FF2B5EF4-FFF2-40B4-BE49-F238E27FC236}">
                <a16:creationId xmlns:a16="http://schemas.microsoft.com/office/drawing/2014/main" id="{AF2ED925-B618-4130-AA2A-A7C75B8E41F5}"/>
              </a:ext>
            </a:extLst>
          </p:cNvPr>
          <p:cNvSpPr>
            <a:spLocks xmlns:a="http://schemas.openxmlformats.org/drawingml/2006/main" noGrp="1"/>
          </p:cNvSpPr>
          <p:nvPr/>
        </p:nvSpPr>
        <p:spPr>
          <a:xfrm xmlns:a="http://schemas.openxmlformats.org/drawingml/2006/main">
            <a:off x="895350" y="2238375"/>
            <a:ext cx="57150" cy="7048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8652D1A-92B6-4A1B-9789-0F5354E2F435}"/>
              </a:ext>
            </a:extLst>
          </p:cNvPr>
          <p:cNvSpPr>
            <a:spLocks xmlns:a="http://schemas.openxmlformats.org/drawingml/2006/main" noGrp="1"/>
          </p:cNvSpPr>
          <p:nvPr/>
        </p:nvSpPr>
        <p:spPr>
          <a:xfrm xmlns:a="http://schemas.openxmlformats.org/drawingml/2006/main">
            <a:off x="1066800" y="2371725"/>
            <a:ext cx="1905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1">
                <a:solidFill>
                  <a:srgbClr val="142033"/>
                </a:solidFill>
                <a:latin typeface="Aptos"/>
                <a:ea typeface="Aptos"/>
                <a:cs typeface="Aptos"/>
              </a:defRPr>
            </a:pPr>
            <a:r>
              <a:rPr sz="1575" b="1">
                <a:solidFill>
                  <a:srgbClr val="142033"/>
                </a:solidFill>
                <a:latin typeface="Aptos"/>
                <a:ea typeface="Aptos"/>
                <a:cs typeface="Aptos"/>
              </a:rPr>
              <a:t>Harvesting</a:t>
            </a:r>
          </a:p>
        </p:txBody>
      </p:sp>
      <p:sp>
        <p:nvSpPr>
          <p:cNvPr id="9" name="">
            <a:extLst xmlns:a="http://schemas.openxmlformats.org/drawingml/2006/main">
              <a:ext uri="{FF2B5EF4-FFF2-40B4-BE49-F238E27FC236}">
                <a16:creationId xmlns:a16="http://schemas.microsoft.com/office/drawing/2014/main" id="{1B17ADAD-94F8-4278-B6D7-F3FAE2BF0FEE}"/>
              </a:ext>
            </a:extLst>
          </p:cNvPr>
          <p:cNvSpPr>
            <a:spLocks xmlns:a="http://schemas.openxmlformats.org/drawingml/2006/main" noGrp="1"/>
          </p:cNvSpPr>
          <p:nvPr/>
        </p:nvSpPr>
        <p:spPr>
          <a:xfrm xmlns:a="http://schemas.openxmlformats.org/drawingml/2006/main">
            <a:off x="1047750" y="3143250"/>
            <a:ext cx="18859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0">
                <a:solidFill>
                  <a:srgbClr val="26384F"/>
                </a:solidFill>
                <a:latin typeface="Aptos"/>
                <a:ea typeface="Aptos"/>
                <a:cs typeface="Aptos"/>
              </a:defRPr>
            </a:pPr>
            <a:r>
              <a:rPr sz="1275" b="0">
                <a:solidFill>
                  <a:srgbClr val="26384F"/>
                </a:solidFill>
                <a:latin typeface="Aptos"/>
                <a:ea typeface="Aptos"/>
                <a:cs typeface="Aptos"/>
              </a:rPr>
              <a:t>Compartment, machine, leader, output, waste</a:t>
            </a:r>
          </a:p>
        </p:txBody>
      </p:sp>
      <p:sp>
        <p:nvSpPr>
          <p:cNvPr id="10" name="">
            <a:extLst xmlns:a="http://schemas.openxmlformats.org/drawingml/2006/main">
              <a:ext uri="{FF2B5EF4-FFF2-40B4-BE49-F238E27FC236}">
                <a16:creationId xmlns:a16="http://schemas.microsoft.com/office/drawing/2014/main" id="{66AFCCD0-E1D4-4DA3-91F3-73E6072B2195}"/>
              </a:ext>
            </a:extLst>
          </p:cNvPr>
          <p:cNvSpPr>
            <a:spLocks xmlns:a="http://schemas.openxmlformats.org/drawingml/2006/main" noGrp="1"/>
          </p:cNvSpPr>
          <p:nvPr/>
        </p:nvSpPr>
        <p:spPr>
          <a:xfrm xmlns:a="http://schemas.openxmlformats.org/drawingml/2006/main">
            <a:off x="3124200" y="2590800"/>
            <a:ext cx="400050" cy="190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C3CA5E34-5C29-488C-90A8-3F8A9680826B}"/>
              </a:ext>
            </a:extLst>
          </p:cNvPr>
          <p:cNvSpPr>
            <a:spLocks xmlns:a="http://schemas.openxmlformats.org/drawingml/2006/main" noGrp="1"/>
          </p:cNvSpPr>
          <p:nvPr/>
        </p:nvSpPr>
        <p:spPr>
          <a:xfrm xmlns:a="http://schemas.openxmlformats.org/drawingml/2006/main">
            <a:off x="3638550" y="2238375"/>
            <a:ext cx="2190750" cy="704850"/>
          </a:xfrm>
          <a:prstGeom xmlns:a="http://schemas.openxmlformats.org/drawingml/2006/main" prst="rect">
            <a:avLst/>
          </a:prstGeom>
          <a:solidFill xmlns:a="http://schemas.openxmlformats.org/drawingml/2006/main">
            <a:srgbClr val="FFFFFF"/>
          </a:solidFill>
          <a:ln xmlns:a="http://schemas.openxmlformats.org/drawingml/2006/main" w="11430">
            <a:solidFill>
              <a:srgbClr val="2D6A4F"/>
            </a:solidFill>
            <a:prstDash val="solid"/>
          </a:ln>
        </p:spPr>
      </p:sp>
      <p:sp>
        <p:nvSpPr>
          <p:cNvPr id="12" name="">
            <a:extLst xmlns:a="http://schemas.openxmlformats.org/drawingml/2006/main">
              <a:ext uri="{FF2B5EF4-FFF2-40B4-BE49-F238E27FC236}">
                <a16:creationId xmlns:a16="http://schemas.microsoft.com/office/drawing/2014/main" id="{9632989D-C68B-4E6E-AD89-CEE8EB7AA308}"/>
              </a:ext>
            </a:extLst>
          </p:cNvPr>
          <p:cNvSpPr>
            <a:spLocks xmlns:a="http://schemas.openxmlformats.org/drawingml/2006/main" noGrp="1"/>
          </p:cNvSpPr>
          <p:nvPr/>
        </p:nvSpPr>
        <p:spPr>
          <a:xfrm xmlns:a="http://schemas.openxmlformats.org/drawingml/2006/main">
            <a:off x="3638550" y="2238375"/>
            <a:ext cx="57150" cy="7048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F0124BAB-B490-47BA-BEE8-B9944C169E09}"/>
              </a:ext>
            </a:extLst>
          </p:cNvPr>
          <p:cNvSpPr>
            <a:spLocks xmlns:a="http://schemas.openxmlformats.org/drawingml/2006/main" noGrp="1"/>
          </p:cNvSpPr>
          <p:nvPr/>
        </p:nvSpPr>
        <p:spPr>
          <a:xfrm xmlns:a="http://schemas.openxmlformats.org/drawingml/2006/main">
            <a:off x="3810000" y="2371725"/>
            <a:ext cx="1905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1">
                <a:solidFill>
                  <a:srgbClr val="142033"/>
                </a:solidFill>
                <a:latin typeface="Aptos"/>
                <a:ea typeface="Aptos"/>
                <a:cs typeface="Aptos"/>
              </a:defRPr>
            </a:pPr>
            <a:r>
              <a:rPr sz="1575" b="1">
                <a:solidFill>
                  <a:srgbClr val="142033"/>
                </a:solidFill>
                <a:latin typeface="Aptos"/>
                <a:ea typeface="Aptos"/>
                <a:cs typeface="Aptos"/>
              </a:rPr>
              <a:t>Log Transport</a:t>
            </a:r>
          </a:p>
        </p:txBody>
      </p:sp>
      <p:sp>
        <p:nvSpPr>
          <p:cNvPr id="14" name="">
            <a:extLst xmlns:a="http://schemas.openxmlformats.org/drawingml/2006/main">
              <a:ext uri="{FF2B5EF4-FFF2-40B4-BE49-F238E27FC236}">
                <a16:creationId xmlns:a16="http://schemas.microsoft.com/office/drawing/2014/main" id="{313C42E0-7DC6-49AA-BD6B-2A6D2FE9A904}"/>
              </a:ext>
            </a:extLst>
          </p:cNvPr>
          <p:cNvSpPr>
            <a:spLocks xmlns:a="http://schemas.openxmlformats.org/drawingml/2006/main" noGrp="1"/>
          </p:cNvSpPr>
          <p:nvPr/>
        </p:nvSpPr>
        <p:spPr>
          <a:xfrm xmlns:a="http://schemas.openxmlformats.org/drawingml/2006/main">
            <a:off x="3790950" y="3143250"/>
            <a:ext cx="18859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0">
                <a:solidFill>
                  <a:srgbClr val="26384F"/>
                </a:solidFill>
                <a:latin typeface="Aptos"/>
                <a:ea typeface="Aptos"/>
                <a:cs typeface="Aptos"/>
              </a:defRPr>
            </a:pPr>
            <a:r>
              <a:rPr sz="1275" b="0">
                <a:solidFill>
                  <a:srgbClr val="26384F"/>
                </a:solidFill>
                <a:latin typeface="Aptos"/>
                <a:ea typeface="Aptos"/>
                <a:cs typeface="Aptos"/>
              </a:rPr>
              <a:t>Vehicle, source, destination, transported volume</a:t>
            </a:r>
          </a:p>
        </p:txBody>
      </p:sp>
      <p:sp>
        <p:nvSpPr>
          <p:cNvPr id="15" name="">
            <a:extLst xmlns:a="http://schemas.openxmlformats.org/drawingml/2006/main">
              <a:ext uri="{FF2B5EF4-FFF2-40B4-BE49-F238E27FC236}">
                <a16:creationId xmlns:a16="http://schemas.microsoft.com/office/drawing/2014/main" id="{9E6D5E96-2FA0-4733-AA24-836C0A5245F9}"/>
              </a:ext>
            </a:extLst>
          </p:cNvPr>
          <p:cNvSpPr>
            <a:spLocks xmlns:a="http://schemas.openxmlformats.org/drawingml/2006/main" noGrp="1"/>
          </p:cNvSpPr>
          <p:nvPr/>
        </p:nvSpPr>
        <p:spPr>
          <a:xfrm xmlns:a="http://schemas.openxmlformats.org/drawingml/2006/main">
            <a:off x="5867400" y="2590800"/>
            <a:ext cx="400050" cy="190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D5EE6EEE-2C5D-4568-BF97-AEC2BB48AE60}"/>
              </a:ext>
            </a:extLst>
          </p:cNvPr>
          <p:cNvSpPr>
            <a:spLocks xmlns:a="http://schemas.openxmlformats.org/drawingml/2006/main" noGrp="1"/>
          </p:cNvSpPr>
          <p:nvPr/>
        </p:nvSpPr>
        <p:spPr>
          <a:xfrm xmlns:a="http://schemas.openxmlformats.org/drawingml/2006/main">
            <a:off x="6381750" y="2238375"/>
            <a:ext cx="2190750" cy="704850"/>
          </a:xfrm>
          <a:prstGeom xmlns:a="http://schemas.openxmlformats.org/drawingml/2006/main" prst="rect">
            <a:avLst/>
          </a:prstGeom>
          <a:solidFill xmlns:a="http://schemas.openxmlformats.org/drawingml/2006/main">
            <a:srgbClr val="FFFFFF"/>
          </a:solidFill>
          <a:ln xmlns:a="http://schemas.openxmlformats.org/drawingml/2006/main" w="11430">
            <a:solidFill>
              <a:srgbClr val="2D6A4F"/>
            </a:solidFill>
            <a:prstDash val="solid"/>
          </a:ln>
        </p:spPr>
      </p:sp>
      <p:sp>
        <p:nvSpPr>
          <p:cNvPr id="17" name="">
            <a:extLst xmlns:a="http://schemas.openxmlformats.org/drawingml/2006/main">
              <a:ext uri="{FF2B5EF4-FFF2-40B4-BE49-F238E27FC236}">
                <a16:creationId xmlns:a16="http://schemas.microsoft.com/office/drawing/2014/main" id="{33E18806-F2C9-4784-8F3A-0D5638622F4B}"/>
              </a:ext>
            </a:extLst>
          </p:cNvPr>
          <p:cNvSpPr>
            <a:spLocks xmlns:a="http://schemas.openxmlformats.org/drawingml/2006/main" noGrp="1"/>
          </p:cNvSpPr>
          <p:nvPr/>
        </p:nvSpPr>
        <p:spPr>
          <a:xfrm xmlns:a="http://schemas.openxmlformats.org/drawingml/2006/main">
            <a:off x="6381750" y="2238375"/>
            <a:ext cx="57150" cy="7048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1A2E93E0-665F-416A-91FE-CC9510E397E5}"/>
              </a:ext>
            </a:extLst>
          </p:cNvPr>
          <p:cNvSpPr>
            <a:spLocks xmlns:a="http://schemas.openxmlformats.org/drawingml/2006/main" noGrp="1"/>
          </p:cNvSpPr>
          <p:nvPr/>
        </p:nvSpPr>
        <p:spPr>
          <a:xfrm xmlns:a="http://schemas.openxmlformats.org/drawingml/2006/main">
            <a:off x="6553200" y="2371725"/>
            <a:ext cx="1905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1">
                <a:solidFill>
                  <a:srgbClr val="142033"/>
                </a:solidFill>
                <a:latin typeface="Aptos"/>
                <a:ea typeface="Aptos"/>
                <a:cs typeface="Aptos"/>
              </a:defRPr>
            </a:pPr>
            <a:r>
              <a:rPr sz="1575" b="1">
                <a:solidFill>
                  <a:srgbClr val="142033"/>
                </a:solidFill>
                <a:latin typeface="Aptos"/>
                <a:ea typeface="Aptos"/>
                <a:cs typeface="Aptos"/>
              </a:rPr>
              <a:t>Sawmill Production</a:t>
            </a:r>
          </a:p>
        </p:txBody>
      </p:sp>
      <p:sp>
        <p:nvSpPr>
          <p:cNvPr id="19" name="">
            <a:extLst xmlns:a="http://schemas.openxmlformats.org/drawingml/2006/main">
              <a:ext uri="{FF2B5EF4-FFF2-40B4-BE49-F238E27FC236}">
                <a16:creationId xmlns:a16="http://schemas.microsoft.com/office/drawing/2014/main" id="{6216D44D-BEB0-4CF8-B469-CF48523C0F39}"/>
              </a:ext>
            </a:extLst>
          </p:cNvPr>
          <p:cNvSpPr>
            <a:spLocks xmlns:a="http://schemas.openxmlformats.org/drawingml/2006/main" noGrp="1"/>
          </p:cNvSpPr>
          <p:nvPr/>
        </p:nvSpPr>
        <p:spPr>
          <a:xfrm xmlns:a="http://schemas.openxmlformats.org/drawingml/2006/main">
            <a:off x="6534150" y="3143250"/>
            <a:ext cx="18859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0">
                <a:solidFill>
                  <a:srgbClr val="26384F"/>
                </a:solidFill>
                <a:latin typeface="Aptos"/>
                <a:ea typeface="Aptos"/>
                <a:cs typeface="Aptos"/>
              </a:defRPr>
            </a:pPr>
            <a:r>
              <a:rPr sz="1275" b="0">
                <a:solidFill>
                  <a:srgbClr val="26384F"/>
                </a:solidFill>
                <a:latin typeface="Aptos"/>
                <a:ea typeface="Aptos"/>
                <a:cs typeface="Aptos"/>
              </a:rPr>
              <a:t>Machine, supervisor, produced timber, waste</a:t>
            </a:r>
          </a:p>
        </p:txBody>
      </p:sp>
      <p:sp>
        <p:nvSpPr>
          <p:cNvPr id="20" name="">
            <a:extLst xmlns:a="http://schemas.openxmlformats.org/drawingml/2006/main">
              <a:ext uri="{FF2B5EF4-FFF2-40B4-BE49-F238E27FC236}">
                <a16:creationId xmlns:a16="http://schemas.microsoft.com/office/drawing/2014/main" id="{D6BEC17F-BDB5-4471-B91F-C0E48FE68C50}"/>
              </a:ext>
            </a:extLst>
          </p:cNvPr>
          <p:cNvSpPr>
            <a:spLocks xmlns:a="http://schemas.openxmlformats.org/drawingml/2006/main" noGrp="1"/>
          </p:cNvSpPr>
          <p:nvPr/>
        </p:nvSpPr>
        <p:spPr>
          <a:xfrm xmlns:a="http://schemas.openxmlformats.org/drawingml/2006/main">
            <a:off x="8610600" y="2590800"/>
            <a:ext cx="400050" cy="190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03C12988-2E1F-4595-A675-183E303E930F}"/>
              </a:ext>
            </a:extLst>
          </p:cNvPr>
          <p:cNvSpPr>
            <a:spLocks xmlns:a="http://schemas.openxmlformats.org/drawingml/2006/main" noGrp="1"/>
          </p:cNvSpPr>
          <p:nvPr/>
        </p:nvSpPr>
        <p:spPr>
          <a:xfrm xmlns:a="http://schemas.openxmlformats.org/drawingml/2006/main">
            <a:off x="9124950" y="2238375"/>
            <a:ext cx="2190750" cy="704850"/>
          </a:xfrm>
          <a:prstGeom xmlns:a="http://schemas.openxmlformats.org/drawingml/2006/main" prst="rect">
            <a:avLst/>
          </a:prstGeom>
          <a:solidFill xmlns:a="http://schemas.openxmlformats.org/drawingml/2006/main">
            <a:srgbClr val="FFFFFF"/>
          </a:solidFill>
          <a:ln xmlns:a="http://schemas.openxmlformats.org/drawingml/2006/main" w="11430">
            <a:solidFill>
              <a:srgbClr val="2D6A4F"/>
            </a:solidFill>
            <a:prstDash val="solid"/>
          </a:ln>
        </p:spPr>
      </p:sp>
      <p:sp>
        <p:nvSpPr>
          <p:cNvPr id="22" name="">
            <a:extLst xmlns:a="http://schemas.openxmlformats.org/drawingml/2006/main">
              <a:ext uri="{FF2B5EF4-FFF2-40B4-BE49-F238E27FC236}">
                <a16:creationId xmlns:a16="http://schemas.microsoft.com/office/drawing/2014/main" id="{21DF0BF2-1167-4C39-B59D-252D4F098405}"/>
              </a:ext>
            </a:extLst>
          </p:cNvPr>
          <p:cNvSpPr>
            <a:spLocks xmlns:a="http://schemas.openxmlformats.org/drawingml/2006/main" noGrp="1"/>
          </p:cNvSpPr>
          <p:nvPr/>
        </p:nvSpPr>
        <p:spPr>
          <a:xfrm xmlns:a="http://schemas.openxmlformats.org/drawingml/2006/main">
            <a:off x="9124950" y="2238375"/>
            <a:ext cx="57150" cy="7048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061D1895-7817-4B2B-8403-E11FAA9ABA67}"/>
              </a:ext>
            </a:extLst>
          </p:cNvPr>
          <p:cNvSpPr>
            <a:spLocks xmlns:a="http://schemas.openxmlformats.org/drawingml/2006/main" noGrp="1"/>
          </p:cNvSpPr>
          <p:nvPr/>
        </p:nvSpPr>
        <p:spPr>
          <a:xfrm xmlns:a="http://schemas.openxmlformats.org/drawingml/2006/main">
            <a:off x="9296400" y="2371725"/>
            <a:ext cx="1905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1">
                <a:solidFill>
                  <a:srgbClr val="142033"/>
                </a:solidFill>
                <a:latin typeface="Aptos"/>
                <a:ea typeface="Aptos"/>
                <a:cs typeface="Aptos"/>
              </a:defRPr>
            </a:pPr>
            <a:r>
              <a:rPr sz="1575" b="1">
                <a:solidFill>
                  <a:srgbClr val="142033"/>
                </a:solidFill>
                <a:latin typeface="Aptos"/>
                <a:ea typeface="Aptos"/>
                <a:cs typeface="Aptos"/>
              </a:rPr>
              <a:t>Stock Transfer</a:t>
            </a:r>
          </a:p>
        </p:txBody>
      </p:sp>
      <p:sp>
        <p:nvSpPr>
          <p:cNvPr id="24" name="">
            <a:extLst xmlns:a="http://schemas.openxmlformats.org/drawingml/2006/main">
              <a:ext uri="{FF2B5EF4-FFF2-40B4-BE49-F238E27FC236}">
                <a16:creationId xmlns:a16="http://schemas.microsoft.com/office/drawing/2014/main" id="{B9BF3637-8EC8-4C10-9904-54EE6ED92EB4}"/>
              </a:ext>
            </a:extLst>
          </p:cNvPr>
          <p:cNvSpPr>
            <a:spLocks xmlns:a="http://schemas.openxmlformats.org/drawingml/2006/main" noGrp="1"/>
          </p:cNvSpPr>
          <p:nvPr/>
        </p:nvSpPr>
        <p:spPr>
          <a:xfrm xmlns:a="http://schemas.openxmlformats.org/drawingml/2006/main">
            <a:off x="9277350" y="3143250"/>
            <a:ext cx="18859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0">
                <a:solidFill>
                  <a:srgbClr val="26384F"/>
                </a:solidFill>
                <a:latin typeface="Aptos"/>
                <a:ea typeface="Aptos"/>
                <a:cs typeface="Aptos"/>
              </a:defRPr>
            </a:pPr>
            <a:r>
              <a:rPr sz="1275" b="0">
                <a:solidFill>
                  <a:srgbClr val="26384F"/>
                </a:solidFill>
                <a:latin typeface="Aptos"/>
                <a:ea typeface="Aptos"/>
                <a:cs typeface="Aptos"/>
              </a:rPr>
              <a:t>Gatare to Nyanza movement with destination control</a:t>
            </a:r>
          </a:p>
        </p:txBody>
      </p:sp>
      <p:sp>
        <p:nvSpPr>
          <p:cNvPr id="25" name="">
            <a:extLst xmlns:a="http://schemas.openxmlformats.org/drawingml/2006/main">
              <a:ext uri="{FF2B5EF4-FFF2-40B4-BE49-F238E27FC236}">
                <a16:creationId xmlns:a16="http://schemas.microsoft.com/office/drawing/2014/main" id="{D6DD63E5-6515-4369-9100-252905E56366}"/>
              </a:ext>
            </a:extLst>
          </p:cNvPr>
          <p:cNvSpPr>
            <a:spLocks xmlns:a="http://schemas.openxmlformats.org/drawingml/2006/main" noGrp="1"/>
          </p:cNvSpPr>
          <p:nvPr/>
        </p:nvSpPr>
        <p:spPr>
          <a:xfrm xmlns:a="http://schemas.openxmlformats.org/drawingml/2006/main">
            <a:off x="1714500" y="4762500"/>
            <a:ext cx="8763000" cy="552450"/>
          </a:xfrm>
          <a:prstGeom xmlns:a="http://schemas.openxmlformats.org/drawingml/2006/main" prst="rect">
            <a:avLst/>
          </a:prstGeom>
          <a:solidFill xmlns:a="http://schemas.openxmlformats.org/drawingml/2006/main">
            <a:srgbClr val="E8F3EC"/>
          </a:solidFill>
          <a:ln xmlns:a="http://schemas.openxmlformats.org/drawingml/2006/main" w="9525">
            <a:solidFill>
              <a:srgbClr val="2D6A4F"/>
            </a:solidFill>
            <a:prstDash val="solid"/>
          </a:ln>
        </p:spPr>
      </p:sp>
      <p:sp>
        <p:nvSpPr>
          <p:cNvPr id="26" name="">
            <a:extLst xmlns:a="http://schemas.openxmlformats.org/drawingml/2006/main">
              <a:ext uri="{FF2B5EF4-FFF2-40B4-BE49-F238E27FC236}">
                <a16:creationId xmlns:a16="http://schemas.microsoft.com/office/drawing/2014/main" id="{CFE2C3E8-8DA7-43FB-9A0A-75B2B4A8E9E7}"/>
              </a:ext>
            </a:extLst>
          </p:cNvPr>
          <p:cNvSpPr>
            <a:spLocks xmlns:a="http://schemas.openxmlformats.org/drawingml/2006/main" noGrp="1"/>
          </p:cNvSpPr>
          <p:nvPr/>
        </p:nvSpPr>
        <p:spPr>
          <a:xfrm xmlns:a="http://schemas.openxmlformats.org/drawingml/2006/main">
            <a:off x="2000250" y="4886325"/>
            <a:ext cx="8191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2D6A4F"/>
                </a:solidFill>
                <a:latin typeface="Aptos"/>
                <a:ea typeface="Aptos"/>
                <a:cs typeface="Aptos"/>
              </a:defRPr>
            </a:pPr>
            <a:r>
              <a:rPr sz="1500" b="1">
                <a:solidFill>
                  <a:srgbClr val="2D6A4F"/>
                </a:solidFill>
                <a:latin typeface="Aptos"/>
                <a:ea typeface="Aptos"/>
                <a:cs typeface="Aptos"/>
              </a:rPr>
              <a:t>Management outcome: inventory balances and production reports can trace each timber movement back to its operational source.</a:t>
            </a:r>
          </a:p>
        </p:txBody>
      </p:sp>
      <p:sp>
        <p:nvSpPr>
          <p:cNvPr id="27" name="">
            <a:extLst xmlns:a="http://schemas.openxmlformats.org/drawingml/2006/main">
              <a:ext uri="{FF2B5EF4-FFF2-40B4-BE49-F238E27FC236}">
                <a16:creationId xmlns:a16="http://schemas.microsoft.com/office/drawing/2014/main" id="{8DC9C2AD-CC6F-4BB8-A091-A3B9CF4673D3}"/>
              </a:ext>
            </a:extLst>
          </p:cNvPr>
          <p:cNvSpPr>
            <a:spLocks xmlns:a="http://schemas.openxmlformats.org/drawingml/2006/main" noGrp="1"/>
          </p:cNvSpPr>
          <p:nvPr/>
        </p:nvSpPr>
        <p:spPr>
          <a:xfrm xmlns:a="http://schemas.openxmlformats.org/drawingml/2006/main">
            <a:off x="514350" y="6496050"/>
            <a:ext cx="666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67085"/>
                </a:solidFill>
                <a:latin typeface="Aptos"/>
                <a:ea typeface="Aptos"/>
                <a:cs typeface="Aptos"/>
              </a:defRPr>
            </a:pPr>
            <a:r>
              <a:rPr sz="750" b="0">
                <a:solidFill>
                  <a:srgbClr val="667085"/>
                </a:solidFill>
                <a:latin typeface="Aptos"/>
                <a:ea typeface="Aptos"/>
                <a:cs typeface="Aptos"/>
              </a:rPr>
              <a:t>UFCL ERP System | Executive Management Presentation | June 2026</a:t>
            </a:r>
          </a:p>
        </p:txBody>
      </p:sp>
      <p:sp>
        <p:nvSpPr>
          <p:cNvPr id="28" name="">
            <a:extLst xmlns:a="http://schemas.openxmlformats.org/drawingml/2006/main">
              <a:ext uri="{FF2B5EF4-FFF2-40B4-BE49-F238E27FC236}">
                <a16:creationId xmlns:a16="http://schemas.microsoft.com/office/drawing/2014/main" id="{164A7491-F5DA-4B11-9C83-F3E5FF19FD93}"/>
              </a:ext>
            </a:extLst>
          </p:cNvPr>
          <p:cNvSpPr>
            <a:spLocks xmlns:a="http://schemas.openxmlformats.org/drawingml/2006/main" noGrp="1"/>
          </p:cNvSpPr>
          <p:nvPr/>
        </p:nvSpPr>
        <p:spPr>
          <a:xfrm xmlns:a="http://schemas.openxmlformats.org/drawingml/2006/main">
            <a:off x="11258550" y="645795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67085"/>
                </a:solidFill>
                <a:latin typeface="Aptos"/>
                <a:ea typeface="Aptos"/>
                <a:cs typeface="Aptos"/>
              </a:defRPr>
            </a:pPr>
            <a:r>
              <a:rPr sz="825" b="1">
                <a:solidFill>
                  <a:srgbClr val="667085"/>
                </a:solidFill>
                <a:latin typeface="Aptos"/>
                <a:ea typeface="Aptos"/>
                <a:cs typeface="Aptos"/>
              </a:rPr>
              <a:t>10</a:t>
            </a:r>
          </a:p>
        </p:txBody>
      </p:sp>
    </p:spTree>
    <p:extLst>
      <p:ext uri="{BB962C8B-B14F-4D97-AF65-F5344CB8AC3E}">
        <p14:creationId xmlns:p14="http://schemas.microsoft.com/office/powerpoint/2010/main" val="87410248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044C5C0-B6EF-41B3-896C-A207513CF13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6CAAFE0B-2529-4312-9A6C-021D3C63ECE1}"/>
              </a:ext>
            </a:extLst>
          </p:cNvPr>
          <p:cNvSpPr>
            <a:spLocks xmlns:a="http://schemas.openxmlformats.org/drawingml/2006/main" noGrp="1"/>
          </p:cNvSpPr>
          <p:nvPr/>
        </p:nvSpPr>
        <p:spPr>
          <a:xfrm xmlns:a="http://schemas.openxmlformats.org/drawingml/2006/main">
            <a:off x="514350" y="371475"/>
            <a:ext cx="95250" cy="952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2040B5BE-DA20-455B-947C-D1D4A369D393}"/>
              </a:ext>
            </a:extLst>
          </p:cNvPr>
          <p:cNvSpPr>
            <a:spLocks xmlns:a="http://schemas.openxmlformats.org/drawingml/2006/main" noGrp="1"/>
          </p:cNvSpPr>
          <p:nvPr/>
        </p:nvSpPr>
        <p:spPr>
          <a:xfrm xmlns:a="http://schemas.openxmlformats.org/drawingml/2006/main">
            <a:off x="70485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POLES AND VALUE-ADDED TIMBER</a:t>
            </a:r>
          </a:p>
        </p:txBody>
      </p:sp>
      <p:sp>
        <p:nvSpPr>
          <p:cNvPr id="4" name="">
            <a:extLst xmlns:a="http://schemas.openxmlformats.org/drawingml/2006/main">
              <a:ext uri="{FF2B5EF4-FFF2-40B4-BE49-F238E27FC236}">
                <a16:creationId xmlns:a16="http://schemas.microsoft.com/office/drawing/2014/main" id="{E2BEF25C-4C1C-4C46-9C3C-7812A4BC163D}"/>
              </a:ext>
            </a:extLst>
          </p:cNvPr>
          <p:cNvSpPr>
            <a:spLocks xmlns:a="http://schemas.openxmlformats.org/drawingml/2006/main" noGrp="1"/>
          </p:cNvSpPr>
          <p:nvPr/>
        </p:nvSpPr>
        <p:spPr>
          <a:xfrm xmlns:a="http://schemas.openxmlformats.org/drawingml/2006/main">
            <a:off x="514350" y="685800"/>
            <a:ext cx="88582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42033"/>
                </a:solidFill>
                <a:latin typeface="Aptos Display"/>
                <a:ea typeface="Aptos Display"/>
                <a:cs typeface="Aptos Display"/>
              </a:defRPr>
            </a:pPr>
            <a:r>
              <a:rPr sz="2550" b="1">
                <a:solidFill>
                  <a:srgbClr val="142033"/>
                </a:solidFill>
                <a:latin typeface="Aptos Display"/>
                <a:ea typeface="Aptos Display"/>
                <a:cs typeface="Aptos Display"/>
              </a:rPr>
              <a:t>Specialized workflows add finance control before production and stock release.</a:t>
            </a:r>
          </a:p>
        </p:txBody>
      </p:sp>
      <p:sp>
        <p:nvSpPr>
          <p:cNvPr id="5" name="">
            <a:extLst xmlns:a="http://schemas.openxmlformats.org/drawingml/2006/main">
              <a:ext uri="{FF2B5EF4-FFF2-40B4-BE49-F238E27FC236}">
                <a16:creationId xmlns:a16="http://schemas.microsoft.com/office/drawing/2014/main" id="{ED2CD30A-A9D8-44F5-A330-924A8F6F7DA3}"/>
              </a:ext>
            </a:extLst>
          </p:cNvPr>
          <p:cNvSpPr>
            <a:spLocks xmlns:a="http://schemas.openxmlformats.org/drawingml/2006/main" noGrp="1"/>
          </p:cNvSpPr>
          <p:nvPr/>
        </p:nvSpPr>
        <p:spPr>
          <a:xfrm xmlns:a="http://schemas.openxmlformats.org/drawingml/2006/main">
            <a:off x="514350" y="1600200"/>
            <a:ext cx="11163300" cy="9525"/>
          </a:xfrm>
          <a:prstGeom xmlns:a="http://schemas.openxmlformats.org/drawingml/2006/main" prst="rect">
            <a:avLst/>
          </a:prstGeom>
          <a:solidFill xmlns:a="http://schemas.openxmlformats.org/drawingml/2006/main">
            <a:srgbClr val="D9DEE7"/>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EBBCD5A7-39F0-49FF-87BA-0A7C49E86C3B}"/>
              </a:ext>
            </a:extLst>
          </p:cNvPr>
          <p:cNvSpPr>
            <a:spLocks xmlns:a="http://schemas.openxmlformats.org/drawingml/2006/main" noGrp="1"/>
          </p:cNvSpPr>
          <p:nvPr/>
        </p:nvSpPr>
        <p:spPr>
          <a:xfrm xmlns:a="http://schemas.openxmlformats.org/drawingml/2006/main">
            <a:off x="895350" y="2038350"/>
            <a:ext cx="4476750" cy="609600"/>
          </a:xfrm>
          <a:prstGeom xmlns:a="http://schemas.openxmlformats.org/drawingml/2006/main" prst="rect">
            <a:avLst/>
          </a:prstGeom>
          <a:solidFill xmlns:a="http://schemas.openxmlformats.org/drawingml/2006/main">
            <a:srgbClr val="FFFFFF"/>
          </a:solidFill>
          <a:ln xmlns:a="http://schemas.openxmlformats.org/drawingml/2006/main" w="11430">
            <a:solidFill>
              <a:srgbClr val="B5500A"/>
            </a:solidFill>
            <a:prstDash val="solid"/>
          </a:ln>
        </p:spPr>
      </p:sp>
      <p:sp>
        <p:nvSpPr>
          <p:cNvPr id="7" name="">
            <a:extLst xmlns:a="http://schemas.openxmlformats.org/drawingml/2006/main">
              <a:ext uri="{FF2B5EF4-FFF2-40B4-BE49-F238E27FC236}">
                <a16:creationId xmlns:a16="http://schemas.microsoft.com/office/drawing/2014/main" id="{4A84C913-7DCE-4609-A25F-30565CA2975B}"/>
              </a:ext>
            </a:extLst>
          </p:cNvPr>
          <p:cNvSpPr>
            <a:spLocks xmlns:a="http://schemas.openxmlformats.org/drawingml/2006/main" noGrp="1"/>
          </p:cNvSpPr>
          <p:nvPr/>
        </p:nvSpPr>
        <p:spPr>
          <a:xfrm xmlns:a="http://schemas.openxmlformats.org/drawingml/2006/main">
            <a:off x="895350" y="2038350"/>
            <a:ext cx="57150" cy="609600"/>
          </a:xfrm>
          <a:prstGeom xmlns:a="http://schemas.openxmlformats.org/drawingml/2006/main" prst="rect">
            <a:avLst/>
          </a:prstGeom>
          <a:solidFill xmlns:a="http://schemas.openxmlformats.org/drawingml/2006/main">
            <a:srgbClr val="B5500A"/>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8D892A00-823D-42C0-922C-3409427D58FE}"/>
              </a:ext>
            </a:extLst>
          </p:cNvPr>
          <p:cNvSpPr>
            <a:spLocks xmlns:a="http://schemas.openxmlformats.org/drawingml/2006/main" noGrp="1"/>
          </p:cNvSpPr>
          <p:nvPr/>
        </p:nvSpPr>
        <p:spPr>
          <a:xfrm xmlns:a="http://schemas.openxmlformats.org/drawingml/2006/main">
            <a:off x="1066800" y="2171700"/>
            <a:ext cx="4191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75" b="1">
                <a:solidFill>
                  <a:srgbClr val="142033"/>
                </a:solidFill>
                <a:latin typeface="Aptos"/>
                <a:ea typeface="Aptos"/>
                <a:cs typeface="Aptos"/>
              </a:defRPr>
            </a:pPr>
            <a:r>
              <a:rPr sz="1275" b="1">
                <a:solidFill>
                  <a:srgbClr val="142033"/>
                </a:solidFill>
                <a:latin typeface="Aptos"/>
                <a:ea typeface="Aptos"/>
                <a:cs typeface="Aptos"/>
              </a:rPr>
              <a:t>Poles Request</a:t>
            </a:r>
          </a:p>
          <a:p xmlns:a="http://schemas.openxmlformats.org/drawingml/2006/main">
            <a:pPr algn="l">
              <a:defRPr sz="1275" b="1">
                <a:solidFill>
                  <a:srgbClr val="142033"/>
                </a:solidFill>
                <a:latin typeface="Aptos"/>
                <a:ea typeface="Aptos"/>
                <a:cs typeface="Aptos"/>
              </a:defRPr>
            </a:pPr>
            <a:r>
              <a:rPr sz="1275" b="1">
                <a:solidFill>
                  <a:srgbClr val="142033"/>
                </a:solidFill>
                <a:latin typeface="Aptos"/>
                <a:ea typeface="Aptos"/>
                <a:cs typeface="Aptos"/>
              </a:rPr>
              <a:t>Purchase request raised</a:t>
            </a:r>
          </a:p>
        </p:txBody>
      </p:sp>
      <p:sp>
        <p:nvSpPr>
          <p:cNvPr id="9" name="">
            <a:extLst xmlns:a="http://schemas.openxmlformats.org/drawingml/2006/main">
              <a:ext uri="{FF2B5EF4-FFF2-40B4-BE49-F238E27FC236}">
                <a16:creationId xmlns:a16="http://schemas.microsoft.com/office/drawing/2014/main" id="{E87D466D-9C79-4B61-BA7C-3EBD641BADDA}"/>
              </a:ext>
            </a:extLst>
          </p:cNvPr>
          <p:cNvSpPr>
            <a:spLocks xmlns:a="http://schemas.openxmlformats.org/drawingml/2006/main" noGrp="1"/>
          </p:cNvSpPr>
          <p:nvPr/>
        </p:nvSpPr>
        <p:spPr>
          <a:xfrm xmlns:a="http://schemas.openxmlformats.org/drawingml/2006/main">
            <a:off x="895350" y="2847975"/>
            <a:ext cx="4476750" cy="609600"/>
          </a:xfrm>
          <a:prstGeom xmlns:a="http://schemas.openxmlformats.org/drawingml/2006/main" prst="rect">
            <a:avLst/>
          </a:prstGeom>
          <a:solidFill xmlns:a="http://schemas.openxmlformats.org/drawingml/2006/main">
            <a:srgbClr val="F8ECE2"/>
          </a:solidFill>
          <a:ln xmlns:a="http://schemas.openxmlformats.org/drawingml/2006/main" w="11430">
            <a:solidFill>
              <a:srgbClr val="B5500A"/>
            </a:solidFill>
            <a:prstDash val="solid"/>
          </a:ln>
        </p:spPr>
      </p:sp>
      <p:sp>
        <p:nvSpPr>
          <p:cNvPr id="10" name="">
            <a:extLst xmlns:a="http://schemas.openxmlformats.org/drawingml/2006/main">
              <a:ext uri="{FF2B5EF4-FFF2-40B4-BE49-F238E27FC236}">
                <a16:creationId xmlns:a16="http://schemas.microsoft.com/office/drawing/2014/main" id="{AF9881B4-22E3-4E24-AFA2-93EEC70EC2A6}"/>
              </a:ext>
            </a:extLst>
          </p:cNvPr>
          <p:cNvSpPr>
            <a:spLocks xmlns:a="http://schemas.openxmlformats.org/drawingml/2006/main" noGrp="1"/>
          </p:cNvSpPr>
          <p:nvPr/>
        </p:nvSpPr>
        <p:spPr>
          <a:xfrm xmlns:a="http://schemas.openxmlformats.org/drawingml/2006/main">
            <a:off x="895350" y="2847975"/>
            <a:ext cx="57150" cy="609600"/>
          </a:xfrm>
          <a:prstGeom xmlns:a="http://schemas.openxmlformats.org/drawingml/2006/main" prst="rect">
            <a:avLst/>
          </a:prstGeom>
          <a:solidFill xmlns:a="http://schemas.openxmlformats.org/drawingml/2006/main">
            <a:srgbClr val="B5500A"/>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FC7023D0-B0D6-4432-915F-58D2077557B1}"/>
              </a:ext>
            </a:extLst>
          </p:cNvPr>
          <p:cNvSpPr>
            <a:spLocks xmlns:a="http://schemas.openxmlformats.org/drawingml/2006/main" noGrp="1"/>
          </p:cNvSpPr>
          <p:nvPr/>
        </p:nvSpPr>
        <p:spPr>
          <a:xfrm xmlns:a="http://schemas.openxmlformats.org/drawingml/2006/main">
            <a:off x="1066800" y="2981325"/>
            <a:ext cx="4191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75" b="1">
                <a:solidFill>
                  <a:srgbClr val="142033"/>
                </a:solidFill>
                <a:latin typeface="Aptos"/>
                <a:ea typeface="Aptos"/>
                <a:cs typeface="Aptos"/>
              </a:defRPr>
            </a:pPr>
            <a:r>
              <a:rPr sz="1275" b="1">
                <a:solidFill>
                  <a:srgbClr val="142033"/>
                </a:solidFill>
                <a:latin typeface="Aptos"/>
                <a:ea typeface="Aptos"/>
                <a:cs typeface="Aptos"/>
              </a:rPr>
              <a:t>CEO Approval</a:t>
            </a:r>
          </a:p>
          <a:p xmlns:a="http://schemas.openxmlformats.org/drawingml/2006/main">
            <a:pPr algn="l">
              <a:defRPr sz="1275" b="1">
                <a:solidFill>
                  <a:srgbClr val="142033"/>
                </a:solidFill>
                <a:latin typeface="Aptos"/>
                <a:ea typeface="Aptos"/>
                <a:cs typeface="Aptos"/>
              </a:defRPr>
            </a:pPr>
            <a:r>
              <a:rPr sz="1275" b="1">
                <a:solidFill>
                  <a:srgbClr val="142033"/>
                </a:solidFill>
                <a:latin typeface="Aptos"/>
                <a:ea typeface="Aptos"/>
                <a:cs typeface="Aptos"/>
              </a:rPr>
              <a:t>Approval gate before supplier fulfillment</a:t>
            </a:r>
          </a:p>
        </p:txBody>
      </p:sp>
      <p:sp>
        <p:nvSpPr>
          <p:cNvPr id="12" name="">
            <a:extLst xmlns:a="http://schemas.openxmlformats.org/drawingml/2006/main">
              <a:ext uri="{FF2B5EF4-FFF2-40B4-BE49-F238E27FC236}">
                <a16:creationId xmlns:a16="http://schemas.microsoft.com/office/drawing/2014/main" id="{2A3B2140-A389-42BF-A3E3-C4FF3049EB7B}"/>
              </a:ext>
            </a:extLst>
          </p:cNvPr>
          <p:cNvSpPr>
            <a:spLocks xmlns:a="http://schemas.openxmlformats.org/drawingml/2006/main" noGrp="1"/>
          </p:cNvSpPr>
          <p:nvPr/>
        </p:nvSpPr>
        <p:spPr>
          <a:xfrm xmlns:a="http://schemas.openxmlformats.org/drawingml/2006/main">
            <a:off x="895350" y="3657600"/>
            <a:ext cx="4476750" cy="609600"/>
          </a:xfrm>
          <a:prstGeom xmlns:a="http://schemas.openxmlformats.org/drawingml/2006/main" prst="rect">
            <a:avLst/>
          </a:prstGeom>
          <a:solidFill xmlns:a="http://schemas.openxmlformats.org/drawingml/2006/main">
            <a:srgbClr val="FFFFFF"/>
          </a:solidFill>
          <a:ln xmlns:a="http://schemas.openxmlformats.org/drawingml/2006/main" w="11430">
            <a:solidFill>
              <a:srgbClr val="B5500A"/>
            </a:solidFill>
            <a:prstDash val="solid"/>
          </a:ln>
        </p:spPr>
      </p:sp>
      <p:sp>
        <p:nvSpPr>
          <p:cNvPr id="13" name="">
            <a:extLst xmlns:a="http://schemas.openxmlformats.org/drawingml/2006/main">
              <a:ext uri="{FF2B5EF4-FFF2-40B4-BE49-F238E27FC236}">
                <a16:creationId xmlns:a16="http://schemas.microsoft.com/office/drawing/2014/main" id="{86DBE296-E7CB-48C0-8EE6-D26C57044364}"/>
              </a:ext>
            </a:extLst>
          </p:cNvPr>
          <p:cNvSpPr>
            <a:spLocks xmlns:a="http://schemas.openxmlformats.org/drawingml/2006/main" noGrp="1"/>
          </p:cNvSpPr>
          <p:nvPr/>
        </p:nvSpPr>
        <p:spPr>
          <a:xfrm xmlns:a="http://schemas.openxmlformats.org/drawingml/2006/main">
            <a:off x="895350" y="3657600"/>
            <a:ext cx="57150" cy="609600"/>
          </a:xfrm>
          <a:prstGeom xmlns:a="http://schemas.openxmlformats.org/drawingml/2006/main" prst="rect">
            <a:avLst/>
          </a:prstGeom>
          <a:solidFill xmlns:a="http://schemas.openxmlformats.org/drawingml/2006/main">
            <a:srgbClr val="B5500A"/>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2F193BFD-556E-457A-9D45-81B49E6BE163}"/>
              </a:ext>
            </a:extLst>
          </p:cNvPr>
          <p:cNvSpPr>
            <a:spLocks xmlns:a="http://schemas.openxmlformats.org/drawingml/2006/main" noGrp="1"/>
          </p:cNvSpPr>
          <p:nvPr/>
        </p:nvSpPr>
        <p:spPr>
          <a:xfrm xmlns:a="http://schemas.openxmlformats.org/drawingml/2006/main">
            <a:off x="1066800" y="3790950"/>
            <a:ext cx="4191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75" b="1">
                <a:solidFill>
                  <a:srgbClr val="142033"/>
                </a:solidFill>
                <a:latin typeface="Aptos"/>
                <a:ea typeface="Aptos"/>
                <a:cs typeface="Aptos"/>
              </a:defRPr>
            </a:pPr>
            <a:r>
              <a:rPr sz="1275" b="1">
                <a:solidFill>
                  <a:srgbClr val="142033"/>
                </a:solidFill>
                <a:latin typeface="Aptos"/>
                <a:ea typeface="Aptos"/>
                <a:cs typeface="Aptos"/>
              </a:rPr>
              <a:t>Delivery + QC</a:t>
            </a:r>
          </a:p>
          <a:p xmlns:a="http://schemas.openxmlformats.org/drawingml/2006/main">
            <a:pPr algn="l">
              <a:defRPr sz="1275" b="1">
                <a:solidFill>
                  <a:srgbClr val="142033"/>
                </a:solidFill>
                <a:latin typeface="Aptos"/>
                <a:ea typeface="Aptos"/>
                <a:cs typeface="Aptos"/>
              </a:defRPr>
            </a:pPr>
            <a:r>
              <a:rPr sz="1275" b="1">
                <a:solidFill>
                  <a:srgbClr val="142033"/>
                </a:solidFill>
                <a:latin typeface="Aptos"/>
                <a:ea typeface="Aptos"/>
                <a:cs typeface="Aptos"/>
              </a:rPr>
              <a:t>Delivered, approved, rejected quantities</a:t>
            </a:r>
          </a:p>
        </p:txBody>
      </p:sp>
      <p:sp>
        <p:nvSpPr>
          <p:cNvPr id="15" name="">
            <a:extLst xmlns:a="http://schemas.openxmlformats.org/drawingml/2006/main">
              <a:ext uri="{FF2B5EF4-FFF2-40B4-BE49-F238E27FC236}">
                <a16:creationId xmlns:a16="http://schemas.microsoft.com/office/drawing/2014/main" id="{0EDC88C8-938F-48F5-965A-BFD0F59DE887}"/>
              </a:ext>
            </a:extLst>
          </p:cNvPr>
          <p:cNvSpPr>
            <a:spLocks xmlns:a="http://schemas.openxmlformats.org/drawingml/2006/main" noGrp="1"/>
          </p:cNvSpPr>
          <p:nvPr/>
        </p:nvSpPr>
        <p:spPr>
          <a:xfrm xmlns:a="http://schemas.openxmlformats.org/drawingml/2006/main">
            <a:off x="895350" y="4467225"/>
            <a:ext cx="4476750" cy="609600"/>
          </a:xfrm>
          <a:prstGeom xmlns:a="http://schemas.openxmlformats.org/drawingml/2006/main" prst="rect">
            <a:avLst/>
          </a:prstGeom>
          <a:solidFill xmlns:a="http://schemas.openxmlformats.org/drawingml/2006/main">
            <a:srgbClr val="F8ECE2"/>
          </a:solidFill>
          <a:ln xmlns:a="http://schemas.openxmlformats.org/drawingml/2006/main" w="11430">
            <a:solidFill>
              <a:srgbClr val="B5500A"/>
            </a:solidFill>
            <a:prstDash val="solid"/>
          </a:ln>
        </p:spPr>
      </p:sp>
      <p:sp>
        <p:nvSpPr>
          <p:cNvPr id="16" name="">
            <a:extLst xmlns:a="http://schemas.openxmlformats.org/drawingml/2006/main">
              <a:ext uri="{FF2B5EF4-FFF2-40B4-BE49-F238E27FC236}">
                <a16:creationId xmlns:a16="http://schemas.microsoft.com/office/drawing/2014/main" id="{9BCE4950-FA80-43C8-BEAC-4EB05DE73ED7}"/>
              </a:ext>
            </a:extLst>
          </p:cNvPr>
          <p:cNvSpPr>
            <a:spLocks xmlns:a="http://schemas.openxmlformats.org/drawingml/2006/main" noGrp="1"/>
          </p:cNvSpPr>
          <p:nvPr/>
        </p:nvSpPr>
        <p:spPr>
          <a:xfrm xmlns:a="http://schemas.openxmlformats.org/drawingml/2006/main">
            <a:off x="895350" y="4467225"/>
            <a:ext cx="57150" cy="609600"/>
          </a:xfrm>
          <a:prstGeom xmlns:a="http://schemas.openxmlformats.org/drawingml/2006/main" prst="rect">
            <a:avLst/>
          </a:prstGeom>
          <a:solidFill xmlns:a="http://schemas.openxmlformats.org/drawingml/2006/main">
            <a:srgbClr val="B5500A"/>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169ACFCC-5112-4F5B-B396-D0D41CEAAD36}"/>
              </a:ext>
            </a:extLst>
          </p:cNvPr>
          <p:cNvSpPr>
            <a:spLocks xmlns:a="http://schemas.openxmlformats.org/drawingml/2006/main" noGrp="1"/>
          </p:cNvSpPr>
          <p:nvPr/>
        </p:nvSpPr>
        <p:spPr>
          <a:xfrm xmlns:a="http://schemas.openxmlformats.org/drawingml/2006/main">
            <a:off x="1066800" y="4600575"/>
            <a:ext cx="4191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75" b="1">
                <a:solidFill>
                  <a:srgbClr val="142033"/>
                </a:solidFill>
                <a:latin typeface="Aptos"/>
                <a:ea typeface="Aptos"/>
                <a:cs typeface="Aptos"/>
              </a:defRPr>
            </a:pPr>
            <a:r>
              <a:rPr sz="1275" b="1">
                <a:solidFill>
                  <a:srgbClr val="142033"/>
                </a:solidFill>
                <a:latin typeface="Aptos"/>
                <a:ea typeface="Aptos"/>
                <a:cs typeface="Aptos"/>
              </a:rPr>
              <a:t>Poles Production</a:t>
            </a:r>
          </a:p>
          <a:p xmlns:a="http://schemas.openxmlformats.org/drawingml/2006/main">
            <a:pPr algn="l">
              <a:defRPr sz="1275" b="1">
                <a:solidFill>
                  <a:srgbClr val="142033"/>
                </a:solidFill>
                <a:latin typeface="Aptos"/>
                <a:ea typeface="Aptos"/>
                <a:cs typeface="Aptos"/>
              </a:defRPr>
            </a:pPr>
            <a:r>
              <a:rPr sz="1275" b="1">
                <a:solidFill>
                  <a:srgbClr val="142033"/>
                </a:solidFill>
                <a:latin typeface="Aptos"/>
                <a:ea typeface="Aptos"/>
                <a:cs typeface="Aptos"/>
              </a:rPr>
              <a:t>Production consumes approved stock only</a:t>
            </a:r>
          </a:p>
        </p:txBody>
      </p:sp>
      <p:sp>
        <p:nvSpPr>
          <p:cNvPr id="18" name="">
            <a:extLst xmlns:a="http://schemas.openxmlformats.org/drawingml/2006/main">
              <a:ext uri="{FF2B5EF4-FFF2-40B4-BE49-F238E27FC236}">
                <a16:creationId xmlns:a16="http://schemas.microsoft.com/office/drawing/2014/main" id="{8230B1E1-2562-4CC5-B5B8-695D0A8E9D70}"/>
              </a:ext>
            </a:extLst>
          </p:cNvPr>
          <p:cNvSpPr>
            <a:spLocks xmlns:a="http://schemas.openxmlformats.org/drawingml/2006/main" noGrp="1"/>
          </p:cNvSpPr>
          <p:nvPr/>
        </p:nvSpPr>
        <p:spPr>
          <a:xfrm xmlns:a="http://schemas.openxmlformats.org/drawingml/2006/main">
            <a:off x="6572250" y="2038350"/>
            <a:ext cx="4476750" cy="609600"/>
          </a:xfrm>
          <a:prstGeom xmlns:a="http://schemas.openxmlformats.org/drawingml/2006/main" prst="rect">
            <a:avLst/>
          </a:prstGeom>
          <a:solidFill xmlns:a="http://schemas.openxmlformats.org/drawingml/2006/main">
            <a:srgbClr val="FFFFFF"/>
          </a:solidFill>
          <a:ln xmlns:a="http://schemas.openxmlformats.org/drawingml/2006/main" w="11430">
            <a:solidFill>
              <a:srgbClr val="2D6A4F"/>
            </a:solidFill>
            <a:prstDash val="solid"/>
          </a:ln>
        </p:spPr>
      </p:sp>
      <p:sp>
        <p:nvSpPr>
          <p:cNvPr id="19" name="">
            <a:extLst xmlns:a="http://schemas.openxmlformats.org/drawingml/2006/main">
              <a:ext uri="{FF2B5EF4-FFF2-40B4-BE49-F238E27FC236}">
                <a16:creationId xmlns:a16="http://schemas.microsoft.com/office/drawing/2014/main" id="{58F6E30F-8C9C-4ED7-848B-3094E9155C8D}"/>
              </a:ext>
            </a:extLst>
          </p:cNvPr>
          <p:cNvSpPr>
            <a:spLocks xmlns:a="http://schemas.openxmlformats.org/drawingml/2006/main" noGrp="1"/>
          </p:cNvSpPr>
          <p:nvPr/>
        </p:nvSpPr>
        <p:spPr>
          <a:xfrm xmlns:a="http://schemas.openxmlformats.org/drawingml/2006/main">
            <a:off x="6572250" y="2038350"/>
            <a:ext cx="57150" cy="60960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DA7E4BAA-EB52-48F0-93C4-E18838C25A60}"/>
              </a:ext>
            </a:extLst>
          </p:cNvPr>
          <p:cNvSpPr>
            <a:spLocks xmlns:a="http://schemas.openxmlformats.org/drawingml/2006/main" noGrp="1"/>
          </p:cNvSpPr>
          <p:nvPr/>
        </p:nvSpPr>
        <p:spPr>
          <a:xfrm xmlns:a="http://schemas.openxmlformats.org/drawingml/2006/main">
            <a:off x="6743700" y="2171700"/>
            <a:ext cx="4191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75" b="1">
                <a:solidFill>
                  <a:srgbClr val="142033"/>
                </a:solidFill>
                <a:latin typeface="Aptos"/>
                <a:ea typeface="Aptos"/>
                <a:cs typeface="Aptos"/>
              </a:defRPr>
            </a:pPr>
            <a:r>
              <a:rPr sz="1275" b="1">
                <a:solidFill>
                  <a:srgbClr val="142033"/>
                </a:solidFill>
                <a:latin typeface="Aptos"/>
                <a:ea typeface="Aptos"/>
                <a:cs typeface="Aptos"/>
              </a:rPr>
              <a:t>Inbound Transfer</a:t>
            </a:r>
          </a:p>
          <a:p xmlns:a="http://schemas.openxmlformats.org/drawingml/2006/main">
            <a:pPr algn="l">
              <a:defRPr sz="1275" b="1">
                <a:solidFill>
                  <a:srgbClr val="142033"/>
                </a:solidFill>
                <a:latin typeface="Aptos"/>
                <a:ea typeface="Aptos"/>
                <a:cs typeface="Aptos"/>
              </a:defRPr>
            </a:pPr>
            <a:r>
              <a:rPr sz="1275" b="1">
                <a:solidFill>
                  <a:srgbClr val="142033"/>
                </a:solidFill>
                <a:latin typeface="Aptos"/>
                <a:ea typeface="Aptos"/>
                <a:cs typeface="Aptos"/>
              </a:rPr>
              <a:t>Nyanza sees only transfers addressed to Nyanza</a:t>
            </a:r>
          </a:p>
        </p:txBody>
      </p:sp>
      <p:sp>
        <p:nvSpPr>
          <p:cNvPr id="21" name="">
            <a:extLst xmlns:a="http://schemas.openxmlformats.org/drawingml/2006/main">
              <a:ext uri="{FF2B5EF4-FFF2-40B4-BE49-F238E27FC236}">
                <a16:creationId xmlns:a16="http://schemas.microsoft.com/office/drawing/2014/main" id="{7A5B1448-60F8-4818-A7D7-FB0A11C99022}"/>
              </a:ext>
            </a:extLst>
          </p:cNvPr>
          <p:cNvSpPr>
            <a:spLocks xmlns:a="http://schemas.openxmlformats.org/drawingml/2006/main" noGrp="1"/>
          </p:cNvSpPr>
          <p:nvPr/>
        </p:nvSpPr>
        <p:spPr>
          <a:xfrm xmlns:a="http://schemas.openxmlformats.org/drawingml/2006/main">
            <a:off x="6572250" y="2847975"/>
            <a:ext cx="4476750" cy="609600"/>
          </a:xfrm>
          <a:prstGeom xmlns:a="http://schemas.openxmlformats.org/drawingml/2006/main" prst="rect">
            <a:avLst/>
          </a:prstGeom>
          <a:solidFill xmlns:a="http://schemas.openxmlformats.org/drawingml/2006/main">
            <a:srgbClr val="E8F3EC"/>
          </a:solidFill>
          <a:ln xmlns:a="http://schemas.openxmlformats.org/drawingml/2006/main" w="11430">
            <a:solidFill>
              <a:srgbClr val="2D6A4F"/>
            </a:solidFill>
            <a:prstDash val="solid"/>
          </a:ln>
        </p:spPr>
      </p:sp>
      <p:sp>
        <p:nvSpPr>
          <p:cNvPr id="22" name="">
            <a:extLst xmlns:a="http://schemas.openxmlformats.org/drawingml/2006/main">
              <a:ext uri="{FF2B5EF4-FFF2-40B4-BE49-F238E27FC236}">
                <a16:creationId xmlns:a16="http://schemas.microsoft.com/office/drawing/2014/main" id="{666D2E59-3F37-45AD-A7D7-AED8791779CA}"/>
              </a:ext>
            </a:extLst>
          </p:cNvPr>
          <p:cNvSpPr>
            <a:spLocks xmlns:a="http://schemas.openxmlformats.org/drawingml/2006/main" noGrp="1"/>
          </p:cNvSpPr>
          <p:nvPr/>
        </p:nvSpPr>
        <p:spPr>
          <a:xfrm xmlns:a="http://schemas.openxmlformats.org/drawingml/2006/main">
            <a:off x="6572250" y="2847975"/>
            <a:ext cx="57150" cy="60960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50130AA2-A5EE-4B65-932F-887E3C746784}"/>
              </a:ext>
            </a:extLst>
          </p:cNvPr>
          <p:cNvSpPr>
            <a:spLocks xmlns:a="http://schemas.openxmlformats.org/drawingml/2006/main" noGrp="1"/>
          </p:cNvSpPr>
          <p:nvPr/>
        </p:nvSpPr>
        <p:spPr>
          <a:xfrm xmlns:a="http://schemas.openxmlformats.org/drawingml/2006/main">
            <a:off x="6743700" y="2981325"/>
            <a:ext cx="4191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75" b="1">
                <a:solidFill>
                  <a:srgbClr val="142033"/>
                </a:solidFill>
                <a:latin typeface="Aptos"/>
                <a:ea typeface="Aptos"/>
                <a:cs typeface="Aptos"/>
              </a:defRPr>
            </a:pPr>
            <a:r>
              <a:rPr sz="1275" b="1">
                <a:solidFill>
                  <a:srgbClr val="142033"/>
                </a:solidFill>
                <a:latin typeface="Aptos"/>
                <a:ea typeface="Aptos"/>
                <a:cs typeface="Aptos"/>
              </a:rPr>
              <a:t>VAT Intake</a:t>
            </a:r>
          </a:p>
          <a:p xmlns:a="http://schemas.openxmlformats.org/drawingml/2006/main">
            <a:pPr algn="l">
              <a:defRPr sz="1275" b="1">
                <a:solidFill>
                  <a:srgbClr val="142033"/>
                </a:solidFill>
                <a:latin typeface="Aptos"/>
                <a:ea typeface="Aptos"/>
                <a:cs typeface="Aptos"/>
              </a:defRPr>
            </a:pPr>
            <a:r>
              <a:rPr sz="1275" b="1">
                <a:solidFill>
                  <a:srgbClr val="142033"/>
                </a:solidFill>
                <a:latin typeface="Aptos"/>
                <a:ea typeface="Aptos"/>
                <a:cs typeface="Aptos"/>
              </a:rPr>
              <a:t>Transferred timber becomes controlled input stock</a:t>
            </a:r>
          </a:p>
        </p:txBody>
      </p:sp>
      <p:sp>
        <p:nvSpPr>
          <p:cNvPr id="24" name="">
            <a:extLst xmlns:a="http://schemas.openxmlformats.org/drawingml/2006/main">
              <a:ext uri="{FF2B5EF4-FFF2-40B4-BE49-F238E27FC236}">
                <a16:creationId xmlns:a16="http://schemas.microsoft.com/office/drawing/2014/main" id="{5EE6E770-F531-49E0-961D-339079346801}"/>
              </a:ext>
            </a:extLst>
          </p:cNvPr>
          <p:cNvSpPr>
            <a:spLocks xmlns:a="http://schemas.openxmlformats.org/drawingml/2006/main" noGrp="1"/>
          </p:cNvSpPr>
          <p:nvPr/>
        </p:nvSpPr>
        <p:spPr>
          <a:xfrm xmlns:a="http://schemas.openxmlformats.org/drawingml/2006/main">
            <a:off x="6572250" y="3657600"/>
            <a:ext cx="4476750" cy="609600"/>
          </a:xfrm>
          <a:prstGeom xmlns:a="http://schemas.openxmlformats.org/drawingml/2006/main" prst="rect">
            <a:avLst/>
          </a:prstGeom>
          <a:solidFill xmlns:a="http://schemas.openxmlformats.org/drawingml/2006/main">
            <a:srgbClr val="FFFFFF"/>
          </a:solidFill>
          <a:ln xmlns:a="http://schemas.openxmlformats.org/drawingml/2006/main" w="11430">
            <a:solidFill>
              <a:srgbClr val="2D6A4F"/>
            </a:solidFill>
            <a:prstDash val="solid"/>
          </a:ln>
        </p:spPr>
      </p:sp>
      <p:sp>
        <p:nvSpPr>
          <p:cNvPr id="25" name="">
            <a:extLst xmlns:a="http://schemas.openxmlformats.org/drawingml/2006/main">
              <a:ext uri="{FF2B5EF4-FFF2-40B4-BE49-F238E27FC236}">
                <a16:creationId xmlns:a16="http://schemas.microsoft.com/office/drawing/2014/main" id="{2E33FF0B-401F-4D0C-A40A-83B57C3927B6}"/>
              </a:ext>
            </a:extLst>
          </p:cNvPr>
          <p:cNvSpPr>
            <a:spLocks xmlns:a="http://schemas.openxmlformats.org/drawingml/2006/main" noGrp="1"/>
          </p:cNvSpPr>
          <p:nvPr/>
        </p:nvSpPr>
        <p:spPr>
          <a:xfrm xmlns:a="http://schemas.openxmlformats.org/drawingml/2006/main">
            <a:off x="6572250" y="3657600"/>
            <a:ext cx="57150" cy="60960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9056117B-76FE-413B-8F42-119491851EBE}"/>
              </a:ext>
            </a:extLst>
          </p:cNvPr>
          <p:cNvSpPr>
            <a:spLocks xmlns:a="http://schemas.openxmlformats.org/drawingml/2006/main" noGrp="1"/>
          </p:cNvSpPr>
          <p:nvPr/>
        </p:nvSpPr>
        <p:spPr>
          <a:xfrm xmlns:a="http://schemas.openxmlformats.org/drawingml/2006/main">
            <a:off x="6743700" y="3790950"/>
            <a:ext cx="4191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75" b="1">
                <a:solidFill>
                  <a:srgbClr val="142033"/>
                </a:solidFill>
                <a:latin typeface="Aptos"/>
                <a:ea typeface="Aptos"/>
                <a:cs typeface="Aptos"/>
              </a:defRPr>
            </a:pPr>
            <a:r>
              <a:rPr sz="1275" b="1">
                <a:solidFill>
                  <a:srgbClr val="142033"/>
                </a:solidFill>
                <a:latin typeface="Aptos"/>
                <a:ea typeface="Aptos"/>
                <a:cs typeface="Aptos"/>
              </a:rPr>
              <a:t>Value Added Production</a:t>
            </a:r>
          </a:p>
          <a:p xmlns:a="http://schemas.openxmlformats.org/drawingml/2006/main">
            <a:pPr algn="l">
              <a:defRPr sz="1275" b="1">
                <a:solidFill>
                  <a:srgbClr val="142033"/>
                </a:solidFill>
                <a:latin typeface="Aptos"/>
                <a:ea typeface="Aptos"/>
                <a:cs typeface="Aptos"/>
              </a:defRPr>
            </a:pPr>
            <a:r>
              <a:rPr sz="1275" b="1">
                <a:solidFill>
                  <a:srgbClr val="142033"/>
                </a:solidFill>
                <a:latin typeface="Aptos"/>
                <a:ea typeface="Aptos"/>
                <a:cs typeface="Aptos"/>
              </a:rPr>
              <a:t>Finished product and waste captured</a:t>
            </a:r>
          </a:p>
        </p:txBody>
      </p:sp>
      <p:sp>
        <p:nvSpPr>
          <p:cNvPr id="27" name="">
            <a:extLst xmlns:a="http://schemas.openxmlformats.org/drawingml/2006/main">
              <a:ext uri="{FF2B5EF4-FFF2-40B4-BE49-F238E27FC236}">
                <a16:creationId xmlns:a16="http://schemas.microsoft.com/office/drawing/2014/main" id="{98231FD8-C79D-4620-A9C8-3184667C98EB}"/>
              </a:ext>
            </a:extLst>
          </p:cNvPr>
          <p:cNvSpPr>
            <a:spLocks xmlns:a="http://schemas.openxmlformats.org/drawingml/2006/main" noGrp="1"/>
          </p:cNvSpPr>
          <p:nvPr/>
        </p:nvSpPr>
        <p:spPr>
          <a:xfrm xmlns:a="http://schemas.openxmlformats.org/drawingml/2006/main">
            <a:off x="6572250" y="4467225"/>
            <a:ext cx="4476750" cy="609600"/>
          </a:xfrm>
          <a:prstGeom xmlns:a="http://schemas.openxmlformats.org/drawingml/2006/main" prst="rect">
            <a:avLst/>
          </a:prstGeom>
          <a:solidFill xmlns:a="http://schemas.openxmlformats.org/drawingml/2006/main">
            <a:srgbClr val="E8F3EC"/>
          </a:solidFill>
          <a:ln xmlns:a="http://schemas.openxmlformats.org/drawingml/2006/main" w="11430">
            <a:solidFill>
              <a:srgbClr val="2D6A4F"/>
            </a:solidFill>
            <a:prstDash val="solid"/>
          </a:ln>
        </p:spPr>
      </p:sp>
      <p:sp>
        <p:nvSpPr>
          <p:cNvPr id="28" name="">
            <a:extLst xmlns:a="http://schemas.openxmlformats.org/drawingml/2006/main">
              <a:ext uri="{FF2B5EF4-FFF2-40B4-BE49-F238E27FC236}">
                <a16:creationId xmlns:a16="http://schemas.microsoft.com/office/drawing/2014/main" id="{4A4812DD-4752-4C13-B739-6FA9441799AE}"/>
              </a:ext>
            </a:extLst>
          </p:cNvPr>
          <p:cNvSpPr>
            <a:spLocks xmlns:a="http://schemas.openxmlformats.org/drawingml/2006/main" noGrp="1"/>
          </p:cNvSpPr>
          <p:nvPr/>
        </p:nvSpPr>
        <p:spPr>
          <a:xfrm xmlns:a="http://schemas.openxmlformats.org/drawingml/2006/main">
            <a:off x="6572250" y="4467225"/>
            <a:ext cx="57150" cy="60960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9E8173B8-CB90-46F0-8EDF-893B0A578861}"/>
              </a:ext>
            </a:extLst>
          </p:cNvPr>
          <p:cNvSpPr>
            <a:spLocks xmlns:a="http://schemas.openxmlformats.org/drawingml/2006/main" noGrp="1"/>
          </p:cNvSpPr>
          <p:nvPr/>
        </p:nvSpPr>
        <p:spPr>
          <a:xfrm xmlns:a="http://schemas.openxmlformats.org/drawingml/2006/main">
            <a:off x="6743700" y="4600575"/>
            <a:ext cx="4191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75" b="1">
                <a:solidFill>
                  <a:srgbClr val="142033"/>
                </a:solidFill>
                <a:latin typeface="Aptos"/>
                <a:ea typeface="Aptos"/>
                <a:cs typeface="Aptos"/>
              </a:defRPr>
            </a:pPr>
            <a:r>
              <a:rPr sz="1275" b="1">
                <a:solidFill>
                  <a:srgbClr val="142033"/>
                </a:solidFill>
                <a:latin typeface="Aptos"/>
                <a:ea typeface="Aptos"/>
                <a:cs typeface="Aptos"/>
              </a:rPr>
              <a:t>Sales / Stock</a:t>
            </a:r>
          </a:p>
          <a:p xmlns:a="http://schemas.openxmlformats.org/drawingml/2006/main">
            <a:pPr algn="l">
              <a:defRPr sz="1275" b="1">
                <a:solidFill>
                  <a:srgbClr val="142033"/>
                </a:solidFill>
                <a:latin typeface="Aptos"/>
                <a:ea typeface="Aptos"/>
                <a:cs typeface="Aptos"/>
              </a:defRPr>
            </a:pPr>
            <a:r>
              <a:rPr sz="1275" b="1">
                <a:solidFill>
                  <a:srgbClr val="142033"/>
                </a:solidFill>
                <a:latin typeface="Aptos"/>
                <a:ea typeface="Aptos"/>
                <a:cs typeface="Aptos"/>
              </a:rPr>
              <a:t>Reports reconcile transfer to sale</a:t>
            </a:r>
          </a:p>
        </p:txBody>
      </p:sp>
      <p:sp>
        <p:nvSpPr>
          <p:cNvPr id="30" name="">
            <a:extLst xmlns:a="http://schemas.openxmlformats.org/drawingml/2006/main">
              <a:ext uri="{FF2B5EF4-FFF2-40B4-BE49-F238E27FC236}">
                <a16:creationId xmlns:a16="http://schemas.microsoft.com/office/drawing/2014/main" id="{9148FFA8-DB5A-4E73-B4F7-DD7E0B8975F5}"/>
              </a:ext>
            </a:extLst>
          </p:cNvPr>
          <p:cNvSpPr>
            <a:spLocks xmlns:a="http://schemas.openxmlformats.org/drawingml/2006/main" noGrp="1"/>
          </p:cNvSpPr>
          <p:nvPr/>
        </p:nvSpPr>
        <p:spPr>
          <a:xfrm xmlns:a="http://schemas.openxmlformats.org/drawingml/2006/main">
            <a:off x="895350" y="1695450"/>
            <a:ext cx="2857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B5500A"/>
                </a:solidFill>
                <a:latin typeface="Aptos"/>
                <a:ea typeface="Aptos"/>
                <a:cs typeface="Aptos"/>
              </a:defRPr>
            </a:pPr>
            <a:r>
              <a:rPr sz="1650" b="1">
                <a:solidFill>
                  <a:srgbClr val="B5500A"/>
                </a:solidFill>
                <a:latin typeface="Aptos"/>
                <a:ea typeface="Aptos"/>
                <a:cs typeface="Aptos"/>
              </a:rPr>
              <a:t>Poles Workflow</a:t>
            </a:r>
          </a:p>
        </p:txBody>
      </p:sp>
      <p:sp>
        <p:nvSpPr>
          <p:cNvPr id="31" name="">
            <a:extLst xmlns:a="http://schemas.openxmlformats.org/drawingml/2006/main">
              <a:ext uri="{FF2B5EF4-FFF2-40B4-BE49-F238E27FC236}">
                <a16:creationId xmlns:a16="http://schemas.microsoft.com/office/drawing/2014/main" id="{130BF646-B4D2-4002-94F2-32A8C178C2F0}"/>
              </a:ext>
            </a:extLst>
          </p:cNvPr>
          <p:cNvSpPr>
            <a:spLocks xmlns:a="http://schemas.openxmlformats.org/drawingml/2006/main" noGrp="1"/>
          </p:cNvSpPr>
          <p:nvPr/>
        </p:nvSpPr>
        <p:spPr>
          <a:xfrm xmlns:a="http://schemas.openxmlformats.org/drawingml/2006/main">
            <a:off x="6572250" y="1695450"/>
            <a:ext cx="3619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D6A4F"/>
                </a:solidFill>
                <a:latin typeface="Aptos"/>
                <a:ea typeface="Aptos"/>
                <a:cs typeface="Aptos"/>
              </a:defRPr>
            </a:pPr>
            <a:r>
              <a:rPr sz="1650" b="1">
                <a:solidFill>
                  <a:srgbClr val="2D6A4F"/>
                </a:solidFill>
                <a:latin typeface="Aptos"/>
                <a:ea typeface="Aptos"/>
                <a:cs typeface="Aptos"/>
              </a:rPr>
              <a:t>Value Added Timber Workflow</a:t>
            </a:r>
          </a:p>
        </p:txBody>
      </p:sp>
      <p:sp>
        <p:nvSpPr>
          <p:cNvPr id="32" name="">
            <a:extLst xmlns:a="http://schemas.openxmlformats.org/drawingml/2006/main">
              <a:ext uri="{FF2B5EF4-FFF2-40B4-BE49-F238E27FC236}">
                <a16:creationId xmlns:a16="http://schemas.microsoft.com/office/drawing/2014/main" id="{2C767FDA-4E88-40B7-8447-2C9D3E83AB7C}"/>
              </a:ext>
            </a:extLst>
          </p:cNvPr>
          <p:cNvSpPr>
            <a:spLocks xmlns:a="http://schemas.openxmlformats.org/drawingml/2006/main" noGrp="1"/>
          </p:cNvSpPr>
          <p:nvPr/>
        </p:nvSpPr>
        <p:spPr>
          <a:xfrm xmlns:a="http://schemas.openxmlformats.org/drawingml/2006/main">
            <a:off x="514350" y="6496050"/>
            <a:ext cx="666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67085"/>
                </a:solidFill>
                <a:latin typeface="Aptos"/>
                <a:ea typeface="Aptos"/>
                <a:cs typeface="Aptos"/>
              </a:defRPr>
            </a:pPr>
            <a:r>
              <a:rPr sz="750" b="0">
                <a:solidFill>
                  <a:srgbClr val="667085"/>
                </a:solidFill>
                <a:latin typeface="Aptos"/>
                <a:ea typeface="Aptos"/>
                <a:cs typeface="Aptos"/>
              </a:rPr>
              <a:t>UFCL ERP System | Executive Management Presentation | June 2026</a:t>
            </a:r>
          </a:p>
        </p:txBody>
      </p:sp>
      <p:sp>
        <p:nvSpPr>
          <p:cNvPr id="33" name="">
            <a:extLst xmlns:a="http://schemas.openxmlformats.org/drawingml/2006/main">
              <a:ext uri="{FF2B5EF4-FFF2-40B4-BE49-F238E27FC236}">
                <a16:creationId xmlns:a16="http://schemas.microsoft.com/office/drawing/2014/main" id="{F89825F4-5874-47BE-AAA5-2DA61BACC228}"/>
              </a:ext>
            </a:extLst>
          </p:cNvPr>
          <p:cNvSpPr>
            <a:spLocks xmlns:a="http://schemas.openxmlformats.org/drawingml/2006/main" noGrp="1"/>
          </p:cNvSpPr>
          <p:nvPr/>
        </p:nvSpPr>
        <p:spPr>
          <a:xfrm xmlns:a="http://schemas.openxmlformats.org/drawingml/2006/main">
            <a:off x="11258550" y="645795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67085"/>
                </a:solidFill>
                <a:latin typeface="Aptos"/>
                <a:ea typeface="Aptos"/>
                <a:cs typeface="Aptos"/>
              </a:defRPr>
            </a:pPr>
            <a:r>
              <a:rPr sz="825" b="1">
                <a:solidFill>
                  <a:srgbClr val="667085"/>
                </a:solidFill>
                <a:latin typeface="Aptos"/>
                <a:ea typeface="Aptos"/>
                <a:cs typeface="Aptos"/>
              </a:rPr>
              <a:t>11</a:t>
            </a:r>
          </a:p>
        </p:txBody>
      </p:sp>
    </p:spTree>
    <p:extLst>
      <p:ext uri="{BB962C8B-B14F-4D97-AF65-F5344CB8AC3E}">
        <p14:creationId xmlns:p14="http://schemas.microsoft.com/office/powerpoint/2010/main" val="200295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843B76F-F1B1-4913-A5EC-EFD33CCB004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309B4CD0-BFD4-4EA8-82F4-93A73A5FCB64}"/>
              </a:ext>
            </a:extLst>
          </p:cNvPr>
          <p:cNvSpPr>
            <a:spLocks xmlns:a="http://schemas.openxmlformats.org/drawingml/2006/main" noGrp="1"/>
          </p:cNvSpPr>
          <p:nvPr/>
        </p:nvSpPr>
        <p:spPr>
          <a:xfrm xmlns:a="http://schemas.openxmlformats.org/drawingml/2006/main">
            <a:off x="514350" y="371475"/>
            <a:ext cx="95250" cy="952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ADC22E15-77D9-4543-81B1-A836E8783E01}"/>
              </a:ext>
            </a:extLst>
          </p:cNvPr>
          <p:cNvSpPr>
            <a:spLocks xmlns:a="http://schemas.openxmlformats.org/drawingml/2006/main" noGrp="1"/>
          </p:cNvSpPr>
          <p:nvPr/>
        </p:nvSpPr>
        <p:spPr>
          <a:xfrm xmlns:a="http://schemas.openxmlformats.org/drawingml/2006/main">
            <a:off x="70485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SUPPORTING WORKFLOWS</a:t>
            </a:r>
          </a:p>
        </p:txBody>
      </p:sp>
      <p:sp>
        <p:nvSpPr>
          <p:cNvPr id="4" name="">
            <a:extLst xmlns:a="http://schemas.openxmlformats.org/drawingml/2006/main">
              <a:ext uri="{FF2B5EF4-FFF2-40B4-BE49-F238E27FC236}">
                <a16:creationId xmlns:a16="http://schemas.microsoft.com/office/drawing/2014/main" id="{5919652C-51F7-4403-B9D7-DE719B9EF2EC}"/>
              </a:ext>
            </a:extLst>
          </p:cNvPr>
          <p:cNvSpPr>
            <a:spLocks xmlns:a="http://schemas.openxmlformats.org/drawingml/2006/main" noGrp="1"/>
          </p:cNvSpPr>
          <p:nvPr/>
        </p:nvSpPr>
        <p:spPr>
          <a:xfrm xmlns:a="http://schemas.openxmlformats.org/drawingml/2006/main">
            <a:off x="514350" y="685800"/>
            <a:ext cx="88582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42033"/>
                </a:solidFill>
                <a:latin typeface="Aptos Display"/>
                <a:ea typeface="Aptos Display"/>
                <a:cs typeface="Aptos Display"/>
              </a:defRPr>
            </a:pPr>
            <a:r>
              <a:rPr sz="2550" b="1">
                <a:solidFill>
                  <a:srgbClr val="142033"/>
                </a:solidFill>
                <a:latin typeface="Aptos Display"/>
                <a:ea typeface="Aptos Display"/>
                <a:cs typeface="Aptos Display"/>
              </a:rPr>
              <a:t>Operational support workflows close the gaps around people, materials, deliveries, fuel, and machines.</a:t>
            </a:r>
          </a:p>
        </p:txBody>
      </p:sp>
      <p:sp>
        <p:nvSpPr>
          <p:cNvPr id="5" name="">
            <a:extLst xmlns:a="http://schemas.openxmlformats.org/drawingml/2006/main">
              <a:ext uri="{FF2B5EF4-FFF2-40B4-BE49-F238E27FC236}">
                <a16:creationId xmlns:a16="http://schemas.microsoft.com/office/drawing/2014/main" id="{2D134203-6674-4B67-9662-E2A06B1D6181}"/>
              </a:ext>
            </a:extLst>
          </p:cNvPr>
          <p:cNvSpPr>
            <a:spLocks xmlns:a="http://schemas.openxmlformats.org/drawingml/2006/main" noGrp="1"/>
          </p:cNvSpPr>
          <p:nvPr/>
        </p:nvSpPr>
        <p:spPr>
          <a:xfrm xmlns:a="http://schemas.openxmlformats.org/drawingml/2006/main">
            <a:off x="514350" y="1600200"/>
            <a:ext cx="11163300" cy="9525"/>
          </a:xfrm>
          <a:prstGeom xmlns:a="http://schemas.openxmlformats.org/drawingml/2006/main" prst="rect">
            <a:avLst/>
          </a:prstGeom>
          <a:solidFill xmlns:a="http://schemas.openxmlformats.org/drawingml/2006/main">
            <a:srgbClr val="D9DEE7"/>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745FF250-5447-48DD-A293-692C5A470B21}"/>
              </a:ext>
            </a:extLst>
          </p:cNvPr>
          <p:cNvSpPr>
            <a:spLocks xmlns:a="http://schemas.openxmlformats.org/drawingml/2006/main" noGrp="1"/>
          </p:cNvSpPr>
          <p:nvPr/>
        </p:nvSpPr>
        <p:spPr>
          <a:xfrm xmlns:a="http://schemas.openxmlformats.org/drawingml/2006/main">
            <a:off x="857250" y="2190750"/>
            <a:ext cx="4476750" cy="666750"/>
          </a:xfrm>
          <a:prstGeom xmlns:a="http://schemas.openxmlformats.org/drawingml/2006/main" prst="rect">
            <a:avLst/>
          </a:prstGeom>
          <a:solidFill xmlns:a="http://schemas.openxmlformats.org/drawingml/2006/main">
            <a:srgbClr val="FFFFFF"/>
          </a:solidFill>
          <a:ln xmlns:a="http://schemas.openxmlformats.org/drawingml/2006/main" w="11430">
            <a:solidFill>
              <a:srgbClr val="1A3C5E"/>
            </a:solidFill>
            <a:prstDash val="solid"/>
          </a:ln>
        </p:spPr>
      </p:sp>
      <p:sp>
        <p:nvSpPr>
          <p:cNvPr id="7" name="">
            <a:extLst xmlns:a="http://schemas.openxmlformats.org/drawingml/2006/main">
              <a:ext uri="{FF2B5EF4-FFF2-40B4-BE49-F238E27FC236}">
                <a16:creationId xmlns:a16="http://schemas.microsoft.com/office/drawing/2014/main" id="{E2BB2517-EFD7-4767-BDBB-1A34AF202CE7}"/>
              </a:ext>
            </a:extLst>
          </p:cNvPr>
          <p:cNvSpPr>
            <a:spLocks xmlns:a="http://schemas.openxmlformats.org/drawingml/2006/main" noGrp="1"/>
          </p:cNvSpPr>
          <p:nvPr/>
        </p:nvSpPr>
        <p:spPr>
          <a:xfrm xmlns:a="http://schemas.openxmlformats.org/drawingml/2006/main">
            <a:off x="857250" y="2190750"/>
            <a:ext cx="57150" cy="666750"/>
          </a:xfrm>
          <a:prstGeom xmlns:a="http://schemas.openxmlformats.org/drawingml/2006/main" prst="rect">
            <a:avLst/>
          </a:prstGeom>
          <a:solidFill xmlns:a="http://schemas.openxmlformats.org/drawingml/2006/main">
            <a:srgbClr val="1A3C5E"/>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5C00675B-2E68-47F1-B75F-5D313B567A75}"/>
              </a:ext>
            </a:extLst>
          </p:cNvPr>
          <p:cNvSpPr>
            <a:spLocks xmlns:a="http://schemas.openxmlformats.org/drawingml/2006/main" noGrp="1"/>
          </p:cNvSpPr>
          <p:nvPr/>
        </p:nvSpPr>
        <p:spPr>
          <a:xfrm xmlns:a="http://schemas.openxmlformats.org/drawingml/2006/main">
            <a:off x="1028700" y="2324100"/>
            <a:ext cx="4191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42033"/>
                </a:solidFill>
                <a:latin typeface="Aptos"/>
                <a:ea typeface="Aptos"/>
                <a:cs typeface="Aptos"/>
              </a:defRPr>
            </a:pPr>
            <a:r>
              <a:rPr sz="1725" b="1">
                <a:solidFill>
                  <a:srgbClr val="142033"/>
                </a:solidFill>
                <a:latin typeface="Aptos"/>
                <a:ea typeface="Aptos"/>
                <a:cs typeface="Aptos"/>
              </a:rPr>
              <a:t>Material Requests</a:t>
            </a:r>
          </a:p>
        </p:txBody>
      </p:sp>
      <p:sp>
        <p:nvSpPr>
          <p:cNvPr id="9" name="">
            <a:extLst xmlns:a="http://schemas.openxmlformats.org/drawingml/2006/main">
              <a:ext uri="{FF2B5EF4-FFF2-40B4-BE49-F238E27FC236}">
                <a16:creationId xmlns:a16="http://schemas.microsoft.com/office/drawing/2014/main" id="{5F6B6AFB-7833-4535-B552-685574E31309}"/>
              </a:ext>
            </a:extLst>
          </p:cNvPr>
          <p:cNvSpPr>
            <a:spLocks xmlns:a="http://schemas.openxmlformats.org/drawingml/2006/main" noGrp="1"/>
          </p:cNvSpPr>
          <p:nvPr/>
        </p:nvSpPr>
        <p:spPr>
          <a:xfrm xmlns:a="http://schemas.openxmlformats.org/drawingml/2006/main">
            <a:off x="1047750" y="3028950"/>
            <a:ext cx="40386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6384F"/>
                </a:solidFill>
                <a:latin typeface="Aptos"/>
                <a:ea typeface="Aptos"/>
                <a:cs typeface="Aptos"/>
              </a:defRPr>
            </a:pPr>
            <a:r>
              <a:rPr sz="1350" b="0">
                <a:solidFill>
                  <a:srgbClr val="26384F"/>
                </a:solidFill>
                <a:latin typeface="Aptos"/>
                <a:ea typeface="Aptos"/>
                <a:cs typeface="Aptos"/>
              </a:rPr>
              <a:t>Request, approval, issue, stock impact</a:t>
            </a:r>
          </a:p>
        </p:txBody>
      </p:sp>
      <p:sp>
        <p:nvSpPr>
          <p:cNvPr id="10" name="">
            <a:extLst xmlns:a="http://schemas.openxmlformats.org/drawingml/2006/main">
              <a:ext uri="{FF2B5EF4-FFF2-40B4-BE49-F238E27FC236}">
                <a16:creationId xmlns:a16="http://schemas.microsoft.com/office/drawing/2014/main" id="{561B9D2F-DB6E-4486-9F69-2A714AAC8885}"/>
              </a:ext>
            </a:extLst>
          </p:cNvPr>
          <p:cNvSpPr>
            <a:spLocks xmlns:a="http://schemas.openxmlformats.org/drawingml/2006/main" noGrp="1"/>
          </p:cNvSpPr>
          <p:nvPr/>
        </p:nvSpPr>
        <p:spPr>
          <a:xfrm xmlns:a="http://schemas.openxmlformats.org/drawingml/2006/main">
            <a:off x="6286500" y="2190750"/>
            <a:ext cx="4476750" cy="666750"/>
          </a:xfrm>
          <a:prstGeom xmlns:a="http://schemas.openxmlformats.org/drawingml/2006/main" prst="rect">
            <a:avLst/>
          </a:prstGeom>
          <a:solidFill xmlns:a="http://schemas.openxmlformats.org/drawingml/2006/main">
            <a:srgbClr val="FFFFFF"/>
          </a:solidFill>
          <a:ln xmlns:a="http://schemas.openxmlformats.org/drawingml/2006/main" w="11430">
            <a:solidFill>
              <a:srgbClr val="2D6A4F"/>
            </a:solidFill>
            <a:prstDash val="solid"/>
          </a:ln>
        </p:spPr>
      </p:sp>
      <p:sp>
        <p:nvSpPr>
          <p:cNvPr id="11" name="">
            <a:extLst xmlns:a="http://schemas.openxmlformats.org/drawingml/2006/main">
              <a:ext uri="{FF2B5EF4-FFF2-40B4-BE49-F238E27FC236}">
                <a16:creationId xmlns:a16="http://schemas.microsoft.com/office/drawing/2014/main" id="{DA1BC673-483A-4163-B934-24AA0B1B254B}"/>
              </a:ext>
            </a:extLst>
          </p:cNvPr>
          <p:cNvSpPr>
            <a:spLocks xmlns:a="http://schemas.openxmlformats.org/drawingml/2006/main" noGrp="1"/>
          </p:cNvSpPr>
          <p:nvPr/>
        </p:nvSpPr>
        <p:spPr>
          <a:xfrm xmlns:a="http://schemas.openxmlformats.org/drawingml/2006/main">
            <a:off x="6286500" y="2190750"/>
            <a:ext cx="57150" cy="6667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A5EFE262-4642-447B-8911-88D83DF04251}"/>
              </a:ext>
            </a:extLst>
          </p:cNvPr>
          <p:cNvSpPr>
            <a:spLocks xmlns:a="http://schemas.openxmlformats.org/drawingml/2006/main" noGrp="1"/>
          </p:cNvSpPr>
          <p:nvPr/>
        </p:nvSpPr>
        <p:spPr>
          <a:xfrm xmlns:a="http://schemas.openxmlformats.org/drawingml/2006/main">
            <a:off x="6457950" y="2324100"/>
            <a:ext cx="4191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42033"/>
                </a:solidFill>
                <a:latin typeface="Aptos"/>
                <a:ea typeface="Aptos"/>
                <a:cs typeface="Aptos"/>
              </a:defRPr>
            </a:pPr>
            <a:r>
              <a:rPr sz="1725" b="1">
                <a:solidFill>
                  <a:srgbClr val="142033"/>
                </a:solidFill>
                <a:latin typeface="Aptos"/>
                <a:ea typeface="Aptos"/>
                <a:cs typeface="Aptos"/>
              </a:rPr>
              <a:t>Casual Labour</a:t>
            </a:r>
          </a:p>
        </p:txBody>
      </p:sp>
      <p:sp>
        <p:nvSpPr>
          <p:cNvPr id="13" name="">
            <a:extLst xmlns:a="http://schemas.openxmlformats.org/drawingml/2006/main">
              <a:ext uri="{FF2B5EF4-FFF2-40B4-BE49-F238E27FC236}">
                <a16:creationId xmlns:a16="http://schemas.microsoft.com/office/drawing/2014/main" id="{26271175-B4DC-43A1-8C86-50671B61A5BC}"/>
              </a:ext>
            </a:extLst>
          </p:cNvPr>
          <p:cNvSpPr>
            <a:spLocks xmlns:a="http://schemas.openxmlformats.org/drawingml/2006/main" noGrp="1"/>
          </p:cNvSpPr>
          <p:nvPr/>
        </p:nvSpPr>
        <p:spPr>
          <a:xfrm xmlns:a="http://schemas.openxmlformats.org/drawingml/2006/main">
            <a:off x="6477000" y="3028950"/>
            <a:ext cx="40386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6384F"/>
                </a:solidFill>
                <a:latin typeface="Aptos"/>
                <a:ea typeface="Aptos"/>
                <a:cs typeface="Aptos"/>
              </a:defRPr>
            </a:pPr>
            <a:r>
              <a:rPr sz="1350" b="0">
                <a:solidFill>
                  <a:srgbClr val="26384F"/>
                </a:solidFill>
                <a:latin typeface="Aptos"/>
                <a:ea typeface="Aptos"/>
                <a:cs typeface="Aptos"/>
              </a:rPr>
              <a:t>Daily labour capture, supervisor review, cost evidence</a:t>
            </a:r>
          </a:p>
        </p:txBody>
      </p:sp>
      <p:sp>
        <p:nvSpPr>
          <p:cNvPr id="14" name="">
            <a:extLst xmlns:a="http://schemas.openxmlformats.org/drawingml/2006/main">
              <a:ext uri="{FF2B5EF4-FFF2-40B4-BE49-F238E27FC236}">
                <a16:creationId xmlns:a16="http://schemas.microsoft.com/office/drawing/2014/main" id="{37C1C48E-C51E-4F05-B043-0F65F80F6A79}"/>
              </a:ext>
            </a:extLst>
          </p:cNvPr>
          <p:cNvSpPr>
            <a:spLocks xmlns:a="http://schemas.openxmlformats.org/drawingml/2006/main" noGrp="1"/>
          </p:cNvSpPr>
          <p:nvPr/>
        </p:nvSpPr>
        <p:spPr>
          <a:xfrm xmlns:a="http://schemas.openxmlformats.org/drawingml/2006/main">
            <a:off x="857250" y="4048125"/>
            <a:ext cx="4476750" cy="666750"/>
          </a:xfrm>
          <a:prstGeom xmlns:a="http://schemas.openxmlformats.org/drawingml/2006/main" prst="rect">
            <a:avLst/>
          </a:prstGeom>
          <a:solidFill xmlns:a="http://schemas.openxmlformats.org/drawingml/2006/main">
            <a:srgbClr val="FFFFFF"/>
          </a:solidFill>
          <a:ln xmlns:a="http://schemas.openxmlformats.org/drawingml/2006/main" w="11430">
            <a:solidFill>
              <a:srgbClr val="B5500A"/>
            </a:solidFill>
            <a:prstDash val="solid"/>
          </a:ln>
        </p:spPr>
      </p:sp>
      <p:sp>
        <p:nvSpPr>
          <p:cNvPr id="15" name="">
            <a:extLst xmlns:a="http://schemas.openxmlformats.org/drawingml/2006/main">
              <a:ext uri="{FF2B5EF4-FFF2-40B4-BE49-F238E27FC236}">
                <a16:creationId xmlns:a16="http://schemas.microsoft.com/office/drawing/2014/main" id="{6786FF38-61D8-4FC1-BD82-AA5EB3FCFD3B}"/>
              </a:ext>
            </a:extLst>
          </p:cNvPr>
          <p:cNvSpPr>
            <a:spLocks xmlns:a="http://schemas.openxmlformats.org/drawingml/2006/main" noGrp="1"/>
          </p:cNvSpPr>
          <p:nvPr/>
        </p:nvSpPr>
        <p:spPr>
          <a:xfrm xmlns:a="http://schemas.openxmlformats.org/drawingml/2006/main">
            <a:off x="857250" y="4048125"/>
            <a:ext cx="57150" cy="666750"/>
          </a:xfrm>
          <a:prstGeom xmlns:a="http://schemas.openxmlformats.org/drawingml/2006/main" prst="rect">
            <a:avLst/>
          </a:prstGeom>
          <a:solidFill xmlns:a="http://schemas.openxmlformats.org/drawingml/2006/main">
            <a:srgbClr val="B5500A"/>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A7DD78AD-E4E7-42F1-9491-AFF5B75D295C}"/>
              </a:ext>
            </a:extLst>
          </p:cNvPr>
          <p:cNvSpPr>
            <a:spLocks xmlns:a="http://schemas.openxmlformats.org/drawingml/2006/main" noGrp="1"/>
          </p:cNvSpPr>
          <p:nvPr/>
        </p:nvSpPr>
        <p:spPr>
          <a:xfrm xmlns:a="http://schemas.openxmlformats.org/drawingml/2006/main">
            <a:off x="1028700" y="4181475"/>
            <a:ext cx="4191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42033"/>
                </a:solidFill>
                <a:latin typeface="Aptos"/>
                <a:ea typeface="Aptos"/>
                <a:cs typeface="Aptos"/>
              </a:defRPr>
            </a:pPr>
            <a:r>
              <a:rPr sz="1725" b="1">
                <a:solidFill>
                  <a:srgbClr val="142033"/>
                </a:solidFill>
                <a:latin typeface="Aptos"/>
                <a:ea typeface="Aptos"/>
                <a:cs typeface="Aptos"/>
              </a:rPr>
              <a:t>Deliveries &amp; POD</a:t>
            </a:r>
          </a:p>
        </p:txBody>
      </p:sp>
      <p:sp>
        <p:nvSpPr>
          <p:cNvPr id="17" name="">
            <a:extLst xmlns:a="http://schemas.openxmlformats.org/drawingml/2006/main">
              <a:ext uri="{FF2B5EF4-FFF2-40B4-BE49-F238E27FC236}">
                <a16:creationId xmlns:a16="http://schemas.microsoft.com/office/drawing/2014/main" id="{47F79228-57DA-4DD4-B17A-F9305E181A0D}"/>
              </a:ext>
            </a:extLst>
          </p:cNvPr>
          <p:cNvSpPr>
            <a:spLocks xmlns:a="http://schemas.openxmlformats.org/drawingml/2006/main" noGrp="1"/>
          </p:cNvSpPr>
          <p:nvPr/>
        </p:nvSpPr>
        <p:spPr>
          <a:xfrm xmlns:a="http://schemas.openxmlformats.org/drawingml/2006/main">
            <a:off x="1047750" y="4886325"/>
            <a:ext cx="40386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6384F"/>
                </a:solidFill>
                <a:latin typeface="Aptos"/>
                <a:ea typeface="Aptos"/>
                <a:cs typeface="Aptos"/>
              </a:defRPr>
            </a:pPr>
            <a:r>
              <a:rPr sz="1350" b="0">
                <a:solidFill>
                  <a:srgbClr val="26384F"/>
                </a:solidFill>
                <a:latin typeface="Aptos"/>
                <a:ea typeface="Aptos"/>
                <a:cs typeface="Aptos"/>
              </a:rPr>
              <a:t>Dispatch, customer delivery, proof of delivery</a:t>
            </a:r>
          </a:p>
        </p:txBody>
      </p:sp>
      <p:sp>
        <p:nvSpPr>
          <p:cNvPr id="18" name="">
            <a:extLst xmlns:a="http://schemas.openxmlformats.org/drawingml/2006/main">
              <a:ext uri="{FF2B5EF4-FFF2-40B4-BE49-F238E27FC236}">
                <a16:creationId xmlns:a16="http://schemas.microsoft.com/office/drawing/2014/main" id="{1E2AEC98-81F5-4593-A9B8-0EECB194C206}"/>
              </a:ext>
            </a:extLst>
          </p:cNvPr>
          <p:cNvSpPr>
            <a:spLocks xmlns:a="http://schemas.openxmlformats.org/drawingml/2006/main" noGrp="1"/>
          </p:cNvSpPr>
          <p:nvPr/>
        </p:nvSpPr>
        <p:spPr>
          <a:xfrm xmlns:a="http://schemas.openxmlformats.org/drawingml/2006/main">
            <a:off x="6286500" y="4048125"/>
            <a:ext cx="4476750" cy="666750"/>
          </a:xfrm>
          <a:prstGeom xmlns:a="http://schemas.openxmlformats.org/drawingml/2006/main" prst="rect">
            <a:avLst/>
          </a:prstGeom>
          <a:solidFill xmlns:a="http://schemas.openxmlformats.org/drawingml/2006/main">
            <a:srgbClr val="FFFFFF"/>
          </a:solidFill>
          <a:ln xmlns:a="http://schemas.openxmlformats.org/drawingml/2006/main" w="11430">
            <a:solidFill>
              <a:srgbClr val="4A1A6E"/>
            </a:solidFill>
            <a:prstDash val="solid"/>
          </a:ln>
        </p:spPr>
      </p:sp>
      <p:sp>
        <p:nvSpPr>
          <p:cNvPr id="19" name="">
            <a:extLst xmlns:a="http://schemas.openxmlformats.org/drawingml/2006/main">
              <a:ext uri="{FF2B5EF4-FFF2-40B4-BE49-F238E27FC236}">
                <a16:creationId xmlns:a16="http://schemas.microsoft.com/office/drawing/2014/main" id="{7F650157-2F9B-4B01-8DF3-792115A70FA8}"/>
              </a:ext>
            </a:extLst>
          </p:cNvPr>
          <p:cNvSpPr>
            <a:spLocks xmlns:a="http://schemas.openxmlformats.org/drawingml/2006/main" noGrp="1"/>
          </p:cNvSpPr>
          <p:nvPr/>
        </p:nvSpPr>
        <p:spPr>
          <a:xfrm xmlns:a="http://schemas.openxmlformats.org/drawingml/2006/main">
            <a:off x="6286500" y="4048125"/>
            <a:ext cx="57150" cy="666750"/>
          </a:xfrm>
          <a:prstGeom xmlns:a="http://schemas.openxmlformats.org/drawingml/2006/main" prst="rect">
            <a:avLst/>
          </a:prstGeom>
          <a:solidFill xmlns:a="http://schemas.openxmlformats.org/drawingml/2006/main">
            <a:srgbClr val="4A1A6E"/>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564CD823-DF2B-4BAA-8E24-5CBD2D543DE9}"/>
              </a:ext>
            </a:extLst>
          </p:cNvPr>
          <p:cNvSpPr>
            <a:spLocks xmlns:a="http://schemas.openxmlformats.org/drawingml/2006/main" noGrp="1"/>
          </p:cNvSpPr>
          <p:nvPr/>
        </p:nvSpPr>
        <p:spPr>
          <a:xfrm xmlns:a="http://schemas.openxmlformats.org/drawingml/2006/main">
            <a:off x="6457950" y="4181475"/>
            <a:ext cx="4191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42033"/>
                </a:solidFill>
                <a:latin typeface="Aptos"/>
                <a:ea typeface="Aptos"/>
                <a:cs typeface="Aptos"/>
              </a:defRPr>
            </a:pPr>
            <a:r>
              <a:rPr sz="1725" b="1">
                <a:solidFill>
                  <a:srgbClr val="142033"/>
                </a:solidFill>
                <a:latin typeface="Aptos"/>
                <a:ea typeface="Aptos"/>
                <a:cs typeface="Aptos"/>
              </a:rPr>
              <a:t>Fuel &amp; Machine Logs</a:t>
            </a:r>
          </a:p>
        </p:txBody>
      </p:sp>
      <p:sp>
        <p:nvSpPr>
          <p:cNvPr id="21" name="">
            <a:extLst xmlns:a="http://schemas.openxmlformats.org/drawingml/2006/main">
              <a:ext uri="{FF2B5EF4-FFF2-40B4-BE49-F238E27FC236}">
                <a16:creationId xmlns:a16="http://schemas.microsoft.com/office/drawing/2014/main" id="{3E91E16D-A37C-46C5-94D7-E3AEFEC838B9}"/>
              </a:ext>
            </a:extLst>
          </p:cNvPr>
          <p:cNvSpPr>
            <a:spLocks xmlns:a="http://schemas.openxmlformats.org/drawingml/2006/main" noGrp="1"/>
          </p:cNvSpPr>
          <p:nvPr/>
        </p:nvSpPr>
        <p:spPr>
          <a:xfrm xmlns:a="http://schemas.openxmlformats.org/drawingml/2006/main">
            <a:off x="6477000" y="4886325"/>
            <a:ext cx="40386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6384F"/>
                </a:solidFill>
                <a:latin typeface="Aptos"/>
                <a:ea typeface="Aptos"/>
                <a:cs typeface="Aptos"/>
              </a:defRPr>
            </a:pPr>
            <a:r>
              <a:rPr sz="1350" b="0">
                <a:solidFill>
                  <a:srgbClr val="26384F"/>
                </a:solidFill>
                <a:latin typeface="Aptos"/>
                <a:ea typeface="Aptos"/>
                <a:cs typeface="Aptos"/>
              </a:rPr>
              <a:t>Usage records for cost control and machine accountability</a:t>
            </a:r>
          </a:p>
        </p:txBody>
      </p:sp>
      <p:sp>
        <p:nvSpPr>
          <p:cNvPr id="22" name="">
            <a:extLst xmlns:a="http://schemas.openxmlformats.org/drawingml/2006/main">
              <a:ext uri="{FF2B5EF4-FFF2-40B4-BE49-F238E27FC236}">
                <a16:creationId xmlns:a16="http://schemas.microsoft.com/office/drawing/2014/main" id="{44BF1D32-F52B-4858-9EAD-37D4F35BCB1A}"/>
              </a:ext>
            </a:extLst>
          </p:cNvPr>
          <p:cNvSpPr>
            <a:spLocks xmlns:a="http://schemas.openxmlformats.org/drawingml/2006/main" noGrp="1"/>
          </p:cNvSpPr>
          <p:nvPr/>
        </p:nvSpPr>
        <p:spPr>
          <a:xfrm xmlns:a="http://schemas.openxmlformats.org/drawingml/2006/main">
            <a:off x="514350" y="6496050"/>
            <a:ext cx="666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67085"/>
                </a:solidFill>
                <a:latin typeface="Aptos"/>
                <a:ea typeface="Aptos"/>
                <a:cs typeface="Aptos"/>
              </a:defRPr>
            </a:pPr>
            <a:r>
              <a:rPr sz="750" b="0">
                <a:solidFill>
                  <a:srgbClr val="667085"/>
                </a:solidFill>
                <a:latin typeface="Aptos"/>
                <a:ea typeface="Aptos"/>
                <a:cs typeface="Aptos"/>
              </a:rPr>
              <a:t>UFCL ERP System | Executive Management Presentation | June 2026</a:t>
            </a:r>
          </a:p>
        </p:txBody>
      </p:sp>
      <p:sp>
        <p:nvSpPr>
          <p:cNvPr id="23" name="">
            <a:extLst xmlns:a="http://schemas.openxmlformats.org/drawingml/2006/main">
              <a:ext uri="{FF2B5EF4-FFF2-40B4-BE49-F238E27FC236}">
                <a16:creationId xmlns:a16="http://schemas.microsoft.com/office/drawing/2014/main" id="{07E6D023-E4A2-47DE-BC84-571FA554D0EB}"/>
              </a:ext>
            </a:extLst>
          </p:cNvPr>
          <p:cNvSpPr>
            <a:spLocks xmlns:a="http://schemas.openxmlformats.org/drawingml/2006/main" noGrp="1"/>
          </p:cNvSpPr>
          <p:nvPr/>
        </p:nvSpPr>
        <p:spPr>
          <a:xfrm xmlns:a="http://schemas.openxmlformats.org/drawingml/2006/main">
            <a:off x="11258550" y="645795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67085"/>
                </a:solidFill>
                <a:latin typeface="Aptos"/>
                <a:ea typeface="Aptos"/>
                <a:cs typeface="Aptos"/>
              </a:defRPr>
            </a:pPr>
            <a:r>
              <a:rPr sz="825" b="1">
                <a:solidFill>
                  <a:srgbClr val="667085"/>
                </a:solidFill>
                <a:latin typeface="Aptos"/>
                <a:ea typeface="Aptos"/>
                <a:cs typeface="Aptos"/>
              </a:rPr>
              <a:t>12</a:t>
            </a:r>
          </a:p>
        </p:txBody>
      </p:sp>
    </p:spTree>
    <p:extLst>
      <p:ext uri="{BB962C8B-B14F-4D97-AF65-F5344CB8AC3E}">
        <p14:creationId xmlns:p14="http://schemas.microsoft.com/office/powerpoint/2010/main" val="133833547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51F8F49-0DA2-4DE9-A835-29373662DD5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78A21960-6D53-4C07-9E85-3033EEDCE6E0}"/>
              </a:ext>
            </a:extLst>
          </p:cNvPr>
          <p:cNvSpPr>
            <a:spLocks xmlns:a="http://schemas.openxmlformats.org/drawingml/2006/main" noGrp="1"/>
          </p:cNvSpPr>
          <p:nvPr/>
        </p:nvSpPr>
        <p:spPr>
          <a:xfrm xmlns:a="http://schemas.openxmlformats.org/drawingml/2006/main">
            <a:off x="514350" y="371475"/>
            <a:ext cx="95250" cy="952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8E44D953-09B8-4DA1-96E2-A58E1C08820E}"/>
              </a:ext>
            </a:extLst>
          </p:cNvPr>
          <p:cNvSpPr>
            <a:spLocks xmlns:a="http://schemas.openxmlformats.org/drawingml/2006/main" noGrp="1"/>
          </p:cNvSpPr>
          <p:nvPr/>
        </p:nvSpPr>
        <p:spPr>
          <a:xfrm xmlns:a="http://schemas.openxmlformats.org/drawingml/2006/main">
            <a:off x="70485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MANAGEMENT DASHBOARD</a:t>
            </a:r>
          </a:p>
        </p:txBody>
      </p:sp>
      <p:sp>
        <p:nvSpPr>
          <p:cNvPr id="4" name="">
            <a:extLst xmlns:a="http://schemas.openxmlformats.org/drawingml/2006/main">
              <a:ext uri="{FF2B5EF4-FFF2-40B4-BE49-F238E27FC236}">
                <a16:creationId xmlns:a16="http://schemas.microsoft.com/office/drawing/2014/main" id="{5D2F627B-1B7F-4C97-9DA2-5100E5A21B2D}"/>
              </a:ext>
            </a:extLst>
          </p:cNvPr>
          <p:cNvSpPr>
            <a:spLocks xmlns:a="http://schemas.openxmlformats.org/drawingml/2006/main" noGrp="1"/>
          </p:cNvSpPr>
          <p:nvPr/>
        </p:nvSpPr>
        <p:spPr>
          <a:xfrm xmlns:a="http://schemas.openxmlformats.org/drawingml/2006/main">
            <a:off x="514350" y="685800"/>
            <a:ext cx="88582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42033"/>
                </a:solidFill>
                <a:latin typeface="Aptos Display"/>
                <a:ea typeface="Aptos Display"/>
                <a:cs typeface="Aptos Display"/>
              </a:defRPr>
            </a:pPr>
            <a:r>
              <a:rPr sz="2550" b="1">
                <a:solidFill>
                  <a:srgbClr val="142033"/>
                </a:solidFill>
                <a:latin typeface="Aptos Display"/>
                <a:ea typeface="Aptos Display"/>
                <a:cs typeface="Aptos Display"/>
              </a:rPr>
              <a:t>Management receives exception-led visibility instead of waiting for manual consolidation.</a:t>
            </a:r>
          </a:p>
        </p:txBody>
      </p:sp>
      <p:sp>
        <p:nvSpPr>
          <p:cNvPr id="5" name="">
            <a:extLst xmlns:a="http://schemas.openxmlformats.org/drawingml/2006/main">
              <a:ext uri="{FF2B5EF4-FFF2-40B4-BE49-F238E27FC236}">
                <a16:creationId xmlns:a16="http://schemas.microsoft.com/office/drawing/2014/main" id="{1683BA43-3145-435E-A7A5-C12F9AE75AE5}"/>
              </a:ext>
            </a:extLst>
          </p:cNvPr>
          <p:cNvSpPr>
            <a:spLocks xmlns:a="http://schemas.openxmlformats.org/drawingml/2006/main" noGrp="1"/>
          </p:cNvSpPr>
          <p:nvPr/>
        </p:nvSpPr>
        <p:spPr>
          <a:xfrm xmlns:a="http://schemas.openxmlformats.org/drawingml/2006/main">
            <a:off x="514350" y="1600200"/>
            <a:ext cx="11163300" cy="9525"/>
          </a:xfrm>
          <a:prstGeom xmlns:a="http://schemas.openxmlformats.org/drawingml/2006/main" prst="rect">
            <a:avLst/>
          </a:prstGeom>
          <a:solidFill xmlns:a="http://schemas.openxmlformats.org/drawingml/2006/main">
            <a:srgbClr val="D9DEE7"/>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5C1E0DCB-407F-4C8A-AA07-CA1F4F159D74}"/>
              </a:ext>
            </a:extLst>
          </p:cNvPr>
          <p:cNvSpPr>
            <a:spLocks xmlns:a="http://schemas.openxmlformats.org/drawingml/2006/main" noGrp="1"/>
          </p:cNvSpPr>
          <p:nvPr/>
        </p:nvSpPr>
        <p:spPr>
          <a:xfrm xmlns:a="http://schemas.openxmlformats.org/drawingml/2006/main">
            <a:off x="800100" y="2114550"/>
            <a:ext cx="10572750" cy="29718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7" name="">
            <a:extLst xmlns:a="http://schemas.openxmlformats.org/drawingml/2006/main">
              <a:ext uri="{FF2B5EF4-FFF2-40B4-BE49-F238E27FC236}">
                <a16:creationId xmlns:a16="http://schemas.microsoft.com/office/drawing/2014/main" id="{FBDEADA7-695F-4604-843A-5CD62C9CBF75}"/>
              </a:ext>
            </a:extLst>
          </p:cNvPr>
          <p:cNvSpPr>
            <a:spLocks xmlns:a="http://schemas.openxmlformats.org/drawingml/2006/main" noGrp="1"/>
          </p:cNvSpPr>
          <p:nvPr/>
        </p:nvSpPr>
        <p:spPr>
          <a:xfrm xmlns:a="http://schemas.openxmlformats.org/drawingml/2006/main">
            <a:off x="1190625" y="2552700"/>
            <a:ext cx="1809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400" b="1">
                <a:solidFill>
                  <a:srgbClr val="2D6A4F"/>
                </a:solidFill>
                <a:latin typeface="Aptos"/>
                <a:ea typeface="Aptos"/>
                <a:cs typeface="Aptos"/>
              </a:defRPr>
            </a:pPr>
            <a:r>
              <a:rPr sz="2400" b="1">
                <a:solidFill>
                  <a:srgbClr val="2D6A4F"/>
                </a:solidFill>
                <a:latin typeface="Aptos"/>
                <a:ea typeface="Aptos"/>
                <a:cs typeface="Aptos"/>
              </a:rPr>
              <a:t>Stock</a:t>
            </a:r>
          </a:p>
        </p:txBody>
      </p:sp>
      <p:sp>
        <p:nvSpPr>
          <p:cNvPr id="8" name="">
            <a:extLst xmlns:a="http://schemas.openxmlformats.org/drawingml/2006/main">
              <a:ext uri="{FF2B5EF4-FFF2-40B4-BE49-F238E27FC236}">
                <a16:creationId xmlns:a16="http://schemas.microsoft.com/office/drawing/2014/main" id="{C77894BA-CFFC-407F-9004-9B2389332C93}"/>
              </a:ext>
            </a:extLst>
          </p:cNvPr>
          <p:cNvSpPr>
            <a:spLocks xmlns:a="http://schemas.openxmlformats.org/drawingml/2006/main" noGrp="1"/>
          </p:cNvSpPr>
          <p:nvPr/>
        </p:nvSpPr>
        <p:spPr>
          <a:xfrm xmlns:a="http://schemas.openxmlformats.org/drawingml/2006/main">
            <a:off x="1190625" y="3009900"/>
            <a:ext cx="1809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667085"/>
                </a:solidFill>
                <a:latin typeface="Aptos"/>
                <a:ea typeface="Aptos"/>
                <a:cs typeface="Aptos"/>
              </a:defRPr>
            </a:pPr>
            <a:r>
              <a:rPr sz="1050" b="0">
                <a:solidFill>
                  <a:srgbClr val="667085"/>
                </a:solidFill>
                <a:latin typeface="Aptos"/>
                <a:ea typeface="Aptos"/>
                <a:cs typeface="Aptos"/>
              </a:rPr>
              <a:t>Workshop inventory balances</a:t>
            </a:r>
          </a:p>
        </p:txBody>
      </p:sp>
      <p:sp>
        <p:nvSpPr>
          <p:cNvPr id="9" name="">
            <a:extLst xmlns:a="http://schemas.openxmlformats.org/drawingml/2006/main">
              <a:ext uri="{FF2B5EF4-FFF2-40B4-BE49-F238E27FC236}">
                <a16:creationId xmlns:a16="http://schemas.microsoft.com/office/drawing/2014/main" id="{8D481273-37A9-46EB-8304-2FC130161C9B}"/>
              </a:ext>
            </a:extLst>
          </p:cNvPr>
          <p:cNvSpPr>
            <a:spLocks xmlns:a="http://schemas.openxmlformats.org/drawingml/2006/main" noGrp="1"/>
          </p:cNvSpPr>
          <p:nvPr/>
        </p:nvSpPr>
        <p:spPr>
          <a:xfrm xmlns:a="http://schemas.openxmlformats.org/drawingml/2006/main">
            <a:off x="3429000" y="2552700"/>
            <a:ext cx="20002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400" b="1">
                <a:solidFill>
                  <a:srgbClr val="1A3C5E"/>
                </a:solidFill>
                <a:latin typeface="Aptos"/>
                <a:ea typeface="Aptos"/>
                <a:cs typeface="Aptos"/>
              </a:defRPr>
            </a:pPr>
            <a:r>
              <a:rPr sz="2400" b="1">
                <a:solidFill>
                  <a:srgbClr val="1A3C5E"/>
                </a:solidFill>
                <a:latin typeface="Aptos"/>
                <a:ea typeface="Aptos"/>
                <a:cs typeface="Aptos"/>
              </a:rPr>
              <a:t>Output</a:t>
            </a:r>
          </a:p>
        </p:txBody>
      </p:sp>
      <p:sp>
        <p:nvSpPr>
          <p:cNvPr id="10" name="">
            <a:extLst xmlns:a="http://schemas.openxmlformats.org/drawingml/2006/main">
              <a:ext uri="{FF2B5EF4-FFF2-40B4-BE49-F238E27FC236}">
                <a16:creationId xmlns:a16="http://schemas.microsoft.com/office/drawing/2014/main" id="{E93710FC-194C-4622-8769-B4CF626C99EC}"/>
              </a:ext>
            </a:extLst>
          </p:cNvPr>
          <p:cNvSpPr>
            <a:spLocks xmlns:a="http://schemas.openxmlformats.org/drawingml/2006/main" noGrp="1"/>
          </p:cNvSpPr>
          <p:nvPr/>
        </p:nvSpPr>
        <p:spPr>
          <a:xfrm xmlns:a="http://schemas.openxmlformats.org/drawingml/2006/main">
            <a:off x="3429000" y="3009900"/>
            <a:ext cx="2000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667085"/>
                </a:solidFill>
                <a:latin typeface="Aptos"/>
                <a:ea typeface="Aptos"/>
                <a:cs typeface="Aptos"/>
              </a:defRPr>
            </a:pPr>
            <a:r>
              <a:rPr sz="1050" b="0">
                <a:solidFill>
                  <a:srgbClr val="667085"/>
                </a:solidFill>
                <a:latin typeface="Aptos"/>
                <a:ea typeface="Aptos"/>
                <a:cs typeface="Aptos"/>
              </a:rPr>
              <a:t>Daily production by chain</a:t>
            </a:r>
          </a:p>
        </p:txBody>
      </p:sp>
      <p:sp>
        <p:nvSpPr>
          <p:cNvPr id="11" name="">
            <a:extLst xmlns:a="http://schemas.openxmlformats.org/drawingml/2006/main">
              <a:ext uri="{FF2B5EF4-FFF2-40B4-BE49-F238E27FC236}">
                <a16:creationId xmlns:a16="http://schemas.microsoft.com/office/drawing/2014/main" id="{5E4FEE89-8C31-4780-B968-8BD04D1DE0B5}"/>
              </a:ext>
            </a:extLst>
          </p:cNvPr>
          <p:cNvSpPr>
            <a:spLocks xmlns:a="http://schemas.openxmlformats.org/drawingml/2006/main" noGrp="1"/>
          </p:cNvSpPr>
          <p:nvPr/>
        </p:nvSpPr>
        <p:spPr>
          <a:xfrm xmlns:a="http://schemas.openxmlformats.org/drawingml/2006/main">
            <a:off x="5867400" y="2552700"/>
            <a:ext cx="2190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400" b="1">
                <a:solidFill>
                  <a:srgbClr val="B5500A"/>
                </a:solidFill>
                <a:latin typeface="Aptos"/>
                <a:ea typeface="Aptos"/>
                <a:cs typeface="Aptos"/>
              </a:defRPr>
            </a:pPr>
            <a:r>
              <a:rPr sz="2400" b="1">
                <a:solidFill>
                  <a:srgbClr val="B5500A"/>
                </a:solidFill>
                <a:latin typeface="Aptos"/>
                <a:ea typeface="Aptos"/>
                <a:cs typeface="Aptos"/>
              </a:rPr>
              <a:t>Approvals</a:t>
            </a:r>
          </a:p>
        </p:txBody>
      </p:sp>
      <p:sp>
        <p:nvSpPr>
          <p:cNvPr id="12" name="">
            <a:extLst xmlns:a="http://schemas.openxmlformats.org/drawingml/2006/main">
              <a:ext uri="{FF2B5EF4-FFF2-40B4-BE49-F238E27FC236}">
                <a16:creationId xmlns:a16="http://schemas.microsoft.com/office/drawing/2014/main" id="{D96B2D8F-9E8A-4FDF-BE8E-5F3F4B1F938B}"/>
              </a:ext>
            </a:extLst>
          </p:cNvPr>
          <p:cNvSpPr>
            <a:spLocks xmlns:a="http://schemas.openxmlformats.org/drawingml/2006/main" noGrp="1"/>
          </p:cNvSpPr>
          <p:nvPr/>
        </p:nvSpPr>
        <p:spPr>
          <a:xfrm xmlns:a="http://schemas.openxmlformats.org/drawingml/2006/main">
            <a:off x="5867400" y="3009900"/>
            <a:ext cx="2190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667085"/>
                </a:solidFill>
                <a:latin typeface="Aptos"/>
                <a:ea typeface="Aptos"/>
                <a:cs typeface="Aptos"/>
              </a:defRPr>
            </a:pPr>
            <a:r>
              <a:rPr sz="1050" b="0">
                <a:solidFill>
                  <a:srgbClr val="667085"/>
                </a:solidFill>
                <a:latin typeface="Aptos"/>
                <a:ea typeface="Aptos"/>
                <a:cs typeface="Aptos"/>
              </a:rPr>
              <a:t>Pending CEO and manager actions</a:t>
            </a:r>
          </a:p>
        </p:txBody>
      </p:sp>
      <p:sp>
        <p:nvSpPr>
          <p:cNvPr id="13" name="">
            <a:extLst xmlns:a="http://schemas.openxmlformats.org/drawingml/2006/main">
              <a:ext uri="{FF2B5EF4-FFF2-40B4-BE49-F238E27FC236}">
                <a16:creationId xmlns:a16="http://schemas.microsoft.com/office/drawing/2014/main" id="{C6F83F39-31BF-401D-938D-77294FF096C4}"/>
              </a:ext>
            </a:extLst>
          </p:cNvPr>
          <p:cNvSpPr>
            <a:spLocks xmlns:a="http://schemas.openxmlformats.org/drawingml/2006/main" noGrp="1"/>
          </p:cNvSpPr>
          <p:nvPr/>
        </p:nvSpPr>
        <p:spPr>
          <a:xfrm xmlns:a="http://schemas.openxmlformats.org/drawingml/2006/main">
            <a:off x="8667750" y="2552700"/>
            <a:ext cx="1809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400" b="1">
                <a:solidFill>
                  <a:srgbClr val="4A1A6E"/>
                </a:solidFill>
                <a:latin typeface="Aptos"/>
                <a:ea typeface="Aptos"/>
                <a:cs typeface="Aptos"/>
              </a:defRPr>
            </a:pPr>
            <a:r>
              <a:rPr sz="2400" b="1">
                <a:solidFill>
                  <a:srgbClr val="4A1A6E"/>
                </a:solidFill>
                <a:latin typeface="Aptos"/>
                <a:ea typeface="Aptos"/>
                <a:cs typeface="Aptos"/>
              </a:rPr>
              <a:t>Audit</a:t>
            </a:r>
          </a:p>
        </p:txBody>
      </p:sp>
      <p:sp>
        <p:nvSpPr>
          <p:cNvPr id="14" name="">
            <a:extLst xmlns:a="http://schemas.openxmlformats.org/drawingml/2006/main">
              <a:ext uri="{FF2B5EF4-FFF2-40B4-BE49-F238E27FC236}">
                <a16:creationId xmlns:a16="http://schemas.microsoft.com/office/drawing/2014/main" id="{5ABCF2E4-2880-4650-9E82-72977CC425DE}"/>
              </a:ext>
            </a:extLst>
          </p:cNvPr>
          <p:cNvSpPr>
            <a:spLocks xmlns:a="http://schemas.openxmlformats.org/drawingml/2006/main" noGrp="1"/>
          </p:cNvSpPr>
          <p:nvPr/>
        </p:nvSpPr>
        <p:spPr>
          <a:xfrm xmlns:a="http://schemas.openxmlformats.org/drawingml/2006/main">
            <a:off x="8667750" y="3009900"/>
            <a:ext cx="1809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667085"/>
                </a:solidFill>
                <a:latin typeface="Aptos"/>
                <a:ea typeface="Aptos"/>
                <a:cs typeface="Aptos"/>
              </a:defRPr>
            </a:pPr>
            <a:r>
              <a:rPr sz="1050" b="0">
                <a:solidFill>
                  <a:srgbClr val="667085"/>
                </a:solidFill>
                <a:latin typeface="Aptos"/>
                <a:ea typeface="Aptos"/>
                <a:cs typeface="Aptos"/>
              </a:rPr>
              <a:t>Traceability of changes</a:t>
            </a:r>
          </a:p>
        </p:txBody>
      </p:sp>
      <p:sp>
        <p:nvSpPr>
          <p:cNvPr id="15" name="">
            <a:extLst xmlns:a="http://schemas.openxmlformats.org/drawingml/2006/main">
              <a:ext uri="{FF2B5EF4-FFF2-40B4-BE49-F238E27FC236}">
                <a16:creationId xmlns:a16="http://schemas.microsoft.com/office/drawing/2014/main" id="{6F63BE86-AC74-42EB-A5BE-649BAC29CC6C}"/>
              </a:ext>
            </a:extLst>
          </p:cNvPr>
          <p:cNvSpPr>
            <a:spLocks xmlns:a="http://schemas.openxmlformats.org/drawingml/2006/main" noGrp="1"/>
          </p:cNvSpPr>
          <p:nvPr/>
        </p:nvSpPr>
        <p:spPr>
          <a:xfrm xmlns:a="http://schemas.openxmlformats.org/drawingml/2006/main">
            <a:off x="1257300" y="4000500"/>
            <a:ext cx="8858250" cy="9525"/>
          </a:xfrm>
          <a:prstGeom xmlns:a="http://schemas.openxmlformats.org/drawingml/2006/main" prst="rect">
            <a:avLst/>
          </a:prstGeom>
          <a:solidFill xmlns:a="http://schemas.openxmlformats.org/drawingml/2006/main">
            <a:srgbClr val="D9DEE7"/>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396A0866-FEF5-4D96-96CF-5774216DCFBB}"/>
              </a:ext>
            </a:extLst>
          </p:cNvPr>
          <p:cNvSpPr>
            <a:spLocks xmlns:a="http://schemas.openxmlformats.org/drawingml/2006/main" noGrp="1"/>
          </p:cNvSpPr>
          <p:nvPr/>
        </p:nvSpPr>
        <p:spPr>
          <a:xfrm xmlns:a="http://schemas.openxmlformats.org/drawingml/2006/main">
            <a:off x="1409700" y="4324350"/>
            <a:ext cx="9353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0">
                <a:solidFill>
                  <a:srgbClr val="26384F"/>
                </a:solidFill>
                <a:latin typeface="Aptos"/>
                <a:ea typeface="Aptos"/>
                <a:cs typeface="Aptos"/>
              </a:defRPr>
            </a:pPr>
            <a:r>
              <a:rPr sz="1650" b="0">
                <a:solidFill>
                  <a:srgbClr val="26384F"/>
                </a:solidFill>
                <a:latin typeface="Aptos"/>
                <a:ea typeface="Aptos"/>
                <a:cs typeface="Aptos"/>
              </a:rPr>
              <a:t>Dashboards should support CEO, operations, workshop managers, finance, logistics, and IT with role-appropriate views.</a:t>
            </a:r>
          </a:p>
        </p:txBody>
      </p:sp>
      <p:sp>
        <p:nvSpPr>
          <p:cNvPr id="17" name="">
            <a:extLst xmlns:a="http://schemas.openxmlformats.org/drawingml/2006/main">
              <a:ext uri="{FF2B5EF4-FFF2-40B4-BE49-F238E27FC236}">
                <a16:creationId xmlns:a16="http://schemas.microsoft.com/office/drawing/2014/main" id="{0941447E-D5EA-4E6D-8CBC-9436821E24D0}"/>
              </a:ext>
            </a:extLst>
          </p:cNvPr>
          <p:cNvSpPr>
            <a:spLocks xmlns:a="http://schemas.openxmlformats.org/drawingml/2006/main" noGrp="1"/>
          </p:cNvSpPr>
          <p:nvPr/>
        </p:nvSpPr>
        <p:spPr>
          <a:xfrm xmlns:a="http://schemas.openxmlformats.org/drawingml/2006/main">
            <a:off x="514350" y="6496050"/>
            <a:ext cx="666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67085"/>
                </a:solidFill>
                <a:latin typeface="Aptos"/>
                <a:ea typeface="Aptos"/>
                <a:cs typeface="Aptos"/>
              </a:defRPr>
            </a:pPr>
            <a:r>
              <a:rPr sz="750" b="0">
                <a:solidFill>
                  <a:srgbClr val="667085"/>
                </a:solidFill>
                <a:latin typeface="Aptos"/>
                <a:ea typeface="Aptos"/>
                <a:cs typeface="Aptos"/>
              </a:rPr>
              <a:t>UFCL ERP System | Executive Management Presentation | June 2026</a:t>
            </a:r>
          </a:p>
        </p:txBody>
      </p:sp>
      <p:sp>
        <p:nvSpPr>
          <p:cNvPr id="18" name="">
            <a:extLst xmlns:a="http://schemas.openxmlformats.org/drawingml/2006/main">
              <a:ext uri="{FF2B5EF4-FFF2-40B4-BE49-F238E27FC236}">
                <a16:creationId xmlns:a16="http://schemas.microsoft.com/office/drawing/2014/main" id="{37B98D60-DE38-4F30-8FB5-D737A528EBA8}"/>
              </a:ext>
            </a:extLst>
          </p:cNvPr>
          <p:cNvSpPr>
            <a:spLocks xmlns:a="http://schemas.openxmlformats.org/drawingml/2006/main" noGrp="1"/>
          </p:cNvSpPr>
          <p:nvPr/>
        </p:nvSpPr>
        <p:spPr>
          <a:xfrm xmlns:a="http://schemas.openxmlformats.org/drawingml/2006/main">
            <a:off x="11258550" y="645795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67085"/>
                </a:solidFill>
                <a:latin typeface="Aptos"/>
                <a:ea typeface="Aptos"/>
                <a:cs typeface="Aptos"/>
              </a:defRPr>
            </a:pPr>
            <a:r>
              <a:rPr sz="825" b="1">
                <a:solidFill>
                  <a:srgbClr val="667085"/>
                </a:solidFill>
                <a:latin typeface="Aptos"/>
                <a:ea typeface="Aptos"/>
                <a:cs typeface="Aptos"/>
              </a:rPr>
              <a:t>13</a:t>
            </a:r>
          </a:p>
        </p:txBody>
      </p:sp>
    </p:spTree>
    <p:extLst>
      <p:ext uri="{BB962C8B-B14F-4D97-AF65-F5344CB8AC3E}">
        <p14:creationId xmlns:p14="http://schemas.microsoft.com/office/powerpoint/2010/main" val="106159075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65D3854-5CC5-43C3-874E-F99BA97965D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3545BDF3-6D27-4A37-A729-A3F7373C82F5}"/>
              </a:ext>
            </a:extLst>
          </p:cNvPr>
          <p:cNvSpPr>
            <a:spLocks xmlns:a="http://schemas.openxmlformats.org/drawingml/2006/main" noGrp="1"/>
          </p:cNvSpPr>
          <p:nvPr/>
        </p:nvSpPr>
        <p:spPr>
          <a:xfrm xmlns:a="http://schemas.openxmlformats.org/drawingml/2006/main">
            <a:off x="514350" y="371475"/>
            <a:ext cx="95250" cy="952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87785D4F-02EC-44BC-8C63-64F24E33EEEE}"/>
              </a:ext>
            </a:extLst>
          </p:cNvPr>
          <p:cNvSpPr>
            <a:spLocks xmlns:a="http://schemas.openxmlformats.org/drawingml/2006/main" noGrp="1"/>
          </p:cNvSpPr>
          <p:nvPr/>
        </p:nvSpPr>
        <p:spPr>
          <a:xfrm xmlns:a="http://schemas.openxmlformats.org/drawingml/2006/main">
            <a:off x="70485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OFFLINE FUNCTIONALITY</a:t>
            </a:r>
          </a:p>
        </p:txBody>
      </p:sp>
      <p:sp>
        <p:nvSpPr>
          <p:cNvPr id="4" name="">
            <a:extLst xmlns:a="http://schemas.openxmlformats.org/drawingml/2006/main">
              <a:ext uri="{FF2B5EF4-FFF2-40B4-BE49-F238E27FC236}">
                <a16:creationId xmlns:a16="http://schemas.microsoft.com/office/drawing/2014/main" id="{4729546C-0537-4DDA-BC7D-C9E0F686BB91}"/>
              </a:ext>
            </a:extLst>
          </p:cNvPr>
          <p:cNvSpPr>
            <a:spLocks xmlns:a="http://schemas.openxmlformats.org/drawingml/2006/main" noGrp="1"/>
          </p:cNvSpPr>
          <p:nvPr/>
        </p:nvSpPr>
        <p:spPr>
          <a:xfrm xmlns:a="http://schemas.openxmlformats.org/drawingml/2006/main">
            <a:off x="514350" y="685800"/>
            <a:ext cx="88582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42033"/>
                </a:solidFill>
                <a:latin typeface="Aptos Display"/>
                <a:ea typeface="Aptos Display"/>
                <a:cs typeface="Aptos Display"/>
              </a:defRPr>
            </a:pPr>
            <a:r>
              <a:rPr sz="2550" b="1">
                <a:solidFill>
                  <a:srgbClr val="142033"/>
                </a:solidFill>
                <a:latin typeface="Aptos Display"/>
                <a:ea typeface="Aptos Display"/>
                <a:cs typeface="Aptos Display"/>
              </a:rPr>
              <a:t>Offline capture protects daily operations when connectivity is unreliable.</a:t>
            </a:r>
          </a:p>
        </p:txBody>
      </p:sp>
      <p:sp>
        <p:nvSpPr>
          <p:cNvPr id="5" name="">
            <a:extLst xmlns:a="http://schemas.openxmlformats.org/drawingml/2006/main">
              <a:ext uri="{FF2B5EF4-FFF2-40B4-BE49-F238E27FC236}">
                <a16:creationId xmlns:a16="http://schemas.microsoft.com/office/drawing/2014/main" id="{2139E8E8-A408-478E-A5A7-4C231B2B2F9E}"/>
              </a:ext>
            </a:extLst>
          </p:cNvPr>
          <p:cNvSpPr>
            <a:spLocks xmlns:a="http://schemas.openxmlformats.org/drawingml/2006/main" noGrp="1"/>
          </p:cNvSpPr>
          <p:nvPr/>
        </p:nvSpPr>
        <p:spPr>
          <a:xfrm xmlns:a="http://schemas.openxmlformats.org/drawingml/2006/main">
            <a:off x="514350" y="1600200"/>
            <a:ext cx="11163300" cy="9525"/>
          </a:xfrm>
          <a:prstGeom xmlns:a="http://schemas.openxmlformats.org/drawingml/2006/main" prst="rect">
            <a:avLst/>
          </a:prstGeom>
          <a:solidFill xmlns:a="http://schemas.openxmlformats.org/drawingml/2006/main">
            <a:srgbClr val="D9DEE7"/>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BD486C25-754C-4FC9-B05F-D7AF858A6FD7}"/>
              </a:ext>
            </a:extLst>
          </p:cNvPr>
          <p:cNvSpPr>
            <a:spLocks xmlns:a="http://schemas.openxmlformats.org/drawingml/2006/main" noGrp="1"/>
          </p:cNvSpPr>
          <p:nvPr/>
        </p:nvSpPr>
        <p:spPr>
          <a:xfrm xmlns:a="http://schemas.openxmlformats.org/drawingml/2006/main">
            <a:off x="819150" y="2343150"/>
            <a:ext cx="2190750" cy="704850"/>
          </a:xfrm>
          <a:prstGeom xmlns:a="http://schemas.openxmlformats.org/drawingml/2006/main" prst="rect">
            <a:avLst/>
          </a:prstGeom>
          <a:solidFill xmlns:a="http://schemas.openxmlformats.org/drawingml/2006/main">
            <a:srgbClr val="FFFFFF"/>
          </a:solidFill>
          <a:ln xmlns:a="http://schemas.openxmlformats.org/drawingml/2006/main" w="11430">
            <a:solidFill>
              <a:srgbClr val="1A3C5E"/>
            </a:solidFill>
            <a:prstDash val="solid"/>
          </a:ln>
        </p:spPr>
      </p:sp>
      <p:sp>
        <p:nvSpPr>
          <p:cNvPr id="7" name="">
            <a:extLst xmlns:a="http://schemas.openxmlformats.org/drawingml/2006/main">
              <a:ext uri="{FF2B5EF4-FFF2-40B4-BE49-F238E27FC236}">
                <a16:creationId xmlns:a16="http://schemas.microsoft.com/office/drawing/2014/main" id="{93A4BE91-21DC-464A-9F62-EEF7FF41D9E1}"/>
              </a:ext>
            </a:extLst>
          </p:cNvPr>
          <p:cNvSpPr>
            <a:spLocks xmlns:a="http://schemas.openxmlformats.org/drawingml/2006/main" noGrp="1"/>
          </p:cNvSpPr>
          <p:nvPr/>
        </p:nvSpPr>
        <p:spPr>
          <a:xfrm xmlns:a="http://schemas.openxmlformats.org/drawingml/2006/main">
            <a:off x="819150" y="2343150"/>
            <a:ext cx="57150" cy="704850"/>
          </a:xfrm>
          <a:prstGeom xmlns:a="http://schemas.openxmlformats.org/drawingml/2006/main" prst="rect">
            <a:avLst/>
          </a:prstGeom>
          <a:solidFill xmlns:a="http://schemas.openxmlformats.org/drawingml/2006/main">
            <a:srgbClr val="1A3C5E"/>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06A0739E-B2C8-45B4-A7EF-9B7EA1C61191}"/>
              </a:ext>
            </a:extLst>
          </p:cNvPr>
          <p:cNvSpPr>
            <a:spLocks xmlns:a="http://schemas.openxmlformats.org/drawingml/2006/main" noGrp="1"/>
          </p:cNvSpPr>
          <p:nvPr/>
        </p:nvSpPr>
        <p:spPr>
          <a:xfrm xmlns:a="http://schemas.openxmlformats.org/drawingml/2006/main">
            <a:off x="990600" y="2476500"/>
            <a:ext cx="1905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142033"/>
                </a:solidFill>
                <a:latin typeface="Aptos"/>
                <a:ea typeface="Aptos"/>
                <a:cs typeface="Aptos"/>
              </a:defRPr>
            </a:pPr>
            <a:r>
              <a:rPr sz="1650" b="1">
                <a:solidFill>
                  <a:srgbClr val="142033"/>
                </a:solidFill>
                <a:latin typeface="Aptos"/>
                <a:ea typeface="Aptos"/>
                <a:cs typeface="Aptos"/>
              </a:rPr>
              <a:t>1. Capture</a:t>
            </a:r>
          </a:p>
        </p:txBody>
      </p:sp>
      <p:sp>
        <p:nvSpPr>
          <p:cNvPr id="9" name="">
            <a:extLst xmlns:a="http://schemas.openxmlformats.org/drawingml/2006/main">
              <a:ext uri="{FF2B5EF4-FFF2-40B4-BE49-F238E27FC236}">
                <a16:creationId xmlns:a16="http://schemas.microsoft.com/office/drawing/2014/main" id="{1151BF00-4B5E-47D0-88F1-C602849B2E76}"/>
              </a:ext>
            </a:extLst>
          </p:cNvPr>
          <p:cNvSpPr>
            <a:spLocks xmlns:a="http://schemas.openxmlformats.org/drawingml/2006/main" noGrp="1"/>
          </p:cNvSpPr>
          <p:nvPr/>
        </p:nvSpPr>
        <p:spPr>
          <a:xfrm xmlns:a="http://schemas.openxmlformats.org/drawingml/2006/main">
            <a:off x="971550" y="3257550"/>
            <a:ext cx="1905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26384F"/>
                </a:solidFill>
                <a:latin typeface="Aptos"/>
                <a:ea typeface="Aptos"/>
                <a:cs typeface="Aptos"/>
              </a:defRPr>
            </a:pPr>
            <a:r>
              <a:rPr sz="1350" b="0">
                <a:solidFill>
                  <a:srgbClr val="26384F"/>
                </a:solidFill>
                <a:latin typeface="Aptos"/>
                <a:ea typeface="Aptos"/>
                <a:cs typeface="Aptos"/>
              </a:rPr>
              <a:t>User records field activity on mobile</a:t>
            </a:r>
          </a:p>
        </p:txBody>
      </p:sp>
      <p:sp>
        <p:nvSpPr>
          <p:cNvPr id="10" name="">
            <a:extLst xmlns:a="http://schemas.openxmlformats.org/drawingml/2006/main">
              <a:ext uri="{FF2B5EF4-FFF2-40B4-BE49-F238E27FC236}">
                <a16:creationId xmlns:a16="http://schemas.microsoft.com/office/drawing/2014/main" id="{289E7AE3-E618-4163-A773-CEA903A0B715}"/>
              </a:ext>
            </a:extLst>
          </p:cNvPr>
          <p:cNvSpPr>
            <a:spLocks xmlns:a="http://schemas.openxmlformats.org/drawingml/2006/main" noGrp="1"/>
          </p:cNvSpPr>
          <p:nvPr/>
        </p:nvSpPr>
        <p:spPr>
          <a:xfrm xmlns:a="http://schemas.openxmlformats.org/drawingml/2006/main">
            <a:off x="3600450" y="2343150"/>
            <a:ext cx="2190750" cy="704850"/>
          </a:xfrm>
          <a:prstGeom xmlns:a="http://schemas.openxmlformats.org/drawingml/2006/main" prst="rect">
            <a:avLst/>
          </a:prstGeom>
          <a:solidFill xmlns:a="http://schemas.openxmlformats.org/drawingml/2006/main">
            <a:srgbClr val="E7EEF5"/>
          </a:solidFill>
          <a:ln xmlns:a="http://schemas.openxmlformats.org/drawingml/2006/main" w="11430">
            <a:solidFill>
              <a:srgbClr val="1A3C5E"/>
            </a:solidFill>
            <a:prstDash val="solid"/>
          </a:ln>
        </p:spPr>
      </p:sp>
      <p:sp>
        <p:nvSpPr>
          <p:cNvPr id="11" name="">
            <a:extLst xmlns:a="http://schemas.openxmlformats.org/drawingml/2006/main">
              <a:ext uri="{FF2B5EF4-FFF2-40B4-BE49-F238E27FC236}">
                <a16:creationId xmlns:a16="http://schemas.microsoft.com/office/drawing/2014/main" id="{125EEDD2-FE35-4BAF-AB1C-418F1FF23FAB}"/>
              </a:ext>
            </a:extLst>
          </p:cNvPr>
          <p:cNvSpPr>
            <a:spLocks xmlns:a="http://schemas.openxmlformats.org/drawingml/2006/main" noGrp="1"/>
          </p:cNvSpPr>
          <p:nvPr/>
        </p:nvSpPr>
        <p:spPr>
          <a:xfrm xmlns:a="http://schemas.openxmlformats.org/drawingml/2006/main">
            <a:off x="3600450" y="2343150"/>
            <a:ext cx="57150" cy="704850"/>
          </a:xfrm>
          <a:prstGeom xmlns:a="http://schemas.openxmlformats.org/drawingml/2006/main" prst="rect">
            <a:avLst/>
          </a:prstGeom>
          <a:solidFill xmlns:a="http://schemas.openxmlformats.org/drawingml/2006/main">
            <a:srgbClr val="1A3C5E"/>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D68B2C70-6B3E-44C3-9176-81A13D9F3714}"/>
              </a:ext>
            </a:extLst>
          </p:cNvPr>
          <p:cNvSpPr>
            <a:spLocks xmlns:a="http://schemas.openxmlformats.org/drawingml/2006/main" noGrp="1"/>
          </p:cNvSpPr>
          <p:nvPr/>
        </p:nvSpPr>
        <p:spPr>
          <a:xfrm xmlns:a="http://schemas.openxmlformats.org/drawingml/2006/main">
            <a:off x="3771900" y="2476500"/>
            <a:ext cx="1905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142033"/>
                </a:solidFill>
                <a:latin typeface="Aptos"/>
                <a:ea typeface="Aptos"/>
                <a:cs typeface="Aptos"/>
              </a:defRPr>
            </a:pPr>
            <a:r>
              <a:rPr sz="1650" b="1">
                <a:solidFill>
                  <a:srgbClr val="142033"/>
                </a:solidFill>
                <a:latin typeface="Aptos"/>
                <a:ea typeface="Aptos"/>
                <a:cs typeface="Aptos"/>
              </a:rPr>
              <a:t>2. Store Locally</a:t>
            </a:r>
          </a:p>
        </p:txBody>
      </p:sp>
      <p:sp>
        <p:nvSpPr>
          <p:cNvPr id="13" name="">
            <a:extLst xmlns:a="http://schemas.openxmlformats.org/drawingml/2006/main">
              <a:ext uri="{FF2B5EF4-FFF2-40B4-BE49-F238E27FC236}">
                <a16:creationId xmlns:a16="http://schemas.microsoft.com/office/drawing/2014/main" id="{ADC1A7B2-FEB1-4242-8517-C6D4C604C99A}"/>
              </a:ext>
            </a:extLst>
          </p:cNvPr>
          <p:cNvSpPr>
            <a:spLocks xmlns:a="http://schemas.openxmlformats.org/drawingml/2006/main" noGrp="1"/>
          </p:cNvSpPr>
          <p:nvPr/>
        </p:nvSpPr>
        <p:spPr>
          <a:xfrm xmlns:a="http://schemas.openxmlformats.org/drawingml/2006/main">
            <a:off x="3752850" y="3257550"/>
            <a:ext cx="1905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26384F"/>
                </a:solidFill>
                <a:latin typeface="Aptos"/>
                <a:ea typeface="Aptos"/>
                <a:cs typeface="Aptos"/>
              </a:defRPr>
            </a:pPr>
            <a:r>
              <a:rPr sz="1350" b="0">
                <a:solidFill>
                  <a:srgbClr val="26384F"/>
                </a:solidFill>
                <a:latin typeface="Aptos"/>
                <a:ea typeface="Aptos"/>
                <a:cs typeface="Aptos"/>
              </a:rPr>
              <a:t>Transaction waits safely in local queue</a:t>
            </a:r>
          </a:p>
        </p:txBody>
      </p:sp>
      <p:sp>
        <p:nvSpPr>
          <p:cNvPr id="14" name="">
            <a:extLst xmlns:a="http://schemas.openxmlformats.org/drawingml/2006/main">
              <a:ext uri="{FF2B5EF4-FFF2-40B4-BE49-F238E27FC236}">
                <a16:creationId xmlns:a16="http://schemas.microsoft.com/office/drawing/2014/main" id="{A2CC9B62-AD00-41B1-83BC-E4238A8F9AA2}"/>
              </a:ext>
            </a:extLst>
          </p:cNvPr>
          <p:cNvSpPr>
            <a:spLocks xmlns:a="http://schemas.openxmlformats.org/drawingml/2006/main" noGrp="1"/>
          </p:cNvSpPr>
          <p:nvPr/>
        </p:nvSpPr>
        <p:spPr>
          <a:xfrm xmlns:a="http://schemas.openxmlformats.org/drawingml/2006/main">
            <a:off x="6381750" y="2343150"/>
            <a:ext cx="2190750" cy="704850"/>
          </a:xfrm>
          <a:prstGeom xmlns:a="http://schemas.openxmlformats.org/drawingml/2006/main" prst="rect">
            <a:avLst/>
          </a:prstGeom>
          <a:solidFill xmlns:a="http://schemas.openxmlformats.org/drawingml/2006/main">
            <a:srgbClr val="FFFFFF"/>
          </a:solidFill>
          <a:ln xmlns:a="http://schemas.openxmlformats.org/drawingml/2006/main" w="11430">
            <a:solidFill>
              <a:srgbClr val="1A3C5E"/>
            </a:solidFill>
            <a:prstDash val="solid"/>
          </a:ln>
        </p:spPr>
      </p:sp>
      <p:sp>
        <p:nvSpPr>
          <p:cNvPr id="15" name="">
            <a:extLst xmlns:a="http://schemas.openxmlformats.org/drawingml/2006/main">
              <a:ext uri="{FF2B5EF4-FFF2-40B4-BE49-F238E27FC236}">
                <a16:creationId xmlns:a16="http://schemas.microsoft.com/office/drawing/2014/main" id="{77C3C703-6FF6-42F8-9645-C1987DA237A2}"/>
              </a:ext>
            </a:extLst>
          </p:cNvPr>
          <p:cNvSpPr>
            <a:spLocks xmlns:a="http://schemas.openxmlformats.org/drawingml/2006/main" noGrp="1"/>
          </p:cNvSpPr>
          <p:nvPr/>
        </p:nvSpPr>
        <p:spPr>
          <a:xfrm xmlns:a="http://schemas.openxmlformats.org/drawingml/2006/main">
            <a:off x="6381750" y="2343150"/>
            <a:ext cx="57150" cy="704850"/>
          </a:xfrm>
          <a:prstGeom xmlns:a="http://schemas.openxmlformats.org/drawingml/2006/main" prst="rect">
            <a:avLst/>
          </a:prstGeom>
          <a:solidFill xmlns:a="http://schemas.openxmlformats.org/drawingml/2006/main">
            <a:srgbClr val="1A3C5E"/>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F5763536-190D-47F6-A8AD-2D99C3B2AD74}"/>
              </a:ext>
            </a:extLst>
          </p:cNvPr>
          <p:cNvSpPr>
            <a:spLocks xmlns:a="http://schemas.openxmlformats.org/drawingml/2006/main" noGrp="1"/>
          </p:cNvSpPr>
          <p:nvPr/>
        </p:nvSpPr>
        <p:spPr>
          <a:xfrm xmlns:a="http://schemas.openxmlformats.org/drawingml/2006/main">
            <a:off x="6553200" y="2476500"/>
            <a:ext cx="1905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142033"/>
                </a:solidFill>
                <a:latin typeface="Aptos"/>
                <a:ea typeface="Aptos"/>
                <a:cs typeface="Aptos"/>
              </a:defRPr>
            </a:pPr>
            <a:r>
              <a:rPr sz="1650" b="1">
                <a:solidFill>
                  <a:srgbClr val="142033"/>
                </a:solidFill>
                <a:latin typeface="Aptos"/>
                <a:ea typeface="Aptos"/>
                <a:cs typeface="Aptos"/>
              </a:rPr>
              <a:t>3. Sync</a:t>
            </a:r>
          </a:p>
        </p:txBody>
      </p:sp>
      <p:sp>
        <p:nvSpPr>
          <p:cNvPr id="17" name="">
            <a:extLst xmlns:a="http://schemas.openxmlformats.org/drawingml/2006/main">
              <a:ext uri="{FF2B5EF4-FFF2-40B4-BE49-F238E27FC236}">
                <a16:creationId xmlns:a16="http://schemas.microsoft.com/office/drawing/2014/main" id="{BFB19E61-A9D3-476B-9BC2-3611D9A19C07}"/>
              </a:ext>
            </a:extLst>
          </p:cNvPr>
          <p:cNvSpPr>
            <a:spLocks xmlns:a="http://schemas.openxmlformats.org/drawingml/2006/main" noGrp="1"/>
          </p:cNvSpPr>
          <p:nvPr/>
        </p:nvSpPr>
        <p:spPr>
          <a:xfrm xmlns:a="http://schemas.openxmlformats.org/drawingml/2006/main">
            <a:off x="6534150" y="3257550"/>
            <a:ext cx="1905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26384F"/>
                </a:solidFill>
                <a:latin typeface="Aptos"/>
                <a:ea typeface="Aptos"/>
                <a:cs typeface="Aptos"/>
              </a:defRPr>
            </a:pPr>
            <a:r>
              <a:rPr sz="1350" b="0">
                <a:solidFill>
                  <a:srgbClr val="26384F"/>
                </a:solidFill>
                <a:latin typeface="Aptos"/>
                <a:ea typeface="Aptos"/>
                <a:cs typeface="Aptos"/>
              </a:rPr>
              <a:t>Connection returns and records are submitted</a:t>
            </a:r>
          </a:p>
        </p:txBody>
      </p:sp>
      <p:sp>
        <p:nvSpPr>
          <p:cNvPr id="18" name="">
            <a:extLst xmlns:a="http://schemas.openxmlformats.org/drawingml/2006/main">
              <a:ext uri="{FF2B5EF4-FFF2-40B4-BE49-F238E27FC236}">
                <a16:creationId xmlns:a16="http://schemas.microsoft.com/office/drawing/2014/main" id="{C26C3EF8-E6E8-47CD-8282-976D3946F889}"/>
              </a:ext>
            </a:extLst>
          </p:cNvPr>
          <p:cNvSpPr>
            <a:spLocks xmlns:a="http://schemas.openxmlformats.org/drawingml/2006/main" noGrp="1"/>
          </p:cNvSpPr>
          <p:nvPr/>
        </p:nvSpPr>
        <p:spPr>
          <a:xfrm xmlns:a="http://schemas.openxmlformats.org/drawingml/2006/main">
            <a:off x="9163050" y="2343150"/>
            <a:ext cx="2190750" cy="704850"/>
          </a:xfrm>
          <a:prstGeom xmlns:a="http://schemas.openxmlformats.org/drawingml/2006/main" prst="rect">
            <a:avLst/>
          </a:prstGeom>
          <a:solidFill xmlns:a="http://schemas.openxmlformats.org/drawingml/2006/main">
            <a:srgbClr val="E7EEF5"/>
          </a:solidFill>
          <a:ln xmlns:a="http://schemas.openxmlformats.org/drawingml/2006/main" w="11430">
            <a:solidFill>
              <a:srgbClr val="1A3C5E"/>
            </a:solidFill>
            <a:prstDash val="solid"/>
          </a:ln>
        </p:spPr>
      </p:sp>
      <p:sp>
        <p:nvSpPr>
          <p:cNvPr id="19" name="">
            <a:extLst xmlns:a="http://schemas.openxmlformats.org/drawingml/2006/main">
              <a:ext uri="{FF2B5EF4-FFF2-40B4-BE49-F238E27FC236}">
                <a16:creationId xmlns:a16="http://schemas.microsoft.com/office/drawing/2014/main" id="{3CC1D720-3931-4C3E-AAB9-21345501E4AB}"/>
              </a:ext>
            </a:extLst>
          </p:cNvPr>
          <p:cNvSpPr>
            <a:spLocks xmlns:a="http://schemas.openxmlformats.org/drawingml/2006/main" noGrp="1"/>
          </p:cNvSpPr>
          <p:nvPr/>
        </p:nvSpPr>
        <p:spPr>
          <a:xfrm xmlns:a="http://schemas.openxmlformats.org/drawingml/2006/main">
            <a:off x="9163050" y="2343150"/>
            <a:ext cx="57150" cy="704850"/>
          </a:xfrm>
          <a:prstGeom xmlns:a="http://schemas.openxmlformats.org/drawingml/2006/main" prst="rect">
            <a:avLst/>
          </a:prstGeom>
          <a:solidFill xmlns:a="http://schemas.openxmlformats.org/drawingml/2006/main">
            <a:srgbClr val="1A3C5E"/>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90981D11-4793-420D-A934-7805A6F54987}"/>
              </a:ext>
            </a:extLst>
          </p:cNvPr>
          <p:cNvSpPr>
            <a:spLocks xmlns:a="http://schemas.openxmlformats.org/drawingml/2006/main" noGrp="1"/>
          </p:cNvSpPr>
          <p:nvPr/>
        </p:nvSpPr>
        <p:spPr>
          <a:xfrm xmlns:a="http://schemas.openxmlformats.org/drawingml/2006/main">
            <a:off x="9334500" y="2476500"/>
            <a:ext cx="1905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142033"/>
                </a:solidFill>
                <a:latin typeface="Aptos"/>
                <a:ea typeface="Aptos"/>
                <a:cs typeface="Aptos"/>
              </a:defRPr>
            </a:pPr>
            <a:r>
              <a:rPr sz="1650" b="1">
                <a:solidFill>
                  <a:srgbClr val="142033"/>
                </a:solidFill>
                <a:latin typeface="Aptos"/>
                <a:ea typeface="Aptos"/>
                <a:cs typeface="Aptos"/>
              </a:rPr>
              <a:t>4. Validate</a:t>
            </a:r>
          </a:p>
        </p:txBody>
      </p:sp>
      <p:sp>
        <p:nvSpPr>
          <p:cNvPr id="21" name="">
            <a:extLst xmlns:a="http://schemas.openxmlformats.org/drawingml/2006/main">
              <a:ext uri="{FF2B5EF4-FFF2-40B4-BE49-F238E27FC236}">
                <a16:creationId xmlns:a16="http://schemas.microsoft.com/office/drawing/2014/main" id="{F5C8D8ED-B144-4444-892C-46750B8E7EF5}"/>
              </a:ext>
            </a:extLst>
          </p:cNvPr>
          <p:cNvSpPr>
            <a:spLocks xmlns:a="http://schemas.openxmlformats.org/drawingml/2006/main" noGrp="1"/>
          </p:cNvSpPr>
          <p:nvPr/>
        </p:nvSpPr>
        <p:spPr>
          <a:xfrm xmlns:a="http://schemas.openxmlformats.org/drawingml/2006/main">
            <a:off x="9315450" y="3257550"/>
            <a:ext cx="1905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26384F"/>
                </a:solidFill>
                <a:latin typeface="Aptos"/>
                <a:ea typeface="Aptos"/>
                <a:cs typeface="Aptos"/>
              </a:defRPr>
            </a:pPr>
            <a:r>
              <a:rPr sz="1350" b="0">
                <a:solidFill>
                  <a:srgbClr val="26384F"/>
                </a:solidFill>
                <a:latin typeface="Aptos"/>
                <a:ea typeface="Aptos"/>
                <a:cs typeface="Aptos"/>
              </a:rPr>
              <a:t>ERP rules approve, reject, or flag exceptions</a:t>
            </a:r>
          </a:p>
        </p:txBody>
      </p:sp>
      <p:sp>
        <p:nvSpPr>
          <p:cNvPr id="22" name="">
            <a:extLst xmlns:a="http://schemas.openxmlformats.org/drawingml/2006/main">
              <a:ext uri="{FF2B5EF4-FFF2-40B4-BE49-F238E27FC236}">
                <a16:creationId xmlns:a16="http://schemas.microsoft.com/office/drawing/2014/main" id="{F585DC5A-F577-439D-B416-2B107F4CD55D}"/>
              </a:ext>
            </a:extLst>
          </p:cNvPr>
          <p:cNvSpPr>
            <a:spLocks xmlns:a="http://schemas.openxmlformats.org/drawingml/2006/main" noGrp="1"/>
          </p:cNvSpPr>
          <p:nvPr/>
        </p:nvSpPr>
        <p:spPr>
          <a:xfrm xmlns:a="http://schemas.openxmlformats.org/drawingml/2006/main">
            <a:off x="1447800" y="4857750"/>
            <a:ext cx="9334500" cy="514350"/>
          </a:xfrm>
          <a:prstGeom xmlns:a="http://schemas.openxmlformats.org/drawingml/2006/main" prst="rect">
            <a:avLst/>
          </a:prstGeom>
          <a:solidFill xmlns:a="http://schemas.openxmlformats.org/drawingml/2006/main">
            <a:srgbClr val="E7EEF5"/>
          </a:solidFill>
          <a:ln xmlns:a="http://schemas.openxmlformats.org/drawingml/2006/main" w="9525">
            <a:solidFill>
              <a:srgbClr val="1A3C5E"/>
            </a:solidFill>
            <a:prstDash val="solid"/>
          </a:ln>
        </p:spPr>
      </p:sp>
      <p:sp>
        <p:nvSpPr>
          <p:cNvPr id="23" name="">
            <a:extLst xmlns:a="http://schemas.openxmlformats.org/drawingml/2006/main">
              <a:ext uri="{FF2B5EF4-FFF2-40B4-BE49-F238E27FC236}">
                <a16:creationId xmlns:a16="http://schemas.microsoft.com/office/drawing/2014/main" id="{50A2806C-77EF-4015-8247-2113866BF95C}"/>
              </a:ext>
            </a:extLst>
          </p:cNvPr>
          <p:cNvSpPr>
            <a:spLocks xmlns:a="http://schemas.openxmlformats.org/drawingml/2006/main" noGrp="1"/>
          </p:cNvSpPr>
          <p:nvPr/>
        </p:nvSpPr>
        <p:spPr>
          <a:xfrm xmlns:a="http://schemas.openxmlformats.org/drawingml/2006/main">
            <a:off x="1695450" y="4981575"/>
            <a:ext cx="8858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1A3C5E"/>
                </a:solidFill>
                <a:latin typeface="Aptos"/>
                <a:ea typeface="Aptos"/>
                <a:cs typeface="Aptos"/>
              </a:defRPr>
            </a:pPr>
            <a:r>
              <a:rPr sz="1500" b="1">
                <a:solidFill>
                  <a:srgbClr val="1A3C5E"/>
                </a:solidFill>
                <a:latin typeface="Aptos"/>
                <a:ea typeface="Aptos"/>
                <a:cs typeface="Aptos"/>
              </a:rPr>
              <a:t>Offline does not mean uncontrolled: synchronized records still pass through permissions, validation, and audit trail.</a:t>
            </a:r>
          </a:p>
        </p:txBody>
      </p:sp>
      <p:sp>
        <p:nvSpPr>
          <p:cNvPr id="24" name="">
            <a:extLst xmlns:a="http://schemas.openxmlformats.org/drawingml/2006/main">
              <a:ext uri="{FF2B5EF4-FFF2-40B4-BE49-F238E27FC236}">
                <a16:creationId xmlns:a16="http://schemas.microsoft.com/office/drawing/2014/main" id="{4EECD8FE-BF4F-4845-986E-D34C58BF9E34}"/>
              </a:ext>
            </a:extLst>
          </p:cNvPr>
          <p:cNvSpPr>
            <a:spLocks xmlns:a="http://schemas.openxmlformats.org/drawingml/2006/main" noGrp="1"/>
          </p:cNvSpPr>
          <p:nvPr/>
        </p:nvSpPr>
        <p:spPr>
          <a:xfrm xmlns:a="http://schemas.openxmlformats.org/drawingml/2006/main">
            <a:off x="514350" y="6496050"/>
            <a:ext cx="666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67085"/>
                </a:solidFill>
                <a:latin typeface="Aptos"/>
                <a:ea typeface="Aptos"/>
                <a:cs typeface="Aptos"/>
              </a:defRPr>
            </a:pPr>
            <a:r>
              <a:rPr sz="750" b="0">
                <a:solidFill>
                  <a:srgbClr val="667085"/>
                </a:solidFill>
                <a:latin typeface="Aptos"/>
                <a:ea typeface="Aptos"/>
                <a:cs typeface="Aptos"/>
              </a:rPr>
              <a:t>UFCL ERP System | Executive Management Presentation | June 2026</a:t>
            </a:r>
          </a:p>
        </p:txBody>
      </p:sp>
      <p:sp>
        <p:nvSpPr>
          <p:cNvPr id="25" name="">
            <a:extLst xmlns:a="http://schemas.openxmlformats.org/drawingml/2006/main">
              <a:ext uri="{FF2B5EF4-FFF2-40B4-BE49-F238E27FC236}">
                <a16:creationId xmlns:a16="http://schemas.microsoft.com/office/drawing/2014/main" id="{86971F3B-887B-48EF-B67E-CB54253834E8}"/>
              </a:ext>
            </a:extLst>
          </p:cNvPr>
          <p:cNvSpPr>
            <a:spLocks xmlns:a="http://schemas.openxmlformats.org/drawingml/2006/main" noGrp="1"/>
          </p:cNvSpPr>
          <p:nvPr/>
        </p:nvSpPr>
        <p:spPr>
          <a:xfrm xmlns:a="http://schemas.openxmlformats.org/drawingml/2006/main">
            <a:off x="11258550" y="645795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67085"/>
                </a:solidFill>
                <a:latin typeface="Aptos"/>
                <a:ea typeface="Aptos"/>
                <a:cs typeface="Aptos"/>
              </a:defRPr>
            </a:pPr>
            <a:r>
              <a:rPr sz="825" b="1">
                <a:solidFill>
                  <a:srgbClr val="667085"/>
                </a:solidFill>
                <a:latin typeface="Aptos"/>
                <a:ea typeface="Aptos"/>
                <a:cs typeface="Aptos"/>
              </a:rPr>
              <a:t>14</a:t>
            </a:r>
          </a:p>
        </p:txBody>
      </p:sp>
    </p:spTree>
    <p:extLst>
      <p:ext uri="{BB962C8B-B14F-4D97-AF65-F5344CB8AC3E}">
        <p14:creationId xmlns:p14="http://schemas.microsoft.com/office/powerpoint/2010/main" val="116350141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CBD3DCC-C66F-44A0-963F-04FEA976BBA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09873878-21D8-470E-80AE-F306B32B895A}"/>
              </a:ext>
            </a:extLst>
          </p:cNvPr>
          <p:cNvSpPr>
            <a:spLocks xmlns:a="http://schemas.openxmlformats.org/drawingml/2006/main" noGrp="1"/>
          </p:cNvSpPr>
          <p:nvPr/>
        </p:nvSpPr>
        <p:spPr>
          <a:xfrm xmlns:a="http://schemas.openxmlformats.org/drawingml/2006/main">
            <a:off x="514350" y="371475"/>
            <a:ext cx="95250" cy="952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03921DC0-A789-4B2D-81A7-BD2445633D9C}"/>
              </a:ext>
            </a:extLst>
          </p:cNvPr>
          <p:cNvSpPr>
            <a:spLocks xmlns:a="http://schemas.openxmlformats.org/drawingml/2006/main" noGrp="1"/>
          </p:cNvSpPr>
          <p:nvPr/>
        </p:nvSpPr>
        <p:spPr>
          <a:xfrm xmlns:a="http://schemas.openxmlformats.org/drawingml/2006/main">
            <a:off x="70485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SECURITY CONTROLS</a:t>
            </a:r>
          </a:p>
        </p:txBody>
      </p:sp>
      <p:sp>
        <p:nvSpPr>
          <p:cNvPr id="4" name="">
            <a:extLst xmlns:a="http://schemas.openxmlformats.org/drawingml/2006/main">
              <a:ext uri="{FF2B5EF4-FFF2-40B4-BE49-F238E27FC236}">
                <a16:creationId xmlns:a16="http://schemas.microsoft.com/office/drawing/2014/main" id="{D32C5986-DCD5-4614-A1B1-7A5D14644FD0}"/>
              </a:ext>
            </a:extLst>
          </p:cNvPr>
          <p:cNvSpPr>
            <a:spLocks xmlns:a="http://schemas.openxmlformats.org/drawingml/2006/main" noGrp="1"/>
          </p:cNvSpPr>
          <p:nvPr/>
        </p:nvSpPr>
        <p:spPr>
          <a:xfrm xmlns:a="http://schemas.openxmlformats.org/drawingml/2006/main">
            <a:off x="514350" y="685800"/>
            <a:ext cx="88582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42033"/>
                </a:solidFill>
                <a:latin typeface="Aptos Display"/>
                <a:ea typeface="Aptos Display"/>
                <a:cs typeface="Aptos Display"/>
              </a:defRPr>
            </a:pPr>
            <a:r>
              <a:rPr sz="2550" b="1">
                <a:solidFill>
                  <a:srgbClr val="142033"/>
                </a:solidFill>
                <a:latin typeface="Aptos Display"/>
                <a:ea typeface="Aptos Display"/>
                <a:cs typeface="Aptos Display"/>
              </a:rPr>
              <a:t>Phase 1 includes the controls required to protect accountability and prevent high-risk access mistakes.</a:t>
            </a:r>
          </a:p>
        </p:txBody>
      </p:sp>
      <p:sp>
        <p:nvSpPr>
          <p:cNvPr id="5" name="">
            <a:extLst xmlns:a="http://schemas.openxmlformats.org/drawingml/2006/main">
              <a:ext uri="{FF2B5EF4-FFF2-40B4-BE49-F238E27FC236}">
                <a16:creationId xmlns:a16="http://schemas.microsoft.com/office/drawing/2014/main" id="{73170FE4-04EA-40D2-804B-D93095C1773B}"/>
              </a:ext>
            </a:extLst>
          </p:cNvPr>
          <p:cNvSpPr>
            <a:spLocks xmlns:a="http://schemas.openxmlformats.org/drawingml/2006/main" noGrp="1"/>
          </p:cNvSpPr>
          <p:nvPr/>
        </p:nvSpPr>
        <p:spPr>
          <a:xfrm xmlns:a="http://schemas.openxmlformats.org/drawingml/2006/main">
            <a:off x="514350" y="1600200"/>
            <a:ext cx="11163300" cy="9525"/>
          </a:xfrm>
          <a:prstGeom xmlns:a="http://schemas.openxmlformats.org/drawingml/2006/main" prst="rect">
            <a:avLst/>
          </a:prstGeom>
          <a:solidFill xmlns:a="http://schemas.openxmlformats.org/drawingml/2006/main">
            <a:srgbClr val="D9DEE7"/>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2BC000F8-C03C-4DE9-861F-5A934BD871F1}"/>
              </a:ext>
            </a:extLst>
          </p:cNvPr>
          <p:cNvSpPr>
            <a:spLocks xmlns:a="http://schemas.openxmlformats.org/drawingml/2006/main" noGrp="1"/>
          </p:cNvSpPr>
          <p:nvPr/>
        </p:nvSpPr>
        <p:spPr>
          <a:xfrm xmlns:a="http://schemas.openxmlformats.org/drawingml/2006/main">
            <a:off x="742950" y="2076450"/>
            <a:ext cx="30480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7" name="">
            <a:extLst xmlns:a="http://schemas.openxmlformats.org/drawingml/2006/main">
              <a:ext uri="{FF2B5EF4-FFF2-40B4-BE49-F238E27FC236}">
                <a16:creationId xmlns:a16="http://schemas.microsoft.com/office/drawing/2014/main" id="{C48851BA-267F-41B2-8091-34C16633ACBE}"/>
              </a:ext>
            </a:extLst>
          </p:cNvPr>
          <p:cNvSpPr>
            <a:spLocks xmlns:a="http://schemas.openxmlformats.org/drawingml/2006/main" noGrp="1"/>
          </p:cNvSpPr>
          <p:nvPr/>
        </p:nvSpPr>
        <p:spPr>
          <a:xfrm xmlns:a="http://schemas.openxmlformats.org/drawingml/2006/main">
            <a:off x="742950" y="2076450"/>
            <a:ext cx="3048000" cy="952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3AB7F259-915D-44B4-AAEC-79E15D3F8957}"/>
              </a:ext>
            </a:extLst>
          </p:cNvPr>
          <p:cNvSpPr>
            <a:spLocks xmlns:a="http://schemas.openxmlformats.org/drawingml/2006/main" noGrp="1"/>
          </p:cNvSpPr>
          <p:nvPr/>
        </p:nvSpPr>
        <p:spPr>
          <a:xfrm xmlns:a="http://schemas.openxmlformats.org/drawingml/2006/main">
            <a:off x="933450" y="2343150"/>
            <a:ext cx="2667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42033"/>
                </a:solidFill>
                <a:latin typeface="Aptos"/>
                <a:ea typeface="Aptos"/>
                <a:cs typeface="Aptos"/>
              </a:defRPr>
            </a:pPr>
            <a:r>
              <a:rPr sz="1425" b="1">
                <a:solidFill>
                  <a:srgbClr val="142033"/>
                </a:solidFill>
                <a:latin typeface="Aptos"/>
                <a:ea typeface="Aptos"/>
                <a:cs typeface="Aptos"/>
              </a:rPr>
              <a:t>Role-based access</a:t>
            </a:r>
          </a:p>
        </p:txBody>
      </p:sp>
      <p:sp>
        <p:nvSpPr>
          <p:cNvPr id="9" name="">
            <a:extLst xmlns:a="http://schemas.openxmlformats.org/drawingml/2006/main">
              <a:ext uri="{FF2B5EF4-FFF2-40B4-BE49-F238E27FC236}">
                <a16:creationId xmlns:a16="http://schemas.microsoft.com/office/drawing/2014/main" id="{2AB009F5-CC12-457C-9F7D-A8606859D38E}"/>
              </a:ext>
            </a:extLst>
          </p:cNvPr>
          <p:cNvSpPr>
            <a:spLocks xmlns:a="http://schemas.openxmlformats.org/drawingml/2006/main" noGrp="1"/>
          </p:cNvSpPr>
          <p:nvPr/>
        </p:nvSpPr>
        <p:spPr>
          <a:xfrm xmlns:a="http://schemas.openxmlformats.org/drawingml/2006/main">
            <a:off x="933450" y="2686050"/>
            <a:ext cx="2571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67085"/>
                </a:solidFill>
                <a:latin typeface="Aptos"/>
                <a:ea typeface="Aptos"/>
                <a:cs typeface="Aptos"/>
              </a:defRPr>
            </a:pPr>
            <a:r>
              <a:rPr sz="1125" b="0">
                <a:solidFill>
                  <a:srgbClr val="667085"/>
                </a:solidFill>
                <a:latin typeface="Aptos"/>
                <a:ea typeface="Aptos"/>
                <a:cs typeface="Aptos"/>
              </a:rPr>
              <a:t>Users see actions appropriate to their role.</a:t>
            </a:r>
          </a:p>
        </p:txBody>
      </p:sp>
      <p:sp>
        <p:nvSpPr>
          <p:cNvPr id="10" name="">
            <a:extLst xmlns:a="http://schemas.openxmlformats.org/drawingml/2006/main">
              <a:ext uri="{FF2B5EF4-FFF2-40B4-BE49-F238E27FC236}">
                <a16:creationId xmlns:a16="http://schemas.microsoft.com/office/drawing/2014/main" id="{696A4A61-D82C-4550-A602-C4A3446027F3}"/>
              </a:ext>
            </a:extLst>
          </p:cNvPr>
          <p:cNvSpPr>
            <a:spLocks xmlns:a="http://schemas.openxmlformats.org/drawingml/2006/main" noGrp="1"/>
          </p:cNvSpPr>
          <p:nvPr/>
        </p:nvSpPr>
        <p:spPr>
          <a:xfrm xmlns:a="http://schemas.openxmlformats.org/drawingml/2006/main">
            <a:off x="4400550" y="2076450"/>
            <a:ext cx="30480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11" name="">
            <a:extLst xmlns:a="http://schemas.openxmlformats.org/drawingml/2006/main">
              <a:ext uri="{FF2B5EF4-FFF2-40B4-BE49-F238E27FC236}">
                <a16:creationId xmlns:a16="http://schemas.microsoft.com/office/drawing/2014/main" id="{8C726F50-9C5E-4DF2-8C82-E00D63C32C19}"/>
              </a:ext>
            </a:extLst>
          </p:cNvPr>
          <p:cNvSpPr>
            <a:spLocks xmlns:a="http://schemas.openxmlformats.org/drawingml/2006/main" noGrp="1"/>
          </p:cNvSpPr>
          <p:nvPr/>
        </p:nvSpPr>
        <p:spPr>
          <a:xfrm xmlns:a="http://schemas.openxmlformats.org/drawingml/2006/main">
            <a:off x="4400550" y="2076450"/>
            <a:ext cx="3048000" cy="95250"/>
          </a:xfrm>
          <a:prstGeom xmlns:a="http://schemas.openxmlformats.org/drawingml/2006/main" prst="rect">
            <a:avLst/>
          </a:prstGeom>
          <a:solidFill xmlns:a="http://schemas.openxmlformats.org/drawingml/2006/main">
            <a:srgbClr val="1A3C5E"/>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AA2654BA-7745-40ED-A162-67CAA0098FB3}"/>
              </a:ext>
            </a:extLst>
          </p:cNvPr>
          <p:cNvSpPr>
            <a:spLocks xmlns:a="http://schemas.openxmlformats.org/drawingml/2006/main" noGrp="1"/>
          </p:cNvSpPr>
          <p:nvPr/>
        </p:nvSpPr>
        <p:spPr>
          <a:xfrm xmlns:a="http://schemas.openxmlformats.org/drawingml/2006/main">
            <a:off x="4591050" y="2343150"/>
            <a:ext cx="2667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42033"/>
                </a:solidFill>
                <a:latin typeface="Aptos"/>
                <a:ea typeface="Aptos"/>
                <a:cs typeface="Aptos"/>
              </a:defRPr>
            </a:pPr>
            <a:r>
              <a:rPr sz="1425" b="1">
                <a:solidFill>
                  <a:srgbClr val="142033"/>
                </a:solidFill>
                <a:latin typeface="Aptos"/>
                <a:ea typeface="Aptos"/>
                <a:cs typeface="Aptos"/>
              </a:rPr>
              <a:t>Workshop isolation</a:t>
            </a:r>
          </a:p>
        </p:txBody>
      </p:sp>
      <p:sp>
        <p:nvSpPr>
          <p:cNvPr id="13" name="">
            <a:extLst xmlns:a="http://schemas.openxmlformats.org/drawingml/2006/main">
              <a:ext uri="{FF2B5EF4-FFF2-40B4-BE49-F238E27FC236}">
                <a16:creationId xmlns:a16="http://schemas.microsoft.com/office/drawing/2014/main" id="{38816D4D-9882-4049-9ACD-B396D4EECD3B}"/>
              </a:ext>
            </a:extLst>
          </p:cNvPr>
          <p:cNvSpPr>
            <a:spLocks xmlns:a="http://schemas.openxmlformats.org/drawingml/2006/main" noGrp="1"/>
          </p:cNvSpPr>
          <p:nvPr/>
        </p:nvSpPr>
        <p:spPr>
          <a:xfrm xmlns:a="http://schemas.openxmlformats.org/drawingml/2006/main">
            <a:off x="4591050" y="2686050"/>
            <a:ext cx="2571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67085"/>
                </a:solidFill>
                <a:latin typeface="Aptos"/>
                <a:ea typeface="Aptos"/>
                <a:cs typeface="Aptos"/>
              </a:defRPr>
            </a:pPr>
            <a:r>
              <a:rPr sz="1125" b="0">
                <a:solidFill>
                  <a:srgbClr val="667085"/>
                </a:solidFill>
                <a:latin typeface="Aptos"/>
                <a:ea typeface="Aptos"/>
                <a:cs typeface="Aptos"/>
              </a:rPr>
              <a:t>Workshop-scoped users see only their own data.</a:t>
            </a:r>
          </a:p>
        </p:txBody>
      </p:sp>
      <p:sp>
        <p:nvSpPr>
          <p:cNvPr id="14" name="">
            <a:extLst xmlns:a="http://schemas.openxmlformats.org/drawingml/2006/main">
              <a:ext uri="{FF2B5EF4-FFF2-40B4-BE49-F238E27FC236}">
                <a16:creationId xmlns:a16="http://schemas.microsoft.com/office/drawing/2014/main" id="{8DEA1EEA-468C-4E27-8EE6-F360F96F4028}"/>
              </a:ext>
            </a:extLst>
          </p:cNvPr>
          <p:cNvSpPr>
            <a:spLocks xmlns:a="http://schemas.openxmlformats.org/drawingml/2006/main" noGrp="1"/>
          </p:cNvSpPr>
          <p:nvPr/>
        </p:nvSpPr>
        <p:spPr>
          <a:xfrm xmlns:a="http://schemas.openxmlformats.org/drawingml/2006/main">
            <a:off x="8058150" y="2076450"/>
            <a:ext cx="30480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15" name="">
            <a:extLst xmlns:a="http://schemas.openxmlformats.org/drawingml/2006/main">
              <a:ext uri="{FF2B5EF4-FFF2-40B4-BE49-F238E27FC236}">
                <a16:creationId xmlns:a16="http://schemas.microsoft.com/office/drawing/2014/main" id="{98E541E1-BE12-445D-92D3-A5BEC6DD248E}"/>
              </a:ext>
            </a:extLst>
          </p:cNvPr>
          <p:cNvSpPr>
            <a:spLocks xmlns:a="http://schemas.openxmlformats.org/drawingml/2006/main" noGrp="1"/>
          </p:cNvSpPr>
          <p:nvPr/>
        </p:nvSpPr>
        <p:spPr>
          <a:xfrm xmlns:a="http://schemas.openxmlformats.org/drawingml/2006/main">
            <a:off x="8058150" y="2076450"/>
            <a:ext cx="3048000" cy="95250"/>
          </a:xfrm>
          <a:prstGeom xmlns:a="http://schemas.openxmlformats.org/drawingml/2006/main" prst="rect">
            <a:avLst/>
          </a:prstGeom>
          <a:solidFill xmlns:a="http://schemas.openxmlformats.org/drawingml/2006/main">
            <a:srgbClr val="B5500A"/>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953D0EC1-7E66-48AF-B0BE-EC22177F0216}"/>
              </a:ext>
            </a:extLst>
          </p:cNvPr>
          <p:cNvSpPr>
            <a:spLocks xmlns:a="http://schemas.openxmlformats.org/drawingml/2006/main" noGrp="1"/>
          </p:cNvSpPr>
          <p:nvPr/>
        </p:nvSpPr>
        <p:spPr>
          <a:xfrm xmlns:a="http://schemas.openxmlformats.org/drawingml/2006/main">
            <a:off x="8248650" y="2343150"/>
            <a:ext cx="2667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42033"/>
                </a:solidFill>
                <a:latin typeface="Aptos"/>
                <a:ea typeface="Aptos"/>
                <a:cs typeface="Aptos"/>
              </a:defRPr>
            </a:pPr>
            <a:r>
              <a:rPr sz="1425" b="1">
                <a:solidFill>
                  <a:srgbClr val="142033"/>
                </a:solidFill>
                <a:latin typeface="Aptos"/>
                <a:ea typeface="Aptos"/>
                <a:cs typeface="Aptos"/>
              </a:rPr>
              <a:t>Read-only management</a:t>
            </a:r>
          </a:p>
        </p:txBody>
      </p:sp>
      <p:sp>
        <p:nvSpPr>
          <p:cNvPr id="17" name="">
            <a:extLst xmlns:a="http://schemas.openxmlformats.org/drawingml/2006/main">
              <a:ext uri="{FF2B5EF4-FFF2-40B4-BE49-F238E27FC236}">
                <a16:creationId xmlns:a16="http://schemas.microsoft.com/office/drawing/2014/main" id="{8C4179BF-57A8-4917-9DD0-C68A9CB72130}"/>
              </a:ext>
            </a:extLst>
          </p:cNvPr>
          <p:cNvSpPr>
            <a:spLocks xmlns:a="http://schemas.openxmlformats.org/drawingml/2006/main" noGrp="1"/>
          </p:cNvSpPr>
          <p:nvPr/>
        </p:nvSpPr>
        <p:spPr>
          <a:xfrm xmlns:a="http://schemas.openxmlformats.org/drawingml/2006/main">
            <a:off x="8248650" y="2686050"/>
            <a:ext cx="2571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67085"/>
                </a:solidFill>
                <a:latin typeface="Aptos"/>
                <a:ea typeface="Aptos"/>
                <a:cs typeface="Aptos"/>
              </a:defRPr>
            </a:pPr>
            <a:r>
              <a:rPr sz="1125" b="0">
                <a:solidFill>
                  <a:srgbClr val="667085"/>
                </a:solidFill>
                <a:latin typeface="Aptos"/>
                <a:ea typeface="Aptos"/>
                <a:cs typeface="Aptos"/>
              </a:rPr>
              <a:t>Manager role has visibility without edit/delete access.</a:t>
            </a:r>
          </a:p>
        </p:txBody>
      </p:sp>
      <p:sp>
        <p:nvSpPr>
          <p:cNvPr id="18" name="">
            <a:extLst xmlns:a="http://schemas.openxmlformats.org/drawingml/2006/main">
              <a:ext uri="{FF2B5EF4-FFF2-40B4-BE49-F238E27FC236}">
                <a16:creationId xmlns:a16="http://schemas.microsoft.com/office/drawing/2014/main" id="{390822DE-B680-44F4-BF44-1435BEB34B68}"/>
              </a:ext>
            </a:extLst>
          </p:cNvPr>
          <p:cNvSpPr>
            <a:spLocks xmlns:a="http://schemas.openxmlformats.org/drawingml/2006/main" noGrp="1"/>
          </p:cNvSpPr>
          <p:nvPr/>
        </p:nvSpPr>
        <p:spPr>
          <a:xfrm xmlns:a="http://schemas.openxmlformats.org/drawingml/2006/main">
            <a:off x="742950" y="4019550"/>
            <a:ext cx="30480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19" name="">
            <a:extLst xmlns:a="http://schemas.openxmlformats.org/drawingml/2006/main">
              <a:ext uri="{FF2B5EF4-FFF2-40B4-BE49-F238E27FC236}">
                <a16:creationId xmlns:a16="http://schemas.microsoft.com/office/drawing/2014/main" id="{E4DEF0AA-B3EE-43E2-808C-039F02963B03}"/>
              </a:ext>
            </a:extLst>
          </p:cNvPr>
          <p:cNvSpPr>
            <a:spLocks xmlns:a="http://schemas.openxmlformats.org/drawingml/2006/main" noGrp="1"/>
          </p:cNvSpPr>
          <p:nvPr/>
        </p:nvSpPr>
        <p:spPr>
          <a:xfrm xmlns:a="http://schemas.openxmlformats.org/drawingml/2006/main">
            <a:off x="742950" y="4019550"/>
            <a:ext cx="3048000" cy="95250"/>
          </a:xfrm>
          <a:prstGeom xmlns:a="http://schemas.openxmlformats.org/drawingml/2006/main" prst="rect">
            <a:avLst/>
          </a:prstGeom>
          <a:solidFill xmlns:a="http://schemas.openxmlformats.org/drawingml/2006/main">
            <a:srgbClr val="4A1A6E"/>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2EFEB614-CD86-41A9-A1EB-3DF829332D3D}"/>
              </a:ext>
            </a:extLst>
          </p:cNvPr>
          <p:cNvSpPr>
            <a:spLocks xmlns:a="http://schemas.openxmlformats.org/drawingml/2006/main" noGrp="1"/>
          </p:cNvSpPr>
          <p:nvPr/>
        </p:nvSpPr>
        <p:spPr>
          <a:xfrm xmlns:a="http://schemas.openxmlformats.org/drawingml/2006/main">
            <a:off x="933450" y="4286250"/>
            <a:ext cx="2667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42033"/>
                </a:solidFill>
                <a:latin typeface="Aptos"/>
                <a:ea typeface="Aptos"/>
                <a:cs typeface="Aptos"/>
              </a:defRPr>
            </a:pPr>
            <a:r>
              <a:rPr sz="1425" b="1">
                <a:solidFill>
                  <a:srgbClr val="142033"/>
                </a:solidFill>
                <a:latin typeface="Aptos"/>
                <a:ea typeface="Aptos"/>
                <a:cs typeface="Aptos"/>
              </a:rPr>
              <a:t>Audit trail</a:t>
            </a:r>
          </a:p>
        </p:txBody>
      </p:sp>
      <p:sp>
        <p:nvSpPr>
          <p:cNvPr id="21" name="">
            <a:extLst xmlns:a="http://schemas.openxmlformats.org/drawingml/2006/main">
              <a:ext uri="{FF2B5EF4-FFF2-40B4-BE49-F238E27FC236}">
                <a16:creationId xmlns:a16="http://schemas.microsoft.com/office/drawing/2014/main" id="{08E73CA0-09A2-4047-9058-90E6307B1DB9}"/>
              </a:ext>
            </a:extLst>
          </p:cNvPr>
          <p:cNvSpPr>
            <a:spLocks xmlns:a="http://schemas.openxmlformats.org/drawingml/2006/main" noGrp="1"/>
          </p:cNvSpPr>
          <p:nvPr/>
        </p:nvSpPr>
        <p:spPr>
          <a:xfrm xmlns:a="http://schemas.openxmlformats.org/drawingml/2006/main">
            <a:off x="933450" y="4629150"/>
            <a:ext cx="2571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67085"/>
                </a:solidFill>
                <a:latin typeface="Aptos"/>
                <a:ea typeface="Aptos"/>
                <a:cs typeface="Aptos"/>
              </a:defRPr>
            </a:pPr>
            <a:r>
              <a:rPr sz="1125" b="0">
                <a:solidFill>
                  <a:srgbClr val="667085"/>
                </a:solidFill>
                <a:latin typeface="Aptos"/>
                <a:ea typeface="Aptos"/>
                <a:cs typeface="Aptos"/>
              </a:rPr>
              <a:t>Create, edit, delete, approval, and key actions are recorded.</a:t>
            </a:r>
          </a:p>
        </p:txBody>
      </p:sp>
      <p:sp>
        <p:nvSpPr>
          <p:cNvPr id="22" name="">
            <a:extLst xmlns:a="http://schemas.openxmlformats.org/drawingml/2006/main">
              <a:ext uri="{FF2B5EF4-FFF2-40B4-BE49-F238E27FC236}">
                <a16:creationId xmlns:a16="http://schemas.microsoft.com/office/drawing/2014/main" id="{2E345588-478F-490A-A877-69E8185936C6}"/>
              </a:ext>
            </a:extLst>
          </p:cNvPr>
          <p:cNvSpPr>
            <a:spLocks xmlns:a="http://schemas.openxmlformats.org/drawingml/2006/main" noGrp="1"/>
          </p:cNvSpPr>
          <p:nvPr/>
        </p:nvSpPr>
        <p:spPr>
          <a:xfrm xmlns:a="http://schemas.openxmlformats.org/drawingml/2006/main">
            <a:off x="4400550" y="4019550"/>
            <a:ext cx="30480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23" name="">
            <a:extLst xmlns:a="http://schemas.openxmlformats.org/drawingml/2006/main">
              <a:ext uri="{FF2B5EF4-FFF2-40B4-BE49-F238E27FC236}">
                <a16:creationId xmlns:a16="http://schemas.microsoft.com/office/drawing/2014/main" id="{10FA3637-FE67-4FB5-B1C8-4A842894D8FB}"/>
              </a:ext>
            </a:extLst>
          </p:cNvPr>
          <p:cNvSpPr>
            <a:spLocks xmlns:a="http://schemas.openxmlformats.org/drawingml/2006/main" noGrp="1"/>
          </p:cNvSpPr>
          <p:nvPr/>
        </p:nvSpPr>
        <p:spPr>
          <a:xfrm xmlns:a="http://schemas.openxmlformats.org/drawingml/2006/main">
            <a:off x="4400550" y="4019550"/>
            <a:ext cx="3048000" cy="95250"/>
          </a:xfrm>
          <a:prstGeom xmlns:a="http://schemas.openxmlformats.org/drawingml/2006/main" prst="rect">
            <a:avLst/>
          </a:prstGeom>
          <a:solidFill xmlns:a="http://schemas.openxmlformats.org/drawingml/2006/main">
            <a:srgbClr val="0A7A6E"/>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DDB83DE1-6D50-438E-8E6F-9A12EF27EFC0}"/>
              </a:ext>
            </a:extLst>
          </p:cNvPr>
          <p:cNvSpPr>
            <a:spLocks xmlns:a="http://schemas.openxmlformats.org/drawingml/2006/main" noGrp="1"/>
          </p:cNvSpPr>
          <p:nvPr/>
        </p:nvSpPr>
        <p:spPr>
          <a:xfrm xmlns:a="http://schemas.openxmlformats.org/drawingml/2006/main">
            <a:off x="4591050" y="4286250"/>
            <a:ext cx="2667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42033"/>
                </a:solidFill>
                <a:latin typeface="Aptos"/>
                <a:ea typeface="Aptos"/>
                <a:cs typeface="Aptos"/>
              </a:defRPr>
            </a:pPr>
            <a:r>
              <a:rPr sz="1425" b="1">
                <a:solidFill>
                  <a:srgbClr val="142033"/>
                </a:solidFill>
                <a:latin typeface="Aptos"/>
                <a:ea typeface="Aptos"/>
                <a:cs typeface="Aptos"/>
              </a:rPr>
              <a:t>Admin safeguards</a:t>
            </a:r>
          </a:p>
        </p:txBody>
      </p:sp>
      <p:sp>
        <p:nvSpPr>
          <p:cNvPr id="25" name="">
            <a:extLst xmlns:a="http://schemas.openxmlformats.org/drawingml/2006/main">
              <a:ext uri="{FF2B5EF4-FFF2-40B4-BE49-F238E27FC236}">
                <a16:creationId xmlns:a16="http://schemas.microsoft.com/office/drawing/2014/main" id="{011AD47D-D1F4-4B25-B9A6-2825C814C84D}"/>
              </a:ext>
            </a:extLst>
          </p:cNvPr>
          <p:cNvSpPr>
            <a:spLocks xmlns:a="http://schemas.openxmlformats.org/drawingml/2006/main" noGrp="1"/>
          </p:cNvSpPr>
          <p:nvPr/>
        </p:nvSpPr>
        <p:spPr>
          <a:xfrm xmlns:a="http://schemas.openxmlformats.org/drawingml/2006/main">
            <a:off x="4591050" y="4629150"/>
            <a:ext cx="2571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67085"/>
                </a:solidFill>
                <a:latin typeface="Aptos"/>
                <a:ea typeface="Aptos"/>
                <a:cs typeface="Aptos"/>
              </a:defRPr>
            </a:pPr>
            <a:r>
              <a:rPr sz="1125" b="0">
                <a:solidFill>
                  <a:srgbClr val="667085"/>
                </a:solidFill>
                <a:latin typeface="Aptos"/>
                <a:ea typeface="Aptos"/>
                <a:cs typeface="Aptos"/>
              </a:rPr>
              <a:t>Cannot delete own account or last admin account.</a:t>
            </a:r>
          </a:p>
        </p:txBody>
      </p:sp>
      <p:sp>
        <p:nvSpPr>
          <p:cNvPr id="26" name="">
            <a:extLst xmlns:a="http://schemas.openxmlformats.org/drawingml/2006/main">
              <a:ext uri="{FF2B5EF4-FFF2-40B4-BE49-F238E27FC236}">
                <a16:creationId xmlns:a16="http://schemas.microsoft.com/office/drawing/2014/main" id="{8E5B8BAB-D3BC-4769-899E-241005F493FE}"/>
              </a:ext>
            </a:extLst>
          </p:cNvPr>
          <p:cNvSpPr>
            <a:spLocks xmlns:a="http://schemas.openxmlformats.org/drawingml/2006/main" noGrp="1"/>
          </p:cNvSpPr>
          <p:nvPr/>
        </p:nvSpPr>
        <p:spPr>
          <a:xfrm xmlns:a="http://schemas.openxmlformats.org/drawingml/2006/main">
            <a:off x="8058150" y="4019550"/>
            <a:ext cx="30480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7"/>
            </a:solidFill>
            <a:prstDash val="solid"/>
          </a:ln>
        </p:spPr>
      </p:sp>
      <p:sp>
        <p:nvSpPr>
          <p:cNvPr id="27" name="">
            <a:extLst xmlns:a="http://schemas.openxmlformats.org/drawingml/2006/main">
              <a:ext uri="{FF2B5EF4-FFF2-40B4-BE49-F238E27FC236}">
                <a16:creationId xmlns:a16="http://schemas.microsoft.com/office/drawing/2014/main" id="{FBA6677F-28AF-463C-85C8-A136F80CEEF4}"/>
              </a:ext>
            </a:extLst>
          </p:cNvPr>
          <p:cNvSpPr>
            <a:spLocks xmlns:a="http://schemas.openxmlformats.org/drawingml/2006/main" noGrp="1"/>
          </p:cNvSpPr>
          <p:nvPr/>
        </p:nvSpPr>
        <p:spPr>
          <a:xfrm xmlns:a="http://schemas.openxmlformats.org/drawingml/2006/main">
            <a:off x="8058150" y="4019550"/>
            <a:ext cx="3048000" cy="952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6FEDD3EB-9909-4926-A74D-68F803C0B934}"/>
              </a:ext>
            </a:extLst>
          </p:cNvPr>
          <p:cNvSpPr>
            <a:spLocks xmlns:a="http://schemas.openxmlformats.org/drawingml/2006/main" noGrp="1"/>
          </p:cNvSpPr>
          <p:nvPr/>
        </p:nvSpPr>
        <p:spPr>
          <a:xfrm xmlns:a="http://schemas.openxmlformats.org/drawingml/2006/main">
            <a:off x="8248650" y="4286250"/>
            <a:ext cx="2667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42033"/>
                </a:solidFill>
                <a:latin typeface="Aptos"/>
                <a:ea typeface="Aptos"/>
                <a:cs typeface="Aptos"/>
              </a:defRPr>
            </a:pPr>
            <a:r>
              <a:rPr sz="1425" b="1">
                <a:solidFill>
                  <a:srgbClr val="142033"/>
                </a:solidFill>
                <a:latin typeface="Aptos"/>
                <a:ea typeface="Aptos"/>
                <a:cs typeface="Aptos"/>
              </a:rPr>
              <a:t>Historical integrity</a:t>
            </a:r>
          </a:p>
        </p:txBody>
      </p:sp>
      <p:sp>
        <p:nvSpPr>
          <p:cNvPr id="29" name="">
            <a:extLst xmlns:a="http://schemas.openxmlformats.org/drawingml/2006/main">
              <a:ext uri="{FF2B5EF4-FFF2-40B4-BE49-F238E27FC236}">
                <a16:creationId xmlns:a16="http://schemas.microsoft.com/office/drawing/2014/main" id="{C0EB7657-3CD1-4C8C-959C-BD079576825B}"/>
              </a:ext>
            </a:extLst>
          </p:cNvPr>
          <p:cNvSpPr>
            <a:spLocks xmlns:a="http://schemas.openxmlformats.org/drawingml/2006/main" noGrp="1"/>
          </p:cNvSpPr>
          <p:nvPr/>
        </p:nvSpPr>
        <p:spPr>
          <a:xfrm xmlns:a="http://schemas.openxmlformats.org/drawingml/2006/main">
            <a:off x="8248650" y="4629150"/>
            <a:ext cx="2571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67085"/>
                </a:solidFill>
                <a:latin typeface="Aptos"/>
                <a:ea typeface="Aptos"/>
                <a:cs typeface="Aptos"/>
              </a:defRPr>
            </a:pPr>
            <a:r>
              <a:rPr sz="1125" b="0">
                <a:solidFill>
                  <a:srgbClr val="667085"/>
                </a:solidFill>
                <a:latin typeface="Aptos"/>
                <a:ea typeface="Aptos"/>
                <a:cs typeface="Aptos"/>
              </a:rPr>
              <a:t>Deleted users do not break past records.</a:t>
            </a:r>
          </a:p>
        </p:txBody>
      </p:sp>
      <p:sp>
        <p:nvSpPr>
          <p:cNvPr id="30" name="">
            <a:extLst xmlns:a="http://schemas.openxmlformats.org/drawingml/2006/main">
              <a:ext uri="{FF2B5EF4-FFF2-40B4-BE49-F238E27FC236}">
                <a16:creationId xmlns:a16="http://schemas.microsoft.com/office/drawing/2014/main" id="{B9EFCBBA-01E6-4185-8FA8-7407063B30D4}"/>
              </a:ext>
            </a:extLst>
          </p:cNvPr>
          <p:cNvSpPr>
            <a:spLocks xmlns:a="http://schemas.openxmlformats.org/drawingml/2006/main" noGrp="1"/>
          </p:cNvSpPr>
          <p:nvPr/>
        </p:nvSpPr>
        <p:spPr>
          <a:xfrm xmlns:a="http://schemas.openxmlformats.org/drawingml/2006/main">
            <a:off x="514350" y="6496050"/>
            <a:ext cx="666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67085"/>
                </a:solidFill>
                <a:latin typeface="Aptos"/>
                <a:ea typeface="Aptos"/>
                <a:cs typeface="Aptos"/>
              </a:defRPr>
            </a:pPr>
            <a:r>
              <a:rPr sz="750" b="0">
                <a:solidFill>
                  <a:srgbClr val="667085"/>
                </a:solidFill>
                <a:latin typeface="Aptos"/>
                <a:ea typeface="Aptos"/>
                <a:cs typeface="Aptos"/>
              </a:rPr>
              <a:t>UFCL ERP System | Executive Management Presentation | June 2026</a:t>
            </a:r>
          </a:p>
        </p:txBody>
      </p:sp>
      <p:sp>
        <p:nvSpPr>
          <p:cNvPr id="31" name="">
            <a:extLst xmlns:a="http://schemas.openxmlformats.org/drawingml/2006/main">
              <a:ext uri="{FF2B5EF4-FFF2-40B4-BE49-F238E27FC236}">
                <a16:creationId xmlns:a16="http://schemas.microsoft.com/office/drawing/2014/main" id="{469FA658-8C48-41E3-9881-9E4438757F09}"/>
              </a:ext>
            </a:extLst>
          </p:cNvPr>
          <p:cNvSpPr>
            <a:spLocks xmlns:a="http://schemas.openxmlformats.org/drawingml/2006/main" noGrp="1"/>
          </p:cNvSpPr>
          <p:nvPr/>
        </p:nvSpPr>
        <p:spPr>
          <a:xfrm xmlns:a="http://schemas.openxmlformats.org/drawingml/2006/main">
            <a:off x="11258550" y="645795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67085"/>
                </a:solidFill>
                <a:latin typeface="Aptos"/>
                <a:ea typeface="Aptos"/>
                <a:cs typeface="Aptos"/>
              </a:defRPr>
            </a:pPr>
            <a:r>
              <a:rPr sz="825" b="1">
                <a:solidFill>
                  <a:srgbClr val="667085"/>
                </a:solidFill>
                <a:latin typeface="Aptos"/>
                <a:ea typeface="Aptos"/>
                <a:cs typeface="Aptos"/>
              </a:rPr>
              <a:t>15</a:t>
            </a:r>
          </a:p>
        </p:txBody>
      </p:sp>
    </p:spTree>
    <p:extLst>
      <p:ext uri="{BB962C8B-B14F-4D97-AF65-F5344CB8AC3E}">
        <p14:creationId xmlns:p14="http://schemas.microsoft.com/office/powerpoint/2010/main" val="61853356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B7F0B3B-FDB1-451E-AEBE-099B88A8531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9387B708-9619-4C63-8214-D5582EECD185}"/>
              </a:ext>
            </a:extLst>
          </p:cNvPr>
          <p:cNvSpPr>
            <a:spLocks xmlns:a="http://schemas.openxmlformats.org/drawingml/2006/main" noGrp="1"/>
          </p:cNvSpPr>
          <p:nvPr/>
        </p:nvSpPr>
        <p:spPr>
          <a:xfrm xmlns:a="http://schemas.openxmlformats.org/drawingml/2006/main">
            <a:off x="514350" y="371475"/>
            <a:ext cx="95250" cy="952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0120E484-DBB9-4D83-91A6-762270E27E71}"/>
              </a:ext>
            </a:extLst>
          </p:cNvPr>
          <p:cNvSpPr>
            <a:spLocks xmlns:a="http://schemas.openxmlformats.org/drawingml/2006/main" noGrp="1"/>
          </p:cNvSpPr>
          <p:nvPr/>
        </p:nvSpPr>
        <p:spPr>
          <a:xfrm xmlns:a="http://schemas.openxmlformats.org/drawingml/2006/main">
            <a:off x="70485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IMPLEMENTATION PROGRESS</a:t>
            </a:r>
          </a:p>
        </p:txBody>
      </p:sp>
      <p:sp>
        <p:nvSpPr>
          <p:cNvPr id="4" name="">
            <a:extLst xmlns:a="http://schemas.openxmlformats.org/drawingml/2006/main">
              <a:ext uri="{FF2B5EF4-FFF2-40B4-BE49-F238E27FC236}">
                <a16:creationId xmlns:a16="http://schemas.microsoft.com/office/drawing/2014/main" id="{B824B21B-E849-465A-8840-F5EEF6404B30}"/>
              </a:ext>
            </a:extLst>
          </p:cNvPr>
          <p:cNvSpPr>
            <a:spLocks xmlns:a="http://schemas.openxmlformats.org/drawingml/2006/main" noGrp="1"/>
          </p:cNvSpPr>
          <p:nvPr/>
        </p:nvSpPr>
        <p:spPr>
          <a:xfrm xmlns:a="http://schemas.openxmlformats.org/drawingml/2006/main">
            <a:off x="514350" y="685800"/>
            <a:ext cx="88582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42033"/>
                </a:solidFill>
                <a:latin typeface="Aptos Display"/>
                <a:ea typeface="Aptos Display"/>
                <a:cs typeface="Aptos Display"/>
              </a:defRPr>
            </a:pPr>
            <a:r>
              <a:rPr sz="2550" b="1">
                <a:solidFill>
                  <a:srgbClr val="142033"/>
                </a:solidFill>
                <a:latin typeface="Aptos Display"/>
                <a:ea typeface="Aptos Display"/>
                <a:cs typeface="Aptos Display"/>
              </a:rPr>
              <a:t>Phase 1 has moved from module build to an end-to-end UAT package with measurable readiness.</a:t>
            </a:r>
          </a:p>
        </p:txBody>
      </p:sp>
      <p:sp>
        <p:nvSpPr>
          <p:cNvPr id="5" name="">
            <a:extLst xmlns:a="http://schemas.openxmlformats.org/drawingml/2006/main">
              <a:ext uri="{FF2B5EF4-FFF2-40B4-BE49-F238E27FC236}">
                <a16:creationId xmlns:a16="http://schemas.microsoft.com/office/drawing/2014/main" id="{830AD140-8470-4670-8353-B8903E955B47}"/>
              </a:ext>
            </a:extLst>
          </p:cNvPr>
          <p:cNvSpPr>
            <a:spLocks xmlns:a="http://schemas.openxmlformats.org/drawingml/2006/main" noGrp="1"/>
          </p:cNvSpPr>
          <p:nvPr/>
        </p:nvSpPr>
        <p:spPr>
          <a:xfrm xmlns:a="http://schemas.openxmlformats.org/drawingml/2006/main">
            <a:off x="514350" y="1600200"/>
            <a:ext cx="11163300" cy="9525"/>
          </a:xfrm>
          <a:prstGeom xmlns:a="http://schemas.openxmlformats.org/drawingml/2006/main" prst="rect">
            <a:avLst/>
          </a:prstGeom>
          <a:solidFill xmlns:a="http://schemas.openxmlformats.org/drawingml/2006/main">
            <a:srgbClr val="D9DEE7"/>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B99B34E0-EE98-4498-93AE-05C1CE821598}"/>
              </a:ext>
            </a:extLst>
          </p:cNvPr>
          <p:cNvSpPr>
            <a:spLocks xmlns:a="http://schemas.openxmlformats.org/drawingml/2006/main" noGrp="1"/>
          </p:cNvSpPr>
          <p:nvPr/>
        </p:nvSpPr>
        <p:spPr>
          <a:xfrm xmlns:a="http://schemas.openxmlformats.org/drawingml/2006/main">
            <a:off x="1047750" y="2724150"/>
            <a:ext cx="247650" cy="2476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09D83848-1504-41ED-96E2-18BC35B89ECA}"/>
              </a:ext>
            </a:extLst>
          </p:cNvPr>
          <p:cNvSpPr>
            <a:spLocks xmlns:a="http://schemas.openxmlformats.org/drawingml/2006/main" noGrp="1"/>
          </p:cNvSpPr>
          <p:nvPr/>
        </p:nvSpPr>
        <p:spPr>
          <a:xfrm xmlns:a="http://schemas.openxmlformats.org/drawingml/2006/main">
            <a:off x="1295400" y="2847975"/>
            <a:ext cx="1676400" cy="190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329B8399-439B-40B0-A812-AECB1BE03D1B}"/>
              </a:ext>
            </a:extLst>
          </p:cNvPr>
          <p:cNvSpPr>
            <a:spLocks xmlns:a="http://schemas.openxmlformats.org/drawingml/2006/main" noGrp="1"/>
          </p:cNvSpPr>
          <p:nvPr/>
        </p:nvSpPr>
        <p:spPr>
          <a:xfrm xmlns:a="http://schemas.openxmlformats.org/drawingml/2006/main">
            <a:off x="619125" y="3219450"/>
            <a:ext cx="1104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42033"/>
                </a:solidFill>
                <a:latin typeface="Aptos"/>
                <a:ea typeface="Aptos"/>
                <a:cs typeface="Aptos"/>
              </a:defRPr>
            </a:pPr>
            <a:r>
              <a:rPr sz="1350" b="1">
                <a:solidFill>
                  <a:srgbClr val="142033"/>
                </a:solidFill>
                <a:latin typeface="Aptos"/>
                <a:ea typeface="Aptos"/>
                <a:cs typeface="Aptos"/>
              </a:rPr>
              <a:t>System setup</a:t>
            </a:r>
          </a:p>
        </p:txBody>
      </p:sp>
      <p:sp>
        <p:nvSpPr>
          <p:cNvPr id="9" name="">
            <a:extLst xmlns:a="http://schemas.openxmlformats.org/drawingml/2006/main">
              <a:ext uri="{FF2B5EF4-FFF2-40B4-BE49-F238E27FC236}">
                <a16:creationId xmlns:a16="http://schemas.microsoft.com/office/drawing/2014/main" id="{EFBBCFD0-8D15-4B78-B937-F0DCA516D02F}"/>
              </a:ext>
            </a:extLst>
          </p:cNvPr>
          <p:cNvSpPr>
            <a:spLocks xmlns:a="http://schemas.openxmlformats.org/drawingml/2006/main" noGrp="1"/>
          </p:cNvSpPr>
          <p:nvPr/>
        </p:nvSpPr>
        <p:spPr>
          <a:xfrm xmlns:a="http://schemas.openxmlformats.org/drawingml/2006/main">
            <a:off x="419100" y="3562350"/>
            <a:ext cx="15049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667085"/>
                </a:solidFill>
                <a:latin typeface="Aptos"/>
                <a:ea typeface="Aptos"/>
                <a:cs typeface="Aptos"/>
              </a:defRPr>
            </a:pPr>
            <a:r>
              <a:rPr sz="1050" b="0">
                <a:solidFill>
                  <a:srgbClr val="667085"/>
                </a:solidFill>
                <a:latin typeface="Aptos"/>
                <a:ea typeface="Aptos"/>
                <a:cs typeface="Aptos"/>
              </a:rPr>
              <a:t>Users, roles, machines, vehicles, compartments</a:t>
            </a:r>
          </a:p>
        </p:txBody>
      </p:sp>
      <p:sp>
        <p:nvSpPr>
          <p:cNvPr id="10" name="">
            <a:extLst xmlns:a="http://schemas.openxmlformats.org/drawingml/2006/main">
              <a:ext uri="{FF2B5EF4-FFF2-40B4-BE49-F238E27FC236}">
                <a16:creationId xmlns:a16="http://schemas.microsoft.com/office/drawing/2014/main" id="{7589A1A1-FAA7-476A-B590-90C3461E5543}"/>
              </a:ext>
            </a:extLst>
          </p:cNvPr>
          <p:cNvSpPr>
            <a:spLocks xmlns:a="http://schemas.openxmlformats.org/drawingml/2006/main" noGrp="1"/>
          </p:cNvSpPr>
          <p:nvPr/>
        </p:nvSpPr>
        <p:spPr>
          <a:xfrm xmlns:a="http://schemas.openxmlformats.org/drawingml/2006/main">
            <a:off x="3143250" y="2724150"/>
            <a:ext cx="247650" cy="2476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E4318665-6B1D-4B2B-B503-916D4AF5F7F6}"/>
              </a:ext>
            </a:extLst>
          </p:cNvPr>
          <p:cNvSpPr>
            <a:spLocks xmlns:a="http://schemas.openxmlformats.org/drawingml/2006/main" noGrp="1"/>
          </p:cNvSpPr>
          <p:nvPr/>
        </p:nvSpPr>
        <p:spPr>
          <a:xfrm xmlns:a="http://schemas.openxmlformats.org/drawingml/2006/main">
            <a:off x="3390900" y="2847975"/>
            <a:ext cx="1676400" cy="190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DAC6EEE7-63E5-48FD-83ED-C4AB4D4F3D5C}"/>
              </a:ext>
            </a:extLst>
          </p:cNvPr>
          <p:cNvSpPr>
            <a:spLocks xmlns:a="http://schemas.openxmlformats.org/drawingml/2006/main" noGrp="1"/>
          </p:cNvSpPr>
          <p:nvPr/>
        </p:nvSpPr>
        <p:spPr>
          <a:xfrm xmlns:a="http://schemas.openxmlformats.org/drawingml/2006/main">
            <a:off x="2714625" y="3219450"/>
            <a:ext cx="1104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42033"/>
                </a:solidFill>
                <a:latin typeface="Aptos"/>
                <a:ea typeface="Aptos"/>
                <a:cs typeface="Aptos"/>
              </a:defRPr>
            </a:pPr>
            <a:r>
              <a:rPr sz="1350" b="1">
                <a:solidFill>
                  <a:srgbClr val="142033"/>
                </a:solidFill>
                <a:latin typeface="Aptos"/>
                <a:ea typeface="Aptos"/>
                <a:cs typeface="Aptos"/>
              </a:rPr>
              <a:t>Timber chain</a:t>
            </a:r>
          </a:p>
        </p:txBody>
      </p:sp>
      <p:sp>
        <p:nvSpPr>
          <p:cNvPr id="13" name="">
            <a:extLst xmlns:a="http://schemas.openxmlformats.org/drawingml/2006/main">
              <a:ext uri="{FF2B5EF4-FFF2-40B4-BE49-F238E27FC236}">
                <a16:creationId xmlns:a16="http://schemas.microsoft.com/office/drawing/2014/main" id="{039EFBF3-1B14-4D88-8DDD-AD69838EE261}"/>
              </a:ext>
            </a:extLst>
          </p:cNvPr>
          <p:cNvSpPr>
            <a:spLocks xmlns:a="http://schemas.openxmlformats.org/drawingml/2006/main" noGrp="1"/>
          </p:cNvSpPr>
          <p:nvPr/>
        </p:nvSpPr>
        <p:spPr>
          <a:xfrm xmlns:a="http://schemas.openxmlformats.org/drawingml/2006/main">
            <a:off x="2514600" y="3562350"/>
            <a:ext cx="15049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667085"/>
                </a:solidFill>
                <a:latin typeface="Aptos"/>
                <a:ea typeface="Aptos"/>
                <a:cs typeface="Aptos"/>
              </a:defRPr>
            </a:pPr>
            <a:r>
              <a:rPr sz="1050" b="0">
                <a:solidFill>
                  <a:srgbClr val="667085"/>
                </a:solidFill>
                <a:latin typeface="Aptos"/>
                <a:ea typeface="Aptos"/>
                <a:cs typeface="Aptos"/>
              </a:rPr>
              <a:t>Harvesting through timber sales</a:t>
            </a:r>
          </a:p>
        </p:txBody>
      </p:sp>
      <p:sp>
        <p:nvSpPr>
          <p:cNvPr id="14" name="">
            <a:extLst xmlns:a="http://schemas.openxmlformats.org/drawingml/2006/main">
              <a:ext uri="{FF2B5EF4-FFF2-40B4-BE49-F238E27FC236}">
                <a16:creationId xmlns:a16="http://schemas.microsoft.com/office/drawing/2014/main" id="{574E5C97-8C5A-443C-AEEB-CDBA06682515}"/>
              </a:ext>
            </a:extLst>
          </p:cNvPr>
          <p:cNvSpPr>
            <a:spLocks xmlns:a="http://schemas.openxmlformats.org/drawingml/2006/main" noGrp="1"/>
          </p:cNvSpPr>
          <p:nvPr/>
        </p:nvSpPr>
        <p:spPr>
          <a:xfrm xmlns:a="http://schemas.openxmlformats.org/drawingml/2006/main">
            <a:off x="5238750" y="2724150"/>
            <a:ext cx="247650" cy="2476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19054361-080F-48AF-A8B5-3EAD7C502E51}"/>
              </a:ext>
            </a:extLst>
          </p:cNvPr>
          <p:cNvSpPr>
            <a:spLocks xmlns:a="http://schemas.openxmlformats.org/drawingml/2006/main" noGrp="1"/>
          </p:cNvSpPr>
          <p:nvPr/>
        </p:nvSpPr>
        <p:spPr>
          <a:xfrm xmlns:a="http://schemas.openxmlformats.org/drawingml/2006/main">
            <a:off x="5486400" y="2847975"/>
            <a:ext cx="1676400" cy="190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6EFAD8B2-7FF7-48B0-8FA8-F3509E490557}"/>
              </a:ext>
            </a:extLst>
          </p:cNvPr>
          <p:cNvSpPr>
            <a:spLocks xmlns:a="http://schemas.openxmlformats.org/drawingml/2006/main" noGrp="1"/>
          </p:cNvSpPr>
          <p:nvPr/>
        </p:nvSpPr>
        <p:spPr>
          <a:xfrm xmlns:a="http://schemas.openxmlformats.org/drawingml/2006/main">
            <a:off x="4810125" y="3219450"/>
            <a:ext cx="1104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42033"/>
                </a:solidFill>
                <a:latin typeface="Aptos"/>
                <a:ea typeface="Aptos"/>
                <a:cs typeface="Aptos"/>
              </a:defRPr>
            </a:pPr>
            <a:r>
              <a:rPr sz="1350" b="1">
                <a:solidFill>
                  <a:srgbClr val="142033"/>
                </a:solidFill>
                <a:latin typeface="Aptos"/>
                <a:ea typeface="Aptos"/>
                <a:cs typeface="Aptos"/>
              </a:rPr>
              <a:t>Poles chain</a:t>
            </a:r>
          </a:p>
        </p:txBody>
      </p:sp>
      <p:sp>
        <p:nvSpPr>
          <p:cNvPr id="17" name="">
            <a:extLst xmlns:a="http://schemas.openxmlformats.org/drawingml/2006/main">
              <a:ext uri="{FF2B5EF4-FFF2-40B4-BE49-F238E27FC236}">
                <a16:creationId xmlns:a16="http://schemas.microsoft.com/office/drawing/2014/main" id="{8A79D9D5-11E0-4D1E-96EA-05F45E05BE1C}"/>
              </a:ext>
            </a:extLst>
          </p:cNvPr>
          <p:cNvSpPr>
            <a:spLocks xmlns:a="http://schemas.openxmlformats.org/drawingml/2006/main" noGrp="1"/>
          </p:cNvSpPr>
          <p:nvPr/>
        </p:nvSpPr>
        <p:spPr>
          <a:xfrm xmlns:a="http://schemas.openxmlformats.org/drawingml/2006/main">
            <a:off x="4610100" y="3562350"/>
            <a:ext cx="15049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667085"/>
                </a:solidFill>
                <a:latin typeface="Aptos"/>
                <a:ea typeface="Aptos"/>
                <a:cs typeface="Aptos"/>
              </a:defRPr>
            </a:pPr>
            <a:r>
              <a:rPr sz="1050" b="0">
                <a:solidFill>
                  <a:srgbClr val="667085"/>
                </a:solidFill>
                <a:latin typeface="Aptos"/>
                <a:ea typeface="Aptos"/>
                <a:cs typeface="Aptos"/>
              </a:rPr>
              <a:t>Request through poles sales</a:t>
            </a:r>
          </a:p>
        </p:txBody>
      </p:sp>
      <p:sp>
        <p:nvSpPr>
          <p:cNvPr id="18" name="">
            <a:extLst xmlns:a="http://schemas.openxmlformats.org/drawingml/2006/main">
              <a:ext uri="{FF2B5EF4-FFF2-40B4-BE49-F238E27FC236}">
                <a16:creationId xmlns:a16="http://schemas.microsoft.com/office/drawing/2014/main" id="{909E5C45-B54E-4B5F-8EB3-6B0E5BDCF3B9}"/>
              </a:ext>
            </a:extLst>
          </p:cNvPr>
          <p:cNvSpPr>
            <a:spLocks xmlns:a="http://schemas.openxmlformats.org/drawingml/2006/main" noGrp="1"/>
          </p:cNvSpPr>
          <p:nvPr/>
        </p:nvSpPr>
        <p:spPr>
          <a:xfrm xmlns:a="http://schemas.openxmlformats.org/drawingml/2006/main">
            <a:off x="7334250" y="2724150"/>
            <a:ext cx="247650" cy="2476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F53902C4-FF4A-46E1-A78A-55D8AAA4D2C0}"/>
              </a:ext>
            </a:extLst>
          </p:cNvPr>
          <p:cNvSpPr>
            <a:spLocks xmlns:a="http://schemas.openxmlformats.org/drawingml/2006/main" noGrp="1"/>
          </p:cNvSpPr>
          <p:nvPr/>
        </p:nvSpPr>
        <p:spPr>
          <a:xfrm xmlns:a="http://schemas.openxmlformats.org/drawingml/2006/main">
            <a:off x="7581900" y="2847975"/>
            <a:ext cx="1676400" cy="190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30E6E414-5991-4510-812F-F4D1398FD382}"/>
              </a:ext>
            </a:extLst>
          </p:cNvPr>
          <p:cNvSpPr>
            <a:spLocks xmlns:a="http://schemas.openxmlformats.org/drawingml/2006/main" noGrp="1"/>
          </p:cNvSpPr>
          <p:nvPr/>
        </p:nvSpPr>
        <p:spPr>
          <a:xfrm xmlns:a="http://schemas.openxmlformats.org/drawingml/2006/main">
            <a:off x="6905625" y="3219450"/>
            <a:ext cx="1104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42033"/>
                </a:solidFill>
                <a:latin typeface="Aptos"/>
                <a:ea typeface="Aptos"/>
                <a:cs typeface="Aptos"/>
              </a:defRPr>
            </a:pPr>
            <a:r>
              <a:rPr sz="1350" b="1">
                <a:solidFill>
                  <a:srgbClr val="142033"/>
                </a:solidFill>
                <a:latin typeface="Aptos"/>
                <a:ea typeface="Aptos"/>
                <a:cs typeface="Aptos"/>
              </a:rPr>
              <a:t>Security tests</a:t>
            </a:r>
          </a:p>
        </p:txBody>
      </p:sp>
      <p:sp>
        <p:nvSpPr>
          <p:cNvPr id="21" name="">
            <a:extLst xmlns:a="http://schemas.openxmlformats.org/drawingml/2006/main">
              <a:ext uri="{FF2B5EF4-FFF2-40B4-BE49-F238E27FC236}">
                <a16:creationId xmlns:a16="http://schemas.microsoft.com/office/drawing/2014/main" id="{A6ED08AB-581E-44E7-96C8-851E94F59A09}"/>
              </a:ext>
            </a:extLst>
          </p:cNvPr>
          <p:cNvSpPr>
            <a:spLocks xmlns:a="http://schemas.openxmlformats.org/drawingml/2006/main" noGrp="1"/>
          </p:cNvSpPr>
          <p:nvPr/>
        </p:nvSpPr>
        <p:spPr>
          <a:xfrm xmlns:a="http://schemas.openxmlformats.org/drawingml/2006/main">
            <a:off x="6705600" y="3562350"/>
            <a:ext cx="15049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667085"/>
                </a:solidFill>
                <a:latin typeface="Aptos"/>
                <a:ea typeface="Aptos"/>
                <a:cs typeface="Aptos"/>
              </a:defRPr>
            </a:pPr>
            <a:r>
              <a:rPr sz="1050" b="0">
                <a:solidFill>
                  <a:srgbClr val="667085"/>
                </a:solidFill>
                <a:latin typeface="Aptos"/>
                <a:ea typeface="Aptos"/>
                <a:cs typeface="Aptos"/>
              </a:rPr>
              <a:t>Audit, isolation, read-only, admin safeguards</a:t>
            </a:r>
          </a:p>
        </p:txBody>
      </p:sp>
      <p:sp>
        <p:nvSpPr>
          <p:cNvPr id="22" name="">
            <a:extLst xmlns:a="http://schemas.openxmlformats.org/drawingml/2006/main">
              <a:ext uri="{FF2B5EF4-FFF2-40B4-BE49-F238E27FC236}">
                <a16:creationId xmlns:a16="http://schemas.microsoft.com/office/drawing/2014/main" id="{D26C7668-7D45-4028-BE23-6C57B7A9725E}"/>
              </a:ext>
            </a:extLst>
          </p:cNvPr>
          <p:cNvSpPr>
            <a:spLocks xmlns:a="http://schemas.openxmlformats.org/drawingml/2006/main" noGrp="1"/>
          </p:cNvSpPr>
          <p:nvPr/>
        </p:nvSpPr>
        <p:spPr>
          <a:xfrm xmlns:a="http://schemas.openxmlformats.org/drawingml/2006/main">
            <a:off x="9429750" y="2724150"/>
            <a:ext cx="247650" cy="2476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FB180DA0-33BF-46A0-A77B-1728E2286864}"/>
              </a:ext>
            </a:extLst>
          </p:cNvPr>
          <p:cNvSpPr>
            <a:spLocks xmlns:a="http://schemas.openxmlformats.org/drawingml/2006/main" noGrp="1"/>
          </p:cNvSpPr>
          <p:nvPr/>
        </p:nvSpPr>
        <p:spPr>
          <a:xfrm xmlns:a="http://schemas.openxmlformats.org/drawingml/2006/main">
            <a:off x="9677400" y="2847975"/>
            <a:ext cx="0" cy="190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6664EE21-E51D-4AE2-8B45-182A4550FC0D}"/>
              </a:ext>
            </a:extLst>
          </p:cNvPr>
          <p:cNvSpPr>
            <a:spLocks xmlns:a="http://schemas.openxmlformats.org/drawingml/2006/main" noGrp="1"/>
          </p:cNvSpPr>
          <p:nvPr/>
        </p:nvSpPr>
        <p:spPr>
          <a:xfrm xmlns:a="http://schemas.openxmlformats.org/drawingml/2006/main">
            <a:off x="9001125" y="3219450"/>
            <a:ext cx="1104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42033"/>
                </a:solidFill>
                <a:latin typeface="Aptos"/>
                <a:ea typeface="Aptos"/>
                <a:cs typeface="Aptos"/>
              </a:defRPr>
            </a:pPr>
            <a:r>
              <a:rPr sz="1350" b="1">
                <a:solidFill>
                  <a:srgbClr val="142033"/>
                </a:solidFill>
                <a:latin typeface="Aptos"/>
                <a:ea typeface="Aptos"/>
                <a:cs typeface="Aptos"/>
              </a:rPr>
              <a:t>Sign-off pack</a:t>
            </a:r>
          </a:p>
        </p:txBody>
      </p:sp>
      <p:sp>
        <p:nvSpPr>
          <p:cNvPr id="25" name="">
            <a:extLst xmlns:a="http://schemas.openxmlformats.org/drawingml/2006/main">
              <a:ext uri="{FF2B5EF4-FFF2-40B4-BE49-F238E27FC236}">
                <a16:creationId xmlns:a16="http://schemas.microsoft.com/office/drawing/2014/main" id="{5BA01AF1-98A3-4729-80C1-41CF82AF8F97}"/>
              </a:ext>
            </a:extLst>
          </p:cNvPr>
          <p:cNvSpPr>
            <a:spLocks xmlns:a="http://schemas.openxmlformats.org/drawingml/2006/main" noGrp="1"/>
          </p:cNvSpPr>
          <p:nvPr/>
        </p:nvSpPr>
        <p:spPr>
          <a:xfrm xmlns:a="http://schemas.openxmlformats.org/drawingml/2006/main">
            <a:off x="8801100" y="3562350"/>
            <a:ext cx="15049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667085"/>
                </a:solidFill>
                <a:latin typeface="Aptos"/>
                <a:ea typeface="Aptos"/>
                <a:cs typeface="Aptos"/>
              </a:defRPr>
            </a:pPr>
            <a:r>
              <a:rPr sz="1050" b="0">
                <a:solidFill>
                  <a:srgbClr val="667085"/>
                </a:solidFill>
                <a:latin typeface="Aptos"/>
                <a:ea typeface="Aptos"/>
                <a:cs typeface="Aptos"/>
              </a:rPr>
              <a:t>63 cases and final summary table</a:t>
            </a:r>
          </a:p>
        </p:txBody>
      </p:sp>
      <p:sp>
        <p:nvSpPr>
          <p:cNvPr id="26" name="">
            <a:extLst xmlns:a="http://schemas.openxmlformats.org/drawingml/2006/main">
              <a:ext uri="{FF2B5EF4-FFF2-40B4-BE49-F238E27FC236}">
                <a16:creationId xmlns:a16="http://schemas.microsoft.com/office/drawing/2014/main" id="{C885B6A4-CBA1-4B3F-83FC-3A8DEA0C755C}"/>
              </a:ext>
            </a:extLst>
          </p:cNvPr>
          <p:cNvSpPr>
            <a:spLocks xmlns:a="http://schemas.openxmlformats.org/drawingml/2006/main" noGrp="1"/>
          </p:cNvSpPr>
          <p:nvPr/>
        </p:nvSpPr>
        <p:spPr>
          <a:xfrm xmlns:a="http://schemas.openxmlformats.org/drawingml/2006/main">
            <a:off x="2514600" y="4953000"/>
            <a:ext cx="7143750" cy="514350"/>
          </a:xfrm>
          <a:prstGeom xmlns:a="http://schemas.openxmlformats.org/drawingml/2006/main" prst="rect">
            <a:avLst/>
          </a:prstGeom>
          <a:solidFill xmlns:a="http://schemas.openxmlformats.org/drawingml/2006/main">
            <a:srgbClr val="E8F3EC"/>
          </a:solidFill>
          <a:ln xmlns:a="http://schemas.openxmlformats.org/drawingml/2006/main" w="9525">
            <a:solidFill>
              <a:srgbClr val="2D6A4F"/>
            </a:solidFill>
            <a:prstDash val="solid"/>
          </a:ln>
        </p:spPr>
      </p:sp>
      <p:sp>
        <p:nvSpPr>
          <p:cNvPr id="27" name="">
            <a:extLst xmlns:a="http://schemas.openxmlformats.org/drawingml/2006/main">
              <a:ext uri="{FF2B5EF4-FFF2-40B4-BE49-F238E27FC236}">
                <a16:creationId xmlns:a16="http://schemas.microsoft.com/office/drawing/2014/main" id="{9B8F6832-4DC7-48C2-8067-919B4CEFDA1B}"/>
              </a:ext>
            </a:extLst>
          </p:cNvPr>
          <p:cNvSpPr>
            <a:spLocks xmlns:a="http://schemas.openxmlformats.org/drawingml/2006/main" noGrp="1"/>
          </p:cNvSpPr>
          <p:nvPr/>
        </p:nvSpPr>
        <p:spPr>
          <a:xfrm xmlns:a="http://schemas.openxmlformats.org/drawingml/2006/main">
            <a:off x="2781300" y="5076825"/>
            <a:ext cx="6610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2D6A4F"/>
                </a:solidFill>
                <a:latin typeface="Aptos"/>
                <a:ea typeface="Aptos"/>
                <a:cs typeface="Aptos"/>
              </a:defRPr>
            </a:pPr>
            <a:r>
              <a:rPr sz="1500" b="1">
                <a:solidFill>
                  <a:srgbClr val="2D6A4F"/>
                </a:solidFill>
                <a:latin typeface="Aptos"/>
                <a:ea typeface="Aptos"/>
                <a:cs typeface="Aptos"/>
              </a:rPr>
              <a:t>Achievement: UFCL can now test the ERP as real production chains rather than isolated screens.</a:t>
            </a:r>
          </a:p>
        </p:txBody>
      </p:sp>
      <p:sp>
        <p:nvSpPr>
          <p:cNvPr id="28" name="">
            <a:extLst xmlns:a="http://schemas.openxmlformats.org/drawingml/2006/main">
              <a:ext uri="{FF2B5EF4-FFF2-40B4-BE49-F238E27FC236}">
                <a16:creationId xmlns:a16="http://schemas.microsoft.com/office/drawing/2014/main" id="{B225500A-E08F-402B-A3E6-F534D8764C47}"/>
              </a:ext>
            </a:extLst>
          </p:cNvPr>
          <p:cNvSpPr>
            <a:spLocks xmlns:a="http://schemas.openxmlformats.org/drawingml/2006/main" noGrp="1"/>
          </p:cNvSpPr>
          <p:nvPr/>
        </p:nvSpPr>
        <p:spPr>
          <a:xfrm xmlns:a="http://schemas.openxmlformats.org/drawingml/2006/main">
            <a:off x="514350" y="6496050"/>
            <a:ext cx="666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67085"/>
                </a:solidFill>
                <a:latin typeface="Aptos"/>
                <a:ea typeface="Aptos"/>
                <a:cs typeface="Aptos"/>
              </a:defRPr>
            </a:pPr>
            <a:r>
              <a:rPr sz="750" b="0">
                <a:solidFill>
                  <a:srgbClr val="667085"/>
                </a:solidFill>
                <a:latin typeface="Aptos"/>
                <a:ea typeface="Aptos"/>
                <a:cs typeface="Aptos"/>
              </a:rPr>
              <a:t>UFCL ERP System | Executive Management Presentation | June 2026</a:t>
            </a:r>
          </a:p>
        </p:txBody>
      </p:sp>
      <p:sp>
        <p:nvSpPr>
          <p:cNvPr id="29" name="">
            <a:extLst xmlns:a="http://schemas.openxmlformats.org/drawingml/2006/main">
              <a:ext uri="{FF2B5EF4-FFF2-40B4-BE49-F238E27FC236}">
                <a16:creationId xmlns:a16="http://schemas.microsoft.com/office/drawing/2014/main" id="{E16EBF12-5CF8-4827-A68C-9D88F9663B97}"/>
              </a:ext>
            </a:extLst>
          </p:cNvPr>
          <p:cNvSpPr>
            <a:spLocks xmlns:a="http://schemas.openxmlformats.org/drawingml/2006/main" noGrp="1"/>
          </p:cNvSpPr>
          <p:nvPr/>
        </p:nvSpPr>
        <p:spPr>
          <a:xfrm xmlns:a="http://schemas.openxmlformats.org/drawingml/2006/main">
            <a:off x="11258550" y="645795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67085"/>
                </a:solidFill>
                <a:latin typeface="Aptos"/>
                <a:ea typeface="Aptos"/>
                <a:cs typeface="Aptos"/>
              </a:defRPr>
            </a:pPr>
            <a:r>
              <a:rPr sz="825" b="1">
                <a:solidFill>
                  <a:srgbClr val="667085"/>
                </a:solidFill>
                <a:latin typeface="Aptos"/>
                <a:ea typeface="Aptos"/>
                <a:cs typeface="Aptos"/>
              </a:rPr>
              <a:t>16</a:t>
            </a:r>
          </a:p>
        </p:txBody>
      </p:sp>
    </p:spTree>
    <p:extLst>
      <p:ext uri="{BB962C8B-B14F-4D97-AF65-F5344CB8AC3E}">
        <p14:creationId xmlns:p14="http://schemas.microsoft.com/office/powerpoint/2010/main" val="119315169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50006FF-1719-4571-A28F-44B6346A8EC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7A637910-A5C4-4415-98C0-5CFF22CAB351}"/>
              </a:ext>
            </a:extLst>
          </p:cNvPr>
          <p:cNvSpPr>
            <a:spLocks xmlns:a="http://schemas.openxmlformats.org/drawingml/2006/main" noGrp="1"/>
          </p:cNvSpPr>
          <p:nvPr/>
        </p:nvSpPr>
        <p:spPr>
          <a:xfrm xmlns:a="http://schemas.openxmlformats.org/drawingml/2006/main">
            <a:off x="514350" y="371475"/>
            <a:ext cx="95250" cy="952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34A37CCD-0782-4C6D-B7B9-9ACE23C07572}"/>
              </a:ext>
            </a:extLst>
          </p:cNvPr>
          <p:cNvSpPr>
            <a:spLocks xmlns:a="http://schemas.openxmlformats.org/drawingml/2006/main" noGrp="1"/>
          </p:cNvSpPr>
          <p:nvPr/>
        </p:nvSpPr>
        <p:spPr>
          <a:xfrm xmlns:a="http://schemas.openxmlformats.org/drawingml/2006/main">
            <a:off x="70485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PHASE 1 COMPLETION</a:t>
            </a:r>
          </a:p>
        </p:txBody>
      </p:sp>
      <p:sp>
        <p:nvSpPr>
          <p:cNvPr id="4" name="">
            <a:extLst xmlns:a="http://schemas.openxmlformats.org/drawingml/2006/main">
              <a:ext uri="{FF2B5EF4-FFF2-40B4-BE49-F238E27FC236}">
                <a16:creationId xmlns:a16="http://schemas.microsoft.com/office/drawing/2014/main" id="{7442EF74-1245-475A-9112-2D031CE77320}"/>
              </a:ext>
            </a:extLst>
          </p:cNvPr>
          <p:cNvSpPr>
            <a:spLocks xmlns:a="http://schemas.openxmlformats.org/drawingml/2006/main" noGrp="1"/>
          </p:cNvSpPr>
          <p:nvPr/>
        </p:nvSpPr>
        <p:spPr>
          <a:xfrm xmlns:a="http://schemas.openxmlformats.org/drawingml/2006/main">
            <a:off x="514350" y="685800"/>
            <a:ext cx="88582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42033"/>
                </a:solidFill>
                <a:latin typeface="Aptos Display"/>
                <a:ea typeface="Aptos Display"/>
                <a:cs typeface="Aptos Display"/>
              </a:defRPr>
            </a:pPr>
            <a:r>
              <a:rPr sz="2550" b="1">
                <a:solidFill>
                  <a:srgbClr val="142033"/>
                </a:solidFill>
                <a:latin typeface="Aptos Display"/>
                <a:ea typeface="Aptos Display"/>
                <a:cs typeface="Aptos Display"/>
              </a:rPr>
              <a:t>Phase 1 is ready for formal UAT, with completion measured by business sign-off rather than development activity.</a:t>
            </a:r>
          </a:p>
        </p:txBody>
      </p:sp>
      <p:sp>
        <p:nvSpPr>
          <p:cNvPr id="5" name="">
            <a:extLst xmlns:a="http://schemas.openxmlformats.org/drawingml/2006/main">
              <a:ext uri="{FF2B5EF4-FFF2-40B4-BE49-F238E27FC236}">
                <a16:creationId xmlns:a16="http://schemas.microsoft.com/office/drawing/2014/main" id="{7EB2AA27-4049-4703-897B-690B19C51321}"/>
              </a:ext>
            </a:extLst>
          </p:cNvPr>
          <p:cNvSpPr>
            <a:spLocks xmlns:a="http://schemas.openxmlformats.org/drawingml/2006/main" noGrp="1"/>
          </p:cNvSpPr>
          <p:nvPr/>
        </p:nvSpPr>
        <p:spPr>
          <a:xfrm xmlns:a="http://schemas.openxmlformats.org/drawingml/2006/main">
            <a:off x="514350" y="1600200"/>
            <a:ext cx="11163300" cy="9525"/>
          </a:xfrm>
          <a:prstGeom xmlns:a="http://schemas.openxmlformats.org/drawingml/2006/main" prst="rect">
            <a:avLst/>
          </a:prstGeom>
          <a:solidFill xmlns:a="http://schemas.openxmlformats.org/drawingml/2006/main">
            <a:srgbClr val="D9DEE7"/>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68B65DCE-AADD-4D2A-9582-E66C7108C153}"/>
              </a:ext>
            </a:extLst>
          </p:cNvPr>
          <p:cNvSpPr>
            <a:spLocks xmlns:a="http://schemas.openxmlformats.org/drawingml/2006/main" noGrp="1"/>
          </p:cNvSpPr>
          <p:nvPr/>
        </p:nvSpPr>
        <p:spPr>
          <a:xfrm xmlns:a="http://schemas.openxmlformats.org/drawingml/2006/main">
            <a:off x="857250" y="2076450"/>
            <a:ext cx="2190750" cy="533400"/>
          </a:xfrm>
          <a:prstGeom xmlns:a="http://schemas.openxmlformats.org/drawingml/2006/main" prst="rect">
            <a:avLst/>
          </a:prstGeom>
          <a:solidFill xmlns:a="http://schemas.openxmlformats.org/drawingml/2006/main">
            <a:srgbClr val="E8F3EC"/>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09348D9D-05C2-4DEF-97C4-195B3238659E}"/>
              </a:ext>
            </a:extLst>
          </p:cNvPr>
          <p:cNvSpPr>
            <a:spLocks xmlns:a="http://schemas.openxmlformats.org/drawingml/2006/main" noGrp="1"/>
          </p:cNvSpPr>
          <p:nvPr/>
        </p:nvSpPr>
        <p:spPr>
          <a:xfrm xmlns:a="http://schemas.openxmlformats.org/drawingml/2006/main">
            <a:off x="1104900" y="2209800"/>
            <a:ext cx="1695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2D6A4F"/>
                </a:solidFill>
                <a:latin typeface="Aptos"/>
                <a:ea typeface="Aptos"/>
                <a:cs typeface="Aptos"/>
              </a:defRPr>
            </a:pPr>
            <a:r>
              <a:rPr sz="1350" b="1">
                <a:solidFill>
                  <a:srgbClr val="2D6A4F"/>
                </a:solidFill>
                <a:latin typeface="Aptos"/>
                <a:ea typeface="Aptos"/>
                <a:cs typeface="Aptos"/>
              </a:rPr>
              <a:t>Covered</a:t>
            </a:r>
          </a:p>
        </p:txBody>
      </p:sp>
      <p:sp>
        <p:nvSpPr>
          <p:cNvPr id="8" name="">
            <a:extLst xmlns:a="http://schemas.openxmlformats.org/drawingml/2006/main">
              <a:ext uri="{FF2B5EF4-FFF2-40B4-BE49-F238E27FC236}">
                <a16:creationId xmlns:a16="http://schemas.microsoft.com/office/drawing/2014/main" id="{57435272-8035-49EA-8B51-7698D0188779}"/>
              </a:ext>
            </a:extLst>
          </p:cNvPr>
          <p:cNvSpPr>
            <a:spLocks xmlns:a="http://schemas.openxmlformats.org/drawingml/2006/main" noGrp="1"/>
          </p:cNvSpPr>
          <p:nvPr/>
        </p:nvSpPr>
        <p:spPr>
          <a:xfrm xmlns:a="http://schemas.openxmlformats.org/drawingml/2006/main">
            <a:off x="3429000" y="215265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26384F"/>
                </a:solidFill>
                <a:latin typeface="Aptos"/>
                <a:ea typeface="Aptos"/>
                <a:cs typeface="Aptos"/>
              </a:defRPr>
            </a:pPr>
            <a:r>
              <a:rPr sz="1575" b="0">
                <a:solidFill>
                  <a:srgbClr val="26384F"/>
                </a:solidFill>
                <a:latin typeface="Aptos"/>
                <a:ea typeface="Aptos"/>
                <a:cs typeface="Aptos"/>
              </a:rPr>
              <a:t>63 UAT cases across 11 sections</a:t>
            </a:r>
          </a:p>
        </p:txBody>
      </p:sp>
      <p:sp>
        <p:nvSpPr>
          <p:cNvPr id="9" name="">
            <a:extLst xmlns:a="http://schemas.openxmlformats.org/drawingml/2006/main">
              <a:ext uri="{FF2B5EF4-FFF2-40B4-BE49-F238E27FC236}">
                <a16:creationId xmlns:a16="http://schemas.microsoft.com/office/drawing/2014/main" id="{4C476DBC-5BDD-490A-B3C9-C9D0052F0357}"/>
              </a:ext>
            </a:extLst>
          </p:cNvPr>
          <p:cNvSpPr>
            <a:spLocks xmlns:a="http://schemas.openxmlformats.org/drawingml/2006/main" noGrp="1"/>
          </p:cNvSpPr>
          <p:nvPr/>
        </p:nvSpPr>
        <p:spPr>
          <a:xfrm xmlns:a="http://schemas.openxmlformats.org/drawingml/2006/main">
            <a:off x="857250" y="2914650"/>
            <a:ext cx="2190750" cy="533400"/>
          </a:xfrm>
          <a:prstGeom xmlns:a="http://schemas.openxmlformats.org/drawingml/2006/main" prst="rect">
            <a:avLst/>
          </a:prstGeom>
          <a:solidFill xmlns:a="http://schemas.openxmlformats.org/drawingml/2006/main">
            <a:srgbClr val="E7EEF5"/>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B29ECE1E-20C3-4EE2-9E40-7B6538E8EA09}"/>
              </a:ext>
            </a:extLst>
          </p:cNvPr>
          <p:cNvSpPr>
            <a:spLocks xmlns:a="http://schemas.openxmlformats.org/drawingml/2006/main" noGrp="1"/>
          </p:cNvSpPr>
          <p:nvPr/>
        </p:nvSpPr>
        <p:spPr>
          <a:xfrm xmlns:a="http://schemas.openxmlformats.org/drawingml/2006/main">
            <a:off x="1104900" y="3048000"/>
            <a:ext cx="1695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A3C5E"/>
                </a:solidFill>
                <a:latin typeface="Aptos"/>
                <a:ea typeface="Aptos"/>
                <a:cs typeface="Aptos"/>
              </a:defRPr>
            </a:pPr>
            <a:r>
              <a:rPr sz="1350" b="1">
                <a:solidFill>
                  <a:srgbClr val="1A3C5E"/>
                </a:solidFill>
                <a:latin typeface="Aptos"/>
                <a:ea typeface="Aptos"/>
                <a:cs typeface="Aptos"/>
              </a:rPr>
              <a:t>Critical scope</a:t>
            </a:r>
          </a:p>
        </p:txBody>
      </p:sp>
      <p:sp>
        <p:nvSpPr>
          <p:cNvPr id="11" name="">
            <a:extLst xmlns:a="http://schemas.openxmlformats.org/drawingml/2006/main">
              <a:ext uri="{FF2B5EF4-FFF2-40B4-BE49-F238E27FC236}">
                <a16:creationId xmlns:a16="http://schemas.microsoft.com/office/drawing/2014/main" id="{586748B4-0314-4386-BAF7-710EA60BF9C3}"/>
              </a:ext>
            </a:extLst>
          </p:cNvPr>
          <p:cNvSpPr>
            <a:spLocks xmlns:a="http://schemas.openxmlformats.org/drawingml/2006/main" noGrp="1"/>
          </p:cNvSpPr>
          <p:nvPr/>
        </p:nvSpPr>
        <p:spPr>
          <a:xfrm xmlns:a="http://schemas.openxmlformats.org/drawingml/2006/main">
            <a:off x="3429000" y="299085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26384F"/>
                </a:solidFill>
                <a:latin typeface="Aptos"/>
                <a:ea typeface="Aptos"/>
                <a:cs typeface="Aptos"/>
              </a:defRPr>
            </a:pPr>
            <a:r>
              <a:rPr sz="1575" b="0">
                <a:solidFill>
                  <a:srgbClr val="26384F"/>
                </a:solidFill>
                <a:latin typeface="Aptos"/>
                <a:ea typeface="Aptos"/>
                <a:cs typeface="Aptos"/>
              </a:rPr>
              <a:t>Timber chain, poles chain, security, audit, workshop isolation</a:t>
            </a:r>
          </a:p>
        </p:txBody>
      </p:sp>
      <p:sp>
        <p:nvSpPr>
          <p:cNvPr id="12" name="">
            <a:extLst xmlns:a="http://schemas.openxmlformats.org/drawingml/2006/main">
              <a:ext uri="{FF2B5EF4-FFF2-40B4-BE49-F238E27FC236}">
                <a16:creationId xmlns:a16="http://schemas.microsoft.com/office/drawing/2014/main" id="{3F0B3EE2-EBB1-493D-B015-EB5A8EE2ABCF}"/>
              </a:ext>
            </a:extLst>
          </p:cNvPr>
          <p:cNvSpPr>
            <a:spLocks xmlns:a="http://schemas.openxmlformats.org/drawingml/2006/main" noGrp="1"/>
          </p:cNvSpPr>
          <p:nvPr/>
        </p:nvSpPr>
        <p:spPr>
          <a:xfrm xmlns:a="http://schemas.openxmlformats.org/drawingml/2006/main">
            <a:off x="857250" y="3752850"/>
            <a:ext cx="2190750" cy="533400"/>
          </a:xfrm>
          <a:prstGeom xmlns:a="http://schemas.openxmlformats.org/drawingml/2006/main" prst="rect">
            <a:avLst/>
          </a:prstGeom>
          <a:solidFill xmlns:a="http://schemas.openxmlformats.org/drawingml/2006/main">
            <a:srgbClr val="F8ECE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F2AD4E03-D133-4E43-8DB9-BCFB4A99D0FB}"/>
              </a:ext>
            </a:extLst>
          </p:cNvPr>
          <p:cNvSpPr>
            <a:spLocks xmlns:a="http://schemas.openxmlformats.org/drawingml/2006/main" noGrp="1"/>
          </p:cNvSpPr>
          <p:nvPr/>
        </p:nvSpPr>
        <p:spPr>
          <a:xfrm xmlns:a="http://schemas.openxmlformats.org/drawingml/2006/main">
            <a:off x="1104900" y="3886200"/>
            <a:ext cx="1695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B5500A"/>
                </a:solidFill>
                <a:latin typeface="Aptos"/>
                <a:ea typeface="Aptos"/>
                <a:cs typeface="Aptos"/>
              </a:defRPr>
            </a:pPr>
            <a:r>
              <a:rPr sz="1350" b="1">
                <a:solidFill>
                  <a:srgbClr val="B5500A"/>
                </a:solidFill>
                <a:latin typeface="Aptos"/>
                <a:ea typeface="Aptos"/>
                <a:cs typeface="Aptos"/>
              </a:rPr>
              <a:t>Completion standard</a:t>
            </a:r>
          </a:p>
        </p:txBody>
      </p:sp>
      <p:sp>
        <p:nvSpPr>
          <p:cNvPr id="14" name="">
            <a:extLst xmlns:a="http://schemas.openxmlformats.org/drawingml/2006/main">
              <a:ext uri="{FF2B5EF4-FFF2-40B4-BE49-F238E27FC236}">
                <a16:creationId xmlns:a16="http://schemas.microsoft.com/office/drawing/2014/main" id="{9D10E0CD-C54B-4F88-B5BE-C31579DD8776}"/>
              </a:ext>
            </a:extLst>
          </p:cNvPr>
          <p:cNvSpPr>
            <a:spLocks xmlns:a="http://schemas.openxmlformats.org/drawingml/2006/main" noGrp="1"/>
          </p:cNvSpPr>
          <p:nvPr/>
        </p:nvSpPr>
        <p:spPr>
          <a:xfrm xmlns:a="http://schemas.openxmlformats.org/drawingml/2006/main">
            <a:off x="3429000" y="382905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26384F"/>
                </a:solidFill>
                <a:latin typeface="Aptos"/>
                <a:ea typeface="Aptos"/>
                <a:cs typeface="Aptos"/>
              </a:defRPr>
            </a:pPr>
            <a:r>
              <a:rPr sz="1575" b="0">
                <a:solidFill>
                  <a:srgbClr val="26384F"/>
                </a:solidFill>
                <a:latin typeface="Aptos"/>
                <a:ea typeface="Aptos"/>
                <a:cs typeface="Aptos"/>
              </a:rPr>
              <a:t>All Critical and High cases pass; exceptions have documented workarounds</a:t>
            </a:r>
          </a:p>
        </p:txBody>
      </p:sp>
      <p:sp>
        <p:nvSpPr>
          <p:cNvPr id="15" name="">
            <a:extLst xmlns:a="http://schemas.openxmlformats.org/drawingml/2006/main">
              <a:ext uri="{FF2B5EF4-FFF2-40B4-BE49-F238E27FC236}">
                <a16:creationId xmlns:a16="http://schemas.microsoft.com/office/drawing/2014/main" id="{30E69130-D2A3-4B40-8B32-3021FF14A3D9}"/>
              </a:ext>
            </a:extLst>
          </p:cNvPr>
          <p:cNvSpPr>
            <a:spLocks xmlns:a="http://schemas.openxmlformats.org/drawingml/2006/main" noGrp="1"/>
          </p:cNvSpPr>
          <p:nvPr/>
        </p:nvSpPr>
        <p:spPr>
          <a:xfrm xmlns:a="http://schemas.openxmlformats.org/drawingml/2006/main">
            <a:off x="857250" y="4591050"/>
            <a:ext cx="2190750" cy="533400"/>
          </a:xfrm>
          <a:prstGeom xmlns:a="http://schemas.openxmlformats.org/drawingml/2006/main" prst="rect">
            <a:avLst/>
          </a:prstGeom>
          <a:solidFill xmlns:a="http://schemas.openxmlformats.org/drawingml/2006/main">
            <a:srgbClr val="EEE8F4"/>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6CF327DB-494A-445C-9D38-3005FDAB23DB}"/>
              </a:ext>
            </a:extLst>
          </p:cNvPr>
          <p:cNvSpPr>
            <a:spLocks xmlns:a="http://schemas.openxmlformats.org/drawingml/2006/main" noGrp="1"/>
          </p:cNvSpPr>
          <p:nvPr/>
        </p:nvSpPr>
        <p:spPr>
          <a:xfrm xmlns:a="http://schemas.openxmlformats.org/drawingml/2006/main">
            <a:off x="1104900" y="4724400"/>
            <a:ext cx="1695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4A1A6E"/>
                </a:solidFill>
                <a:latin typeface="Aptos"/>
                <a:ea typeface="Aptos"/>
                <a:cs typeface="Aptos"/>
              </a:defRPr>
            </a:pPr>
            <a:r>
              <a:rPr sz="1350" b="1">
                <a:solidFill>
                  <a:srgbClr val="4A1A6E"/>
                </a:solidFill>
                <a:latin typeface="Aptos"/>
                <a:ea typeface="Aptos"/>
                <a:cs typeface="Aptos"/>
              </a:rPr>
              <a:t>Decision evidence</a:t>
            </a:r>
          </a:p>
        </p:txBody>
      </p:sp>
      <p:sp>
        <p:nvSpPr>
          <p:cNvPr id="17" name="">
            <a:extLst xmlns:a="http://schemas.openxmlformats.org/drawingml/2006/main">
              <a:ext uri="{FF2B5EF4-FFF2-40B4-BE49-F238E27FC236}">
                <a16:creationId xmlns:a16="http://schemas.microsoft.com/office/drawing/2014/main" id="{EEAD00E7-61BF-4765-841C-6CE20E4F846F}"/>
              </a:ext>
            </a:extLst>
          </p:cNvPr>
          <p:cNvSpPr>
            <a:spLocks xmlns:a="http://schemas.openxmlformats.org/drawingml/2006/main" noGrp="1"/>
          </p:cNvSpPr>
          <p:nvPr/>
        </p:nvSpPr>
        <p:spPr>
          <a:xfrm xmlns:a="http://schemas.openxmlformats.org/drawingml/2006/main">
            <a:off x="3429000" y="4667250"/>
            <a:ext cx="685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26384F"/>
                </a:solidFill>
                <a:latin typeface="Aptos"/>
                <a:ea typeface="Aptos"/>
                <a:cs typeface="Aptos"/>
              </a:defRPr>
            </a:pPr>
            <a:r>
              <a:rPr sz="1575" b="0">
                <a:solidFill>
                  <a:srgbClr val="26384F"/>
                </a:solidFill>
                <a:latin typeface="Aptos"/>
                <a:ea typeface="Aptos"/>
                <a:cs typeface="Aptos"/>
              </a:rPr>
              <a:t>Final sign-off by QA, Operations Manager, and System Administrator</a:t>
            </a:r>
          </a:p>
        </p:txBody>
      </p:sp>
      <p:sp>
        <p:nvSpPr>
          <p:cNvPr id="18" name="">
            <a:extLst xmlns:a="http://schemas.openxmlformats.org/drawingml/2006/main">
              <a:ext uri="{FF2B5EF4-FFF2-40B4-BE49-F238E27FC236}">
                <a16:creationId xmlns:a16="http://schemas.microsoft.com/office/drawing/2014/main" id="{B97F3087-6DA3-487E-9832-1C3CAAE1693E}"/>
              </a:ext>
            </a:extLst>
          </p:cNvPr>
          <p:cNvSpPr>
            <a:spLocks xmlns:a="http://schemas.openxmlformats.org/drawingml/2006/main" noGrp="1"/>
          </p:cNvSpPr>
          <p:nvPr/>
        </p:nvSpPr>
        <p:spPr>
          <a:xfrm xmlns:a="http://schemas.openxmlformats.org/drawingml/2006/main">
            <a:off x="514350" y="6496050"/>
            <a:ext cx="666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67085"/>
                </a:solidFill>
                <a:latin typeface="Aptos"/>
                <a:ea typeface="Aptos"/>
                <a:cs typeface="Aptos"/>
              </a:defRPr>
            </a:pPr>
            <a:r>
              <a:rPr sz="750" b="0">
                <a:solidFill>
                  <a:srgbClr val="667085"/>
                </a:solidFill>
                <a:latin typeface="Aptos"/>
                <a:ea typeface="Aptos"/>
                <a:cs typeface="Aptos"/>
              </a:rPr>
              <a:t>UFCL ERP System | Executive Management Presentation | June 2026</a:t>
            </a:r>
          </a:p>
        </p:txBody>
      </p:sp>
      <p:sp>
        <p:nvSpPr>
          <p:cNvPr id="19" name="">
            <a:extLst xmlns:a="http://schemas.openxmlformats.org/drawingml/2006/main">
              <a:ext uri="{FF2B5EF4-FFF2-40B4-BE49-F238E27FC236}">
                <a16:creationId xmlns:a16="http://schemas.microsoft.com/office/drawing/2014/main" id="{44D4417F-DBC8-4B8D-A9D8-3F353EA9F2AC}"/>
              </a:ext>
            </a:extLst>
          </p:cNvPr>
          <p:cNvSpPr>
            <a:spLocks xmlns:a="http://schemas.openxmlformats.org/drawingml/2006/main" noGrp="1"/>
          </p:cNvSpPr>
          <p:nvPr/>
        </p:nvSpPr>
        <p:spPr>
          <a:xfrm xmlns:a="http://schemas.openxmlformats.org/drawingml/2006/main">
            <a:off x="11258550" y="645795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67085"/>
                </a:solidFill>
                <a:latin typeface="Aptos"/>
                <a:ea typeface="Aptos"/>
                <a:cs typeface="Aptos"/>
              </a:defRPr>
            </a:pPr>
            <a:r>
              <a:rPr sz="825" b="1">
                <a:solidFill>
                  <a:srgbClr val="667085"/>
                </a:solidFill>
                <a:latin typeface="Aptos"/>
                <a:ea typeface="Aptos"/>
                <a:cs typeface="Aptos"/>
              </a:rPr>
              <a:t>17</a:t>
            </a:r>
          </a:p>
        </p:txBody>
      </p:sp>
    </p:spTree>
    <p:extLst>
      <p:ext uri="{BB962C8B-B14F-4D97-AF65-F5344CB8AC3E}">
        <p14:creationId xmlns:p14="http://schemas.microsoft.com/office/powerpoint/2010/main" val="59496779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24BB5DF-8DA3-4242-93CA-39ED5EF7DF1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5B6AAEB7-8444-4B7D-9DB6-232E67B524D6}"/>
              </a:ext>
            </a:extLst>
          </p:cNvPr>
          <p:cNvSpPr>
            <a:spLocks xmlns:a="http://schemas.openxmlformats.org/drawingml/2006/main" noGrp="1"/>
          </p:cNvSpPr>
          <p:nvPr/>
        </p:nvSpPr>
        <p:spPr>
          <a:xfrm xmlns:a="http://schemas.openxmlformats.org/drawingml/2006/main">
            <a:off x="514350" y="371475"/>
            <a:ext cx="95250" cy="952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3027CB30-2AFC-4B81-8827-06C261731534}"/>
              </a:ext>
            </a:extLst>
          </p:cNvPr>
          <p:cNvSpPr>
            <a:spLocks xmlns:a="http://schemas.openxmlformats.org/drawingml/2006/main" noGrp="1"/>
          </p:cNvSpPr>
          <p:nvPr/>
        </p:nvSpPr>
        <p:spPr>
          <a:xfrm xmlns:a="http://schemas.openxmlformats.org/drawingml/2006/main">
            <a:off x="70485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UAT PLAN</a:t>
            </a:r>
          </a:p>
        </p:txBody>
      </p:sp>
      <p:sp>
        <p:nvSpPr>
          <p:cNvPr id="4" name="">
            <a:extLst xmlns:a="http://schemas.openxmlformats.org/drawingml/2006/main">
              <a:ext uri="{FF2B5EF4-FFF2-40B4-BE49-F238E27FC236}">
                <a16:creationId xmlns:a16="http://schemas.microsoft.com/office/drawing/2014/main" id="{53191F00-1981-4F2D-88FC-2A104B15FEB7}"/>
              </a:ext>
            </a:extLst>
          </p:cNvPr>
          <p:cNvSpPr>
            <a:spLocks xmlns:a="http://schemas.openxmlformats.org/drawingml/2006/main" noGrp="1"/>
          </p:cNvSpPr>
          <p:nvPr/>
        </p:nvSpPr>
        <p:spPr>
          <a:xfrm xmlns:a="http://schemas.openxmlformats.org/drawingml/2006/main">
            <a:off x="514350" y="685800"/>
            <a:ext cx="88582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42033"/>
                </a:solidFill>
                <a:latin typeface="Aptos Display"/>
                <a:ea typeface="Aptos Display"/>
                <a:cs typeface="Aptos Display"/>
              </a:defRPr>
            </a:pPr>
            <a:r>
              <a:rPr sz="2550" b="1">
                <a:solidFill>
                  <a:srgbClr val="142033"/>
                </a:solidFill>
                <a:latin typeface="Aptos Display"/>
                <a:ea typeface="Aptos Display"/>
                <a:cs typeface="Aptos Display"/>
              </a:rPr>
              <a:t>UAT should be run as a controlled business exercise with named owners and evidence-based sign-off.</a:t>
            </a:r>
          </a:p>
        </p:txBody>
      </p:sp>
      <p:sp>
        <p:nvSpPr>
          <p:cNvPr id="5" name="">
            <a:extLst xmlns:a="http://schemas.openxmlformats.org/drawingml/2006/main">
              <a:ext uri="{FF2B5EF4-FFF2-40B4-BE49-F238E27FC236}">
                <a16:creationId xmlns:a16="http://schemas.microsoft.com/office/drawing/2014/main" id="{1C027C4C-B52A-415A-9076-8BF60D9D98C8}"/>
              </a:ext>
            </a:extLst>
          </p:cNvPr>
          <p:cNvSpPr>
            <a:spLocks xmlns:a="http://schemas.openxmlformats.org/drawingml/2006/main" noGrp="1"/>
          </p:cNvSpPr>
          <p:nvPr/>
        </p:nvSpPr>
        <p:spPr>
          <a:xfrm xmlns:a="http://schemas.openxmlformats.org/drawingml/2006/main">
            <a:off x="514350" y="1600200"/>
            <a:ext cx="11163300" cy="9525"/>
          </a:xfrm>
          <a:prstGeom xmlns:a="http://schemas.openxmlformats.org/drawingml/2006/main" prst="rect">
            <a:avLst/>
          </a:prstGeom>
          <a:solidFill xmlns:a="http://schemas.openxmlformats.org/drawingml/2006/main">
            <a:srgbClr val="D9DEE7"/>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5F25E583-9626-4C66-AF14-4287DD751037}"/>
              </a:ext>
            </a:extLst>
          </p:cNvPr>
          <p:cNvSpPr>
            <a:spLocks xmlns:a="http://schemas.openxmlformats.org/drawingml/2006/main" noGrp="1"/>
          </p:cNvSpPr>
          <p:nvPr/>
        </p:nvSpPr>
        <p:spPr>
          <a:xfrm xmlns:a="http://schemas.openxmlformats.org/drawingml/2006/main">
            <a:off x="876300" y="2343150"/>
            <a:ext cx="2114550" cy="666750"/>
          </a:xfrm>
          <a:prstGeom xmlns:a="http://schemas.openxmlformats.org/drawingml/2006/main" prst="rect">
            <a:avLst/>
          </a:prstGeom>
          <a:solidFill xmlns:a="http://schemas.openxmlformats.org/drawingml/2006/main">
            <a:srgbClr val="FFFFFF"/>
          </a:solidFill>
          <a:ln xmlns:a="http://schemas.openxmlformats.org/drawingml/2006/main" w="11430">
            <a:solidFill>
              <a:srgbClr val="1A3C5E"/>
            </a:solidFill>
            <a:prstDash val="solid"/>
          </a:ln>
        </p:spPr>
      </p:sp>
      <p:sp>
        <p:nvSpPr>
          <p:cNvPr id="7" name="">
            <a:extLst xmlns:a="http://schemas.openxmlformats.org/drawingml/2006/main">
              <a:ext uri="{FF2B5EF4-FFF2-40B4-BE49-F238E27FC236}">
                <a16:creationId xmlns:a16="http://schemas.microsoft.com/office/drawing/2014/main" id="{AEBC8298-5635-42AC-911C-47A5A2EC6237}"/>
              </a:ext>
            </a:extLst>
          </p:cNvPr>
          <p:cNvSpPr>
            <a:spLocks xmlns:a="http://schemas.openxmlformats.org/drawingml/2006/main" noGrp="1"/>
          </p:cNvSpPr>
          <p:nvPr/>
        </p:nvSpPr>
        <p:spPr>
          <a:xfrm xmlns:a="http://schemas.openxmlformats.org/drawingml/2006/main">
            <a:off x="876300" y="2343150"/>
            <a:ext cx="57150" cy="666750"/>
          </a:xfrm>
          <a:prstGeom xmlns:a="http://schemas.openxmlformats.org/drawingml/2006/main" prst="rect">
            <a:avLst/>
          </a:prstGeom>
          <a:solidFill xmlns:a="http://schemas.openxmlformats.org/drawingml/2006/main">
            <a:srgbClr val="1A3C5E"/>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6E0AC63F-34F5-4D4F-AA59-357FC1E36504}"/>
              </a:ext>
            </a:extLst>
          </p:cNvPr>
          <p:cNvSpPr>
            <a:spLocks xmlns:a="http://schemas.openxmlformats.org/drawingml/2006/main" noGrp="1"/>
          </p:cNvSpPr>
          <p:nvPr/>
        </p:nvSpPr>
        <p:spPr>
          <a:xfrm xmlns:a="http://schemas.openxmlformats.org/drawingml/2006/main">
            <a:off x="1047750" y="2476500"/>
            <a:ext cx="18288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142033"/>
                </a:solidFill>
                <a:latin typeface="Aptos"/>
                <a:ea typeface="Aptos"/>
                <a:cs typeface="Aptos"/>
              </a:defRPr>
            </a:pPr>
            <a:r>
              <a:rPr sz="1650" b="1">
                <a:solidFill>
                  <a:srgbClr val="142033"/>
                </a:solidFill>
                <a:latin typeface="Aptos"/>
                <a:ea typeface="Aptos"/>
                <a:cs typeface="Aptos"/>
              </a:rPr>
              <a:t>Prepare</a:t>
            </a:r>
          </a:p>
        </p:txBody>
      </p:sp>
      <p:sp>
        <p:nvSpPr>
          <p:cNvPr id="9" name="">
            <a:extLst xmlns:a="http://schemas.openxmlformats.org/drawingml/2006/main">
              <a:ext uri="{FF2B5EF4-FFF2-40B4-BE49-F238E27FC236}">
                <a16:creationId xmlns:a16="http://schemas.microsoft.com/office/drawing/2014/main" id="{92294650-3634-4C47-A9EB-27DA1263DFEA}"/>
              </a:ext>
            </a:extLst>
          </p:cNvPr>
          <p:cNvSpPr>
            <a:spLocks xmlns:a="http://schemas.openxmlformats.org/drawingml/2006/main" noGrp="1"/>
          </p:cNvSpPr>
          <p:nvPr/>
        </p:nvSpPr>
        <p:spPr>
          <a:xfrm xmlns:a="http://schemas.openxmlformats.org/drawingml/2006/main">
            <a:off x="971550" y="3219450"/>
            <a:ext cx="1924050"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0">
                <a:solidFill>
                  <a:srgbClr val="26384F"/>
                </a:solidFill>
                <a:latin typeface="Aptos"/>
                <a:ea typeface="Aptos"/>
                <a:cs typeface="Aptos"/>
              </a:defRPr>
            </a:pPr>
            <a:r>
              <a:rPr sz="1275" b="0">
                <a:solidFill>
                  <a:srgbClr val="26384F"/>
                </a:solidFill>
                <a:latin typeface="Aptos"/>
                <a:ea typeface="Aptos"/>
                <a:cs typeface="Aptos"/>
              </a:rPr>
              <a:t>Confirm users, test data, roles, workshops, devices, and UAT schedule.</a:t>
            </a:r>
          </a:p>
        </p:txBody>
      </p:sp>
      <p:sp>
        <p:nvSpPr>
          <p:cNvPr id="10" name="">
            <a:extLst xmlns:a="http://schemas.openxmlformats.org/drawingml/2006/main">
              <a:ext uri="{FF2B5EF4-FFF2-40B4-BE49-F238E27FC236}">
                <a16:creationId xmlns:a16="http://schemas.microsoft.com/office/drawing/2014/main" id="{2D75462D-12FD-4901-AB0E-17850219462F}"/>
              </a:ext>
            </a:extLst>
          </p:cNvPr>
          <p:cNvSpPr>
            <a:spLocks xmlns:a="http://schemas.openxmlformats.org/drawingml/2006/main" noGrp="1"/>
          </p:cNvSpPr>
          <p:nvPr/>
        </p:nvSpPr>
        <p:spPr>
          <a:xfrm xmlns:a="http://schemas.openxmlformats.org/drawingml/2006/main">
            <a:off x="3600450" y="2343150"/>
            <a:ext cx="2114550" cy="666750"/>
          </a:xfrm>
          <a:prstGeom xmlns:a="http://schemas.openxmlformats.org/drawingml/2006/main" prst="rect">
            <a:avLst/>
          </a:prstGeom>
          <a:solidFill xmlns:a="http://schemas.openxmlformats.org/drawingml/2006/main">
            <a:srgbClr val="FFFFFF"/>
          </a:solidFill>
          <a:ln xmlns:a="http://schemas.openxmlformats.org/drawingml/2006/main" w="11430">
            <a:solidFill>
              <a:srgbClr val="2D6A4F"/>
            </a:solidFill>
            <a:prstDash val="solid"/>
          </a:ln>
        </p:spPr>
      </p:sp>
      <p:sp>
        <p:nvSpPr>
          <p:cNvPr id="11" name="">
            <a:extLst xmlns:a="http://schemas.openxmlformats.org/drawingml/2006/main">
              <a:ext uri="{FF2B5EF4-FFF2-40B4-BE49-F238E27FC236}">
                <a16:creationId xmlns:a16="http://schemas.microsoft.com/office/drawing/2014/main" id="{79BD2673-A7AC-46D5-A319-80DB854BDF61}"/>
              </a:ext>
            </a:extLst>
          </p:cNvPr>
          <p:cNvSpPr>
            <a:spLocks xmlns:a="http://schemas.openxmlformats.org/drawingml/2006/main" noGrp="1"/>
          </p:cNvSpPr>
          <p:nvPr/>
        </p:nvSpPr>
        <p:spPr>
          <a:xfrm xmlns:a="http://schemas.openxmlformats.org/drawingml/2006/main">
            <a:off x="3600450" y="2343150"/>
            <a:ext cx="57150" cy="6667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4E312BDF-144D-4087-BC49-14C5E5525051}"/>
              </a:ext>
            </a:extLst>
          </p:cNvPr>
          <p:cNvSpPr>
            <a:spLocks xmlns:a="http://schemas.openxmlformats.org/drawingml/2006/main" noGrp="1"/>
          </p:cNvSpPr>
          <p:nvPr/>
        </p:nvSpPr>
        <p:spPr>
          <a:xfrm xmlns:a="http://schemas.openxmlformats.org/drawingml/2006/main">
            <a:off x="3771900" y="2476500"/>
            <a:ext cx="18288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142033"/>
                </a:solidFill>
                <a:latin typeface="Aptos"/>
                <a:ea typeface="Aptos"/>
                <a:cs typeface="Aptos"/>
              </a:defRPr>
            </a:pPr>
            <a:r>
              <a:rPr sz="1650" b="1">
                <a:solidFill>
                  <a:srgbClr val="142033"/>
                </a:solidFill>
                <a:latin typeface="Aptos"/>
                <a:ea typeface="Aptos"/>
                <a:cs typeface="Aptos"/>
              </a:rPr>
              <a:t>Execute</a:t>
            </a:r>
          </a:p>
        </p:txBody>
      </p:sp>
      <p:sp>
        <p:nvSpPr>
          <p:cNvPr id="13" name="">
            <a:extLst xmlns:a="http://schemas.openxmlformats.org/drawingml/2006/main">
              <a:ext uri="{FF2B5EF4-FFF2-40B4-BE49-F238E27FC236}">
                <a16:creationId xmlns:a16="http://schemas.microsoft.com/office/drawing/2014/main" id="{FCF8C2D2-41AB-49A9-9B76-175D0B14EA37}"/>
              </a:ext>
            </a:extLst>
          </p:cNvPr>
          <p:cNvSpPr>
            <a:spLocks xmlns:a="http://schemas.openxmlformats.org/drawingml/2006/main" noGrp="1"/>
          </p:cNvSpPr>
          <p:nvPr/>
        </p:nvSpPr>
        <p:spPr>
          <a:xfrm xmlns:a="http://schemas.openxmlformats.org/drawingml/2006/main">
            <a:off x="3695700" y="3219450"/>
            <a:ext cx="1924050"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0">
                <a:solidFill>
                  <a:srgbClr val="26384F"/>
                </a:solidFill>
                <a:latin typeface="Aptos"/>
                <a:ea typeface="Aptos"/>
                <a:cs typeface="Aptos"/>
              </a:defRPr>
            </a:pPr>
            <a:r>
              <a:rPr sz="1275" b="0">
                <a:solidFill>
                  <a:srgbClr val="26384F"/>
                </a:solidFill>
                <a:latin typeface="Aptos"/>
                <a:ea typeface="Aptos"/>
                <a:cs typeface="Aptos"/>
              </a:rPr>
              <a:t>Run each chain end to end with operations, workshop, finance, logistics, and IT participation.</a:t>
            </a:r>
          </a:p>
        </p:txBody>
      </p:sp>
      <p:sp>
        <p:nvSpPr>
          <p:cNvPr id="14" name="">
            <a:extLst xmlns:a="http://schemas.openxmlformats.org/drawingml/2006/main">
              <a:ext uri="{FF2B5EF4-FFF2-40B4-BE49-F238E27FC236}">
                <a16:creationId xmlns:a16="http://schemas.microsoft.com/office/drawing/2014/main" id="{2C2A5E99-9C10-404C-A6C0-A786E6F3A8C8}"/>
              </a:ext>
            </a:extLst>
          </p:cNvPr>
          <p:cNvSpPr>
            <a:spLocks xmlns:a="http://schemas.openxmlformats.org/drawingml/2006/main" noGrp="1"/>
          </p:cNvSpPr>
          <p:nvPr/>
        </p:nvSpPr>
        <p:spPr>
          <a:xfrm xmlns:a="http://schemas.openxmlformats.org/drawingml/2006/main">
            <a:off x="6324600" y="2343150"/>
            <a:ext cx="2114550" cy="666750"/>
          </a:xfrm>
          <a:prstGeom xmlns:a="http://schemas.openxmlformats.org/drawingml/2006/main" prst="rect">
            <a:avLst/>
          </a:prstGeom>
          <a:solidFill xmlns:a="http://schemas.openxmlformats.org/drawingml/2006/main">
            <a:srgbClr val="FFFFFF"/>
          </a:solidFill>
          <a:ln xmlns:a="http://schemas.openxmlformats.org/drawingml/2006/main" w="11430">
            <a:solidFill>
              <a:srgbClr val="B5500A"/>
            </a:solidFill>
            <a:prstDash val="solid"/>
          </a:ln>
        </p:spPr>
      </p:sp>
      <p:sp>
        <p:nvSpPr>
          <p:cNvPr id="15" name="">
            <a:extLst xmlns:a="http://schemas.openxmlformats.org/drawingml/2006/main">
              <a:ext uri="{FF2B5EF4-FFF2-40B4-BE49-F238E27FC236}">
                <a16:creationId xmlns:a16="http://schemas.microsoft.com/office/drawing/2014/main" id="{4AD5B85C-ADC0-4924-9EDB-74412EC18011}"/>
              </a:ext>
            </a:extLst>
          </p:cNvPr>
          <p:cNvSpPr>
            <a:spLocks xmlns:a="http://schemas.openxmlformats.org/drawingml/2006/main" noGrp="1"/>
          </p:cNvSpPr>
          <p:nvPr/>
        </p:nvSpPr>
        <p:spPr>
          <a:xfrm xmlns:a="http://schemas.openxmlformats.org/drawingml/2006/main">
            <a:off x="6324600" y="2343150"/>
            <a:ext cx="57150" cy="666750"/>
          </a:xfrm>
          <a:prstGeom xmlns:a="http://schemas.openxmlformats.org/drawingml/2006/main" prst="rect">
            <a:avLst/>
          </a:prstGeom>
          <a:solidFill xmlns:a="http://schemas.openxmlformats.org/drawingml/2006/main">
            <a:srgbClr val="B5500A"/>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9E994F96-15B7-440F-8377-E15371243128}"/>
              </a:ext>
            </a:extLst>
          </p:cNvPr>
          <p:cNvSpPr>
            <a:spLocks xmlns:a="http://schemas.openxmlformats.org/drawingml/2006/main" noGrp="1"/>
          </p:cNvSpPr>
          <p:nvPr/>
        </p:nvSpPr>
        <p:spPr>
          <a:xfrm xmlns:a="http://schemas.openxmlformats.org/drawingml/2006/main">
            <a:off x="6496050" y="2476500"/>
            <a:ext cx="18288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142033"/>
                </a:solidFill>
                <a:latin typeface="Aptos"/>
                <a:ea typeface="Aptos"/>
                <a:cs typeface="Aptos"/>
              </a:defRPr>
            </a:pPr>
            <a:r>
              <a:rPr sz="1650" b="1">
                <a:solidFill>
                  <a:srgbClr val="142033"/>
                </a:solidFill>
                <a:latin typeface="Aptos"/>
                <a:ea typeface="Aptos"/>
                <a:cs typeface="Aptos"/>
              </a:rPr>
              <a:t>Resolve</a:t>
            </a:r>
          </a:p>
        </p:txBody>
      </p:sp>
      <p:sp>
        <p:nvSpPr>
          <p:cNvPr id="17" name="">
            <a:extLst xmlns:a="http://schemas.openxmlformats.org/drawingml/2006/main">
              <a:ext uri="{FF2B5EF4-FFF2-40B4-BE49-F238E27FC236}">
                <a16:creationId xmlns:a16="http://schemas.microsoft.com/office/drawing/2014/main" id="{D662E990-522C-4757-A2F9-25677009434A}"/>
              </a:ext>
            </a:extLst>
          </p:cNvPr>
          <p:cNvSpPr>
            <a:spLocks xmlns:a="http://schemas.openxmlformats.org/drawingml/2006/main" noGrp="1"/>
          </p:cNvSpPr>
          <p:nvPr/>
        </p:nvSpPr>
        <p:spPr>
          <a:xfrm xmlns:a="http://schemas.openxmlformats.org/drawingml/2006/main">
            <a:off x="6419850" y="3219450"/>
            <a:ext cx="1924050"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0">
                <a:solidFill>
                  <a:srgbClr val="26384F"/>
                </a:solidFill>
                <a:latin typeface="Aptos"/>
                <a:ea typeface="Aptos"/>
                <a:cs typeface="Aptos"/>
              </a:defRPr>
            </a:pPr>
            <a:r>
              <a:rPr sz="1275" b="0">
                <a:solidFill>
                  <a:srgbClr val="26384F"/>
                </a:solidFill>
                <a:latin typeface="Aptos"/>
                <a:ea typeface="Aptos"/>
                <a:cs typeface="Aptos"/>
              </a:rPr>
              <a:t>Classify issues, fix blockers, document workarounds, and retest critical paths.</a:t>
            </a:r>
          </a:p>
        </p:txBody>
      </p:sp>
      <p:sp>
        <p:nvSpPr>
          <p:cNvPr id="18" name="">
            <a:extLst xmlns:a="http://schemas.openxmlformats.org/drawingml/2006/main">
              <a:ext uri="{FF2B5EF4-FFF2-40B4-BE49-F238E27FC236}">
                <a16:creationId xmlns:a16="http://schemas.microsoft.com/office/drawing/2014/main" id="{D1AA783E-0A64-4A1C-93B1-D956183A20BE}"/>
              </a:ext>
            </a:extLst>
          </p:cNvPr>
          <p:cNvSpPr>
            <a:spLocks xmlns:a="http://schemas.openxmlformats.org/drawingml/2006/main" noGrp="1"/>
          </p:cNvSpPr>
          <p:nvPr/>
        </p:nvSpPr>
        <p:spPr>
          <a:xfrm xmlns:a="http://schemas.openxmlformats.org/drawingml/2006/main">
            <a:off x="9048750" y="2343150"/>
            <a:ext cx="2114550" cy="666750"/>
          </a:xfrm>
          <a:prstGeom xmlns:a="http://schemas.openxmlformats.org/drawingml/2006/main" prst="rect">
            <a:avLst/>
          </a:prstGeom>
          <a:solidFill xmlns:a="http://schemas.openxmlformats.org/drawingml/2006/main">
            <a:srgbClr val="FFFFFF"/>
          </a:solidFill>
          <a:ln xmlns:a="http://schemas.openxmlformats.org/drawingml/2006/main" w="11430">
            <a:solidFill>
              <a:srgbClr val="4A1A6E"/>
            </a:solidFill>
            <a:prstDash val="solid"/>
          </a:ln>
        </p:spPr>
      </p:sp>
      <p:sp>
        <p:nvSpPr>
          <p:cNvPr id="19" name="">
            <a:extLst xmlns:a="http://schemas.openxmlformats.org/drawingml/2006/main">
              <a:ext uri="{FF2B5EF4-FFF2-40B4-BE49-F238E27FC236}">
                <a16:creationId xmlns:a16="http://schemas.microsoft.com/office/drawing/2014/main" id="{94E19F3A-833C-4921-89E3-852D26D10E25}"/>
              </a:ext>
            </a:extLst>
          </p:cNvPr>
          <p:cNvSpPr>
            <a:spLocks xmlns:a="http://schemas.openxmlformats.org/drawingml/2006/main" noGrp="1"/>
          </p:cNvSpPr>
          <p:nvPr/>
        </p:nvSpPr>
        <p:spPr>
          <a:xfrm xmlns:a="http://schemas.openxmlformats.org/drawingml/2006/main">
            <a:off x="9048750" y="2343150"/>
            <a:ext cx="57150" cy="666750"/>
          </a:xfrm>
          <a:prstGeom xmlns:a="http://schemas.openxmlformats.org/drawingml/2006/main" prst="rect">
            <a:avLst/>
          </a:prstGeom>
          <a:solidFill xmlns:a="http://schemas.openxmlformats.org/drawingml/2006/main">
            <a:srgbClr val="4A1A6E"/>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37FCA136-2670-4EFF-8459-F67A4701DE66}"/>
              </a:ext>
            </a:extLst>
          </p:cNvPr>
          <p:cNvSpPr>
            <a:spLocks xmlns:a="http://schemas.openxmlformats.org/drawingml/2006/main" noGrp="1"/>
          </p:cNvSpPr>
          <p:nvPr/>
        </p:nvSpPr>
        <p:spPr>
          <a:xfrm xmlns:a="http://schemas.openxmlformats.org/drawingml/2006/main">
            <a:off x="9220200" y="2476500"/>
            <a:ext cx="18288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142033"/>
                </a:solidFill>
                <a:latin typeface="Aptos"/>
                <a:ea typeface="Aptos"/>
                <a:cs typeface="Aptos"/>
              </a:defRPr>
            </a:pPr>
            <a:r>
              <a:rPr sz="1650" b="1">
                <a:solidFill>
                  <a:srgbClr val="142033"/>
                </a:solidFill>
                <a:latin typeface="Aptos"/>
                <a:ea typeface="Aptos"/>
                <a:cs typeface="Aptos"/>
              </a:rPr>
              <a:t>Sign off</a:t>
            </a:r>
          </a:p>
        </p:txBody>
      </p:sp>
      <p:sp>
        <p:nvSpPr>
          <p:cNvPr id="21" name="">
            <a:extLst xmlns:a="http://schemas.openxmlformats.org/drawingml/2006/main">
              <a:ext uri="{FF2B5EF4-FFF2-40B4-BE49-F238E27FC236}">
                <a16:creationId xmlns:a16="http://schemas.microsoft.com/office/drawing/2014/main" id="{6D516A41-C156-459D-9D2A-AA4519B08FDD}"/>
              </a:ext>
            </a:extLst>
          </p:cNvPr>
          <p:cNvSpPr>
            <a:spLocks xmlns:a="http://schemas.openxmlformats.org/drawingml/2006/main" noGrp="1"/>
          </p:cNvSpPr>
          <p:nvPr/>
        </p:nvSpPr>
        <p:spPr>
          <a:xfrm xmlns:a="http://schemas.openxmlformats.org/drawingml/2006/main">
            <a:off x="9144000" y="3219450"/>
            <a:ext cx="1924050" cy="895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0">
                <a:solidFill>
                  <a:srgbClr val="26384F"/>
                </a:solidFill>
                <a:latin typeface="Aptos"/>
                <a:ea typeface="Aptos"/>
                <a:cs typeface="Aptos"/>
              </a:defRPr>
            </a:pPr>
            <a:r>
              <a:rPr sz="1275" b="0">
                <a:solidFill>
                  <a:srgbClr val="26384F"/>
                </a:solidFill>
                <a:latin typeface="Aptos"/>
                <a:ea typeface="Aptos"/>
                <a:cs typeface="Aptos"/>
              </a:rPr>
              <a:t>Approve production rollout preparation based on UAT evidence.</a:t>
            </a:r>
          </a:p>
        </p:txBody>
      </p:sp>
      <p:sp>
        <p:nvSpPr>
          <p:cNvPr id="22" name="">
            <a:extLst xmlns:a="http://schemas.openxmlformats.org/drawingml/2006/main">
              <a:ext uri="{FF2B5EF4-FFF2-40B4-BE49-F238E27FC236}">
                <a16:creationId xmlns:a16="http://schemas.microsoft.com/office/drawing/2014/main" id="{B3BAD1A6-AD87-4A52-AF72-097CCF6F3B29}"/>
              </a:ext>
            </a:extLst>
          </p:cNvPr>
          <p:cNvSpPr>
            <a:spLocks xmlns:a="http://schemas.openxmlformats.org/drawingml/2006/main" noGrp="1"/>
          </p:cNvSpPr>
          <p:nvPr/>
        </p:nvSpPr>
        <p:spPr>
          <a:xfrm xmlns:a="http://schemas.openxmlformats.org/drawingml/2006/main">
            <a:off x="1619250" y="5067300"/>
            <a:ext cx="89535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2D6A4F"/>
            </a:solidFill>
            <a:prstDash val="solid"/>
          </a:ln>
        </p:spPr>
      </p:sp>
      <p:sp>
        <p:nvSpPr>
          <p:cNvPr id="23" name="">
            <a:extLst xmlns:a="http://schemas.openxmlformats.org/drawingml/2006/main">
              <a:ext uri="{FF2B5EF4-FFF2-40B4-BE49-F238E27FC236}">
                <a16:creationId xmlns:a16="http://schemas.microsoft.com/office/drawing/2014/main" id="{EFCF481F-AFB3-4707-BA0A-7F16EF14FD2E}"/>
              </a:ext>
            </a:extLst>
          </p:cNvPr>
          <p:cNvSpPr>
            <a:spLocks xmlns:a="http://schemas.openxmlformats.org/drawingml/2006/main" noGrp="1"/>
          </p:cNvSpPr>
          <p:nvPr/>
        </p:nvSpPr>
        <p:spPr>
          <a:xfrm xmlns:a="http://schemas.openxmlformats.org/drawingml/2006/main">
            <a:off x="1866900" y="5181600"/>
            <a:ext cx="8458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2D6A4F"/>
                </a:solidFill>
                <a:latin typeface="Aptos"/>
                <a:ea typeface="Aptos"/>
                <a:cs typeface="Aptos"/>
              </a:defRPr>
            </a:pPr>
            <a:r>
              <a:rPr sz="1350" b="1">
                <a:solidFill>
                  <a:srgbClr val="2D6A4F"/>
                </a:solidFill>
                <a:latin typeface="Aptos"/>
                <a:ea typeface="Aptos"/>
                <a:cs typeface="Aptos"/>
              </a:rPr>
              <a:t>Recommended UAT participants: CEO, Operations Manager, Workshop Managers, Finance, Logistics, IT, and nominated end users.</a:t>
            </a:r>
          </a:p>
        </p:txBody>
      </p:sp>
      <p:sp>
        <p:nvSpPr>
          <p:cNvPr id="24" name="">
            <a:extLst xmlns:a="http://schemas.openxmlformats.org/drawingml/2006/main">
              <a:ext uri="{FF2B5EF4-FFF2-40B4-BE49-F238E27FC236}">
                <a16:creationId xmlns:a16="http://schemas.microsoft.com/office/drawing/2014/main" id="{2AE37B11-71E1-475F-8857-F920A6885D4F}"/>
              </a:ext>
            </a:extLst>
          </p:cNvPr>
          <p:cNvSpPr>
            <a:spLocks xmlns:a="http://schemas.openxmlformats.org/drawingml/2006/main" noGrp="1"/>
          </p:cNvSpPr>
          <p:nvPr/>
        </p:nvSpPr>
        <p:spPr>
          <a:xfrm xmlns:a="http://schemas.openxmlformats.org/drawingml/2006/main">
            <a:off x="514350" y="6496050"/>
            <a:ext cx="666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67085"/>
                </a:solidFill>
                <a:latin typeface="Aptos"/>
                <a:ea typeface="Aptos"/>
                <a:cs typeface="Aptos"/>
              </a:defRPr>
            </a:pPr>
            <a:r>
              <a:rPr sz="750" b="0">
                <a:solidFill>
                  <a:srgbClr val="667085"/>
                </a:solidFill>
                <a:latin typeface="Aptos"/>
                <a:ea typeface="Aptos"/>
                <a:cs typeface="Aptos"/>
              </a:rPr>
              <a:t>UFCL ERP System | Executive Management Presentation | June 2026</a:t>
            </a:r>
          </a:p>
        </p:txBody>
      </p:sp>
      <p:sp>
        <p:nvSpPr>
          <p:cNvPr id="25" name="">
            <a:extLst xmlns:a="http://schemas.openxmlformats.org/drawingml/2006/main">
              <a:ext uri="{FF2B5EF4-FFF2-40B4-BE49-F238E27FC236}">
                <a16:creationId xmlns:a16="http://schemas.microsoft.com/office/drawing/2014/main" id="{E6F80E44-282E-4DF0-B80D-971A144548F7}"/>
              </a:ext>
            </a:extLst>
          </p:cNvPr>
          <p:cNvSpPr>
            <a:spLocks xmlns:a="http://schemas.openxmlformats.org/drawingml/2006/main" noGrp="1"/>
          </p:cNvSpPr>
          <p:nvPr/>
        </p:nvSpPr>
        <p:spPr>
          <a:xfrm xmlns:a="http://schemas.openxmlformats.org/drawingml/2006/main">
            <a:off x="11258550" y="645795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67085"/>
                </a:solidFill>
                <a:latin typeface="Aptos"/>
                <a:ea typeface="Aptos"/>
                <a:cs typeface="Aptos"/>
              </a:defRPr>
            </a:pPr>
            <a:r>
              <a:rPr sz="825" b="1">
                <a:solidFill>
                  <a:srgbClr val="667085"/>
                </a:solidFill>
                <a:latin typeface="Aptos"/>
                <a:ea typeface="Aptos"/>
                <a:cs typeface="Aptos"/>
              </a:rPr>
              <a:t>18</a:t>
            </a:r>
          </a:p>
        </p:txBody>
      </p:sp>
    </p:spTree>
    <p:extLst>
      <p:ext uri="{BB962C8B-B14F-4D97-AF65-F5344CB8AC3E}">
        <p14:creationId xmlns:p14="http://schemas.microsoft.com/office/powerpoint/2010/main" val="1646466827"/>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194CB0C-3136-4998-9C9C-BCB2BCFBDF5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A"/>
          </a:solidFill>
          <a:ln xmlns:a="http://schemas.openxmlformats.org/drawingml/2006/main" w="0">
            <a:solidFill>
              <a:srgbClr val="000000">
                <a:alpha val="0"/>
              </a:srgbClr>
            </a:solidFill>
            <a:prstDash val="solid"/>
          </a:ln>
        </p:spPr>
      </p:sp>
      <p:sp>
        <p:nvSpPr>
          <p:cNvPr id="2" name="kicker-marker">
            <a:extLst xmlns:a="http://schemas.openxmlformats.org/drawingml/2006/main">
              <a:ext uri="{FF2B5EF4-FFF2-40B4-BE49-F238E27FC236}">
                <a16:creationId xmlns:a16="http://schemas.microsoft.com/office/drawing/2014/main" id="{F74B584A-7274-4260-B660-4CE4E72B122D}"/>
              </a:ext>
            </a:extLst>
          </p:cNvPr>
          <p:cNvSpPr>
            <a:spLocks xmlns:a="http://schemas.openxmlformats.org/drawingml/2006/main" noGrp="1"/>
          </p:cNvSpPr>
          <p:nvPr/>
        </p:nvSpPr>
        <p:spPr>
          <a:xfrm xmlns:a="http://schemas.openxmlformats.org/drawingml/2006/main">
            <a:off x="514350" y="371475"/>
            <a:ext cx="95250" cy="952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3" name="kicker-label">
            <a:extLst xmlns:a="http://schemas.openxmlformats.org/drawingml/2006/main">
              <a:ext uri="{FF2B5EF4-FFF2-40B4-BE49-F238E27FC236}">
                <a16:creationId xmlns:a16="http://schemas.microsoft.com/office/drawing/2014/main" id="{C02EF6E6-D68B-41D3-B8BB-4483390A119A}"/>
              </a:ext>
            </a:extLst>
          </p:cNvPr>
          <p:cNvSpPr>
            <a:spLocks xmlns:a="http://schemas.openxmlformats.org/drawingml/2006/main" noGrp="1"/>
          </p:cNvSpPr>
          <p:nvPr/>
        </p:nvSpPr>
        <p:spPr>
          <a:xfrm xmlns:a="http://schemas.openxmlformats.org/drawingml/2006/main">
            <a:off x="70485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BUSINESS BENEFITS</a:t>
            </a:r>
          </a:p>
        </p:txBody>
      </p:sp>
      <p:sp>
        <p:nvSpPr>
          <p:cNvPr id="4" name="">
            <a:extLst xmlns:a="http://schemas.openxmlformats.org/drawingml/2006/main">
              <a:ext uri="{FF2B5EF4-FFF2-40B4-BE49-F238E27FC236}">
                <a16:creationId xmlns:a16="http://schemas.microsoft.com/office/drawing/2014/main" id="{6553533A-F44E-42C2-95AA-AA9E7802C2D6}"/>
              </a:ext>
            </a:extLst>
          </p:cNvPr>
          <p:cNvSpPr>
            <a:spLocks xmlns:a="http://schemas.openxmlformats.org/drawingml/2006/main" noGrp="1"/>
          </p:cNvSpPr>
          <p:nvPr/>
        </p:nvSpPr>
        <p:spPr>
          <a:xfrm xmlns:a="http://schemas.openxmlformats.org/drawingml/2006/main">
            <a:off x="514350" y="685800"/>
            <a:ext cx="88582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42033"/>
                </a:solidFill>
                <a:latin typeface="Aptos Display"/>
                <a:ea typeface="Aptos Display"/>
                <a:cs typeface="Aptos Display"/>
              </a:defRPr>
            </a:pPr>
            <a:r>
              <a:rPr sz="2550" b="1">
                <a:solidFill>
                  <a:srgbClr val="142033"/>
                </a:solidFill>
                <a:latin typeface="Aptos Display"/>
                <a:ea typeface="Aptos Display"/>
                <a:cs typeface="Aptos Display"/>
              </a:rPr>
              <a:t>The ERP should improve control, speed, and management confidence across UFCL operations.</a:t>
            </a:r>
          </a:p>
        </p:txBody>
      </p:sp>
      <p:sp>
        <p:nvSpPr>
          <p:cNvPr id="5" name="">
            <a:extLst xmlns:a="http://schemas.openxmlformats.org/drawingml/2006/main">
              <a:ext uri="{FF2B5EF4-FFF2-40B4-BE49-F238E27FC236}">
                <a16:creationId xmlns:a16="http://schemas.microsoft.com/office/drawing/2014/main" id="{47F1CCD4-2C16-4380-AC1F-9F0C1DEDAC51}"/>
              </a:ext>
            </a:extLst>
          </p:cNvPr>
          <p:cNvSpPr>
            <a:spLocks xmlns:a="http://schemas.openxmlformats.org/drawingml/2006/main" noGrp="1"/>
          </p:cNvSpPr>
          <p:nvPr/>
        </p:nvSpPr>
        <p:spPr>
          <a:xfrm xmlns:a="http://schemas.openxmlformats.org/drawingml/2006/main">
            <a:off x="514350" y="1600200"/>
            <a:ext cx="11163300" cy="9525"/>
          </a:xfrm>
          <a:prstGeom xmlns:a="http://schemas.openxmlformats.org/drawingml/2006/main" prst="rect">
            <a:avLst/>
          </a:prstGeom>
          <a:solidFill xmlns:a="http://schemas.openxmlformats.org/drawingml/2006/main">
            <a:srgbClr val="D9DEE7"/>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4702C5E2-3C97-40A9-B1A3-FE2D13CC5590}"/>
              </a:ext>
            </a:extLst>
          </p:cNvPr>
          <p:cNvSpPr>
            <a:spLocks xmlns:a="http://schemas.openxmlformats.org/drawingml/2006/main" noGrp="1"/>
          </p:cNvSpPr>
          <p:nvPr/>
        </p:nvSpPr>
        <p:spPr>
          <a:xfrm xmlns:a="http://schemas.openxmlformats.org/drawingml/2006/main">
            <a:off x="952500" y="1952625"/>
            <a:ext cx="171450" cy="1714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C868CB0A-4152-4855-A38D-6CFEB8B922EE}"/>
              </a:ext>
            </a:extLst>
          </p:cNvPr>
          <p:cNvSpPr>
            <a:spLocks xmlns:a="http://schemas.openxmlformats.org/drawingml/2006/main" noGrp="1"/>
          </p:cNvSpPr>
          <p:nvPr/>
        </p:nvSpPr>
        <p:spPr>
          <a:xfrm xmlns:a="http://schemas.openxmlformats.org/drawingml/2006/main">
            <a:off x="1333500" y="1895475"/>
            <a:ext cx="2857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42033"/>
                </a:solidFill>
                <a:latin typeface="Aptos"/>
                <a:ea typeface="Aptos"/>
                <a:cs typeface="Aptos"/>
              </a:defRPr>
            </a:pPr>
            <a:r>
              <a:rPr sz="1500" b="1">
                <a:solidFill>
                  <a:srgbClr val="142033"/>
                </a:solidFill>
                <a:latin typeface="Aptos"/>
                <a:ea typeface="Aptos"/>
                <a:cs typeface="Aptos"/>
              </a:rPr>
              <a:t>Operational traceability</a:t>
            </a:r>
          </a:p>
        </p:txBody>
      </p:sp>
      <p:sp>
        <p:nvSpPr>
          <p:cNvPr id="8" name="">
            <a:extLst xmlns:a="http://schemas.openxmlformats.org/drawingml/2006/main">
              <a:ext uri="{FF2B5EF4-FFF2-40B4-BE49-F238E27FC236}">
                <a16:creationId xmlns:a16="http://schemas.microsoft.com/office/drawing/2014/main" id="{211D17F7-5154-46D7-B436-391259279F2D}"/>
              </a:ext>
            </a:extLst>
          </p:cNvPr>
          <p:cNvSpPr>
            <a:spLocks xmlns:a="http://schemas.openxmlformats.org/drawingml/2006/main" noGrp="1"/>
          </p:cNvSpPr>
          <p:nvPr/>
        </p:nvSpPr>
        <p:spPr>
          <a:xfrm xmlns:a="http://schemas.openxmlformats.org/drawingml/2006/main">
            <a:off x="4476750" y="1914525"/>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6384F"/>
                </a:solidFill>
                <a:latin typeface="Aptos"/>
                <a:ea typeface="Aptos"/>
                <a:cs typeface="Aptos"/>
              </a:defRPr>
            </a:pPr>
            <a:r>
              <a:rPr sz="1350" b="0">
                <a:solidFill>
                  <a:srgbClr val="26384F"/>
                </a:solidFill>
                <a:latin typeface="Aptos"/>
                <a:ea typeface="Aptos"/>
                <a:cs typeface="Aptos"/>
              </a:rPr>
              <a:t>Every major workflow connects source activity to stock and reporting.</a:t>
            </a:r>
          </a:p>
        </p:txBody>
      </p:sp>
      <p:sp>
        <p:nvSpPr>
          <p:cNvPr id="9" name="">
            <a:extLst xmlns:a="http://schemas.openxmlformats.org/drawingml/2006/main">
              <a:ext uri="{FF2B5EF4-FFF2-40B4-BE49-F238E27FC236}">
                <a16:creationId xmlns:a16="http://schemas.microsoft.com/office/drawing/2014/main" id="{8D203C64-37E4-4ECD-8C29-D464C803735D}"/>
              </a:ext>
            </a:extLst>
          </p:cNvPr>
          <p:cNvSpPr>
            <a:spLocks xmlns:a="http://schemas.openxmlformats.org/drawingml/2006/main" noGrp="1"/>
          </p:cNvSpPr>
          <p:nvPr/>
        </p:nvSpPr>
        <p:spPr>
          <a:xfrm xmlns:a="http://schemas.openxmlformats.org/drawingml/2006/main">
            <a:off x="952500" y="2657475"/>
            <a:ext cx="171450" cy="171450"/>
          </a:xfrm>
          <a:prstGeom xmlns:a="http://schemas.openxmlformats.org/drawingml/2006/main" prst="rect">
            <a:avLst/>
          </a:prstGeom>
          <a:solidFill xmlns:a="http://schemas.openxmlformats.org/drawingml/2006/main">
            <a:srgbClr val="1A3C5E"/>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96F2EE6C-5B1D-4F27-BA15-5D06928BE985}"/>
              </a:ext>
            </a:extLst>
          </p:cNvPr>
          <p:cNvSpPr>
            <a:spLocks xmlns:a="http://schemas.openxmlformats.org/drawingml/2006/main" noGrp="1"/>
          </p:cNvSpPr>
          <p:nvPr/>
        </p:nvSpPr>
        <p:spPr>
          <a:xfrm xmlns:a="http://schemas.openxmlformats.org/drawingml/2006/main">
            <a:off x="1333500" y="2600325"/>
            <a:ext cx="2857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42033"/>
                </a:solidFill>
                <a:latin typeface="Aptos"/>
                <a:ea typeface="Aptos"/>
                <a:cs typeface="Aptos"/>
              </a:defRPr>
            </a:pPr>
            <a:r>
              <a:rPr sz="1500" b="1">
                <a:solidFill>
                  <a:srgbClr val="142033"/>
                </a:solidFill>
                <a:latin typeface="Aptos"/>
                <a:ea typeface="Aptos"/>
                <a:cs typeface="Aptos"/>
              </a:rPr>
              <a:t>Faster approvals</a:t>
            </a:r>
          </a:p>
        </p:txBody>
      </p:sp>
      <p:sp>
        <p:nvSpPr>
          <p:cNvPr id="11" name="">
            <a:extLst xmlns:a="http://schemas.openxmlformats.org/drawingml/2006/main">
              <a:ext uri="{FF2B5EF4-FFF2-40B4-BE49-F238E27FC236}">
                <a16:creationId xmlns:a16="http://schemas.microsoft.com/office/drawing/2014/main" id="{5C61E274-08CA-4825-B9DB-84C9CC5FF448}"/>
              </a:ext>
            </a:extLst>
          </p:cNvPr>
          <p:cNvSpPr>
            <a:spLocks xmlns:a="http://schemas.openxmlformats.org/drawingml/2006/main" noGrp="1"/>
          </p:cNvSpPr>
          <p:nvPr/>
        </p:nvSpPr>
        <p:spPr>
          <a:xfrm xmlns:a="http://schemas.openxmlformats.org/drawingml/2006/main">
            <a:off x="4476750" y="2619375"/>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6384F"/>
                </a:solidFill>
                <a:latin typeface="Aptos"/>
                <a:ea typeface="Aptos"/>
                <a:cs typeface="Aptos"/>
              </a:defRPr>
            </a:pPr>
            <a:r>
              <a:rPr sz="1350" b="0">
                <a:solidFill>
                  <a:srgbClr val="26384F"/>
                </a:solidFill>
                <a:latin typeface="Aptos"/>
                <a:ea typeface="Aptos"/>
                <a:cs typeface="Aptos"/>
              </a:rPr>
              <a:t>CEO and management decisions become visible, tracked, and auditable.</a:t>
            </a:r>
          </a:p>
        </p:txBody>
      </p:sp>
      <p:sp>
        <p:nvSpPr>
          <p:cNvPr id="12" name="">
            <a:extLst xmlns:a="http://schemas.openxmlformats.org/drawingml/2006/main">
              <a:ext uri="{FF2B5EF4-FFF2-40B4-BE49-F238E27FC236}">
                <a16:creationId xmlns:a16="http://schemas.microsoft.com/office/drawing/2014/main" id="{A7C08B8D-FDA8-4C3B-A4DA-400F961035CF}"/>
              </a:ext>
            </a:extLst>
          </p:cNvPr>
          <p:cNvSpPr>
            <a:spLocks xmlns:a="http://schemas.openxmlformats.org/drawingml/2006/main" noGrp="1"/>
          </p:cNvSpPr>
          <p:nvPr/>
        </p:nvSpPr>
        <p:spPr>
          <a:xfrm xmlns:a="http://schemas.openxmlformats.org/drawingml/2006/main">
            <a:off x="952500" y="3362325"/>
            <a:ext cx="171450" cy="171450"/>
          </a:xfrm>
          <a:prstGeom xmlns:a="http://schemas.openxmlformats.org/drawingml/2006/main" prst="rect">
            <a:avLst/>
          </a:prstGeom>
          <a:solidFill xmlns:a="http://schemas.openxmlformats.org/drawingml/2006/main">
            <a:srgbClr val="B5500A"/>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04490A42-F277-4DFE-BCCB-1215F5E9220B}"/>
              </a:ext>
            </a:extLst>
          </p:cNvPr>
          <p:cNvSpPr>
            <a:spLocks xmlns:a="http://schemas.openxmlformats.org/drawingml/2006/main" noGrp="1"/>
          </p:cNvSpPr>
          <p:nvPr/>
        </p:nvSpPr>
        <p:spPr>
          <a:xfrm xmlns:a="http://schemas.openxmlformats.org/drawingml/2006/main">
            <a:off x="1333500" y="3305175"/>
            <a:ext cx="2857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42033"/>
                </a:solidFill>
                <a:latin typeface="Aptos"/>
                <a:ea typeface="Aptos"/>
                <a:cs typeface="Aptos"/>
              </a:defRPr>
            </a:pPr>
            <a:r>
              <a:rPr sz="1500" b="1">
                <a:solidFill>
                  <a:srgbClr val="142033"/>
                </a:solidFill>
                <a:latin typeface="Aptos"/>
                <a:ea typeface="Aptos"/>
                <a:cs typeface="Aptos"/>
              </a:rPr>
              <a:t>Inventory reliability</a:t>
            </a:r>
          </a:p>
        </p:txBody>
      </p:sp>
      <p:sp>
        <p:nvSpPr>
          <p:cNvPr id="14" name="">
            <a:extLst xmlns:a="http://schemas.openxmlformats.org/drawingml/2006/main">
              <a:ext uri="{FF2B5EF4-FFF2-40B4-BE49-F238E27FC236}">
                <a16:creationId xmlns:a16="http://schemas.microsoft.com/office/drawing/2014/main" id="{99FA32EC-27B2-4F65-965F-014CE9D39947}"/>
              </a:ext>
            </a:extLst>
          </p:cNvPr>
          <p:cNvSpPr>
            <a:spLocks xmlns:a="http://schemas.openxmlformats.org/drawingml/2006/main" noGrp="1"/>
          </p:cNvSpPr>
          <p:nvPr/>
        </p:nvSpPr>
        <p:spPr>
          <a:xfrm xmlns:a="http://schemas.openxmlformats.org/drawingml/2006/main">
            <a:off x="4476750" y="3324225"/>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6384F"/>
                </a:solidFill>
                <a:latin typeface="Aptos"/>
                <a:ea typeface="Aptos"/>
                <a:cs typeface="Aptos"/>
              </a:defRPr>
            </a:pPr>
            <a:r>
              <a:rPr sz="1350" b="0">
                <a:solidFill>
                  <a:srgbClr val="26384F"/>
                </a:solidFill>
                <a:latin typeface="Aptos"/>
                <a:ea typeface="Aptos"/>
                <a:cs typeface="Aptos"/>
              </a:rPr>
              <a:t>Production, waste, transfers, sales, and deliveries reconcile in one record.</a:t>
            </a:r>
          </a:p>
        </p:txBody>
      </p:sp>
      <p:sp>
        <p:nvSpPr>
          <p:cNvPr id="15" name="">
            <a:extLst xmlns:a="http://schemas.openxmlformats.org/drawingml/2006/main">
              <a:ext uri="{FF2B5EF4-FFF2-40B4-BE49-F238E27FC236}">
                <a16:creationId xmlns:a16="http://schemas.microsoft.com/office/drawing/2014/main" id="{232BB386-713C-4825-856B-5EC3A3435328}"/>
              </a:ext>
            </a:extLst>
          </p:cNvPr>
          <p:cNvSpPr>
            <a:spLocks xmlns:a="http://schemas.openxmlformats.org/drawingml/2006/main" noGrp="1"/>
          </p:cNvSpPr>
          <p:nvPr/>
        </p:nvSpPr>
        <p:spPr>
          <a:xfrm xmlns:a="http://schemas.openxmlformats.org/drawingml/2006/main">
            <a:off x="952500" y="4067175"/>
            <a:ext cx="171450" cy="171450"/>
          </a:xfrm>
          <a:prstGeom xmlns:a="http://schemas.openxmlformats.org/drawingml/2006/main" prst="rect">
            <a:avLst/>
          </a:prstGeom>
          <a:solidFill xmlns:a="http://schemas.openxmlformats.org/drawingml/2006/main">
            <a:srgbClr val="4A1A6E"/>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C3CB0658-7403-4FC0-8E9B-A46638FDBC79}"/>
              </a:ext>
            </a:extLst>
          </p:cNvPr>
          <p:cNvSpPr>
            <a:spLocks xmlns:a="http://schemas.openxmlformats.org/drawingml/2006/main" noGrp="1"/>
          </p:cNvSpPr>
          <p:nvPr/>
        </p:nvSpPr>
        <p:spPr>
          <a:xfrm xmlns:a="http://schemas.openxmlformats.org/drawingml/2006/main">
            <a:off x="1333500" y="4010025"/>
            <a:ext cx="2857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42033"/>
                </a:solidFill>
                <a:latin typeface="Aptos"/>
                <a:ea typeface="Aptos"/>
                <a:cs typeface="Aptos"/>
              </a:defRPr>
            </a:pPr>
            <a:r>
              <a:rPr sz="1500" b="1">
                <a:solidFill>
                  <a:srgbClr val="142033"/>
                </a:solidFill>
                <a:latin typeface="Aptos"/>
                <a:ea typeface="Aptos"/>
                <a:cs typeface="Aptos"/>
              </a:rPr>
              <a:t>Finance discipline</a:t>
            </a:r>
          </a:p>
        </p:txBody>
      </p:sp>
      <p:sp>
        <p:nvSpPr>
          <p:cNvPr id="17" name="">
            <a:extLst xmlns:a="http://schemas.openxmlformats.org/drawingml/2006/main">
              <a:ext uri="{FF2B5EF4-FFF2-40B4-BE49-F238E27FC236}">
                <a16:creationId xmlns:a16="http://schemas.microsoft.com/office/drawing/2014/main" id="{D9ACFE08-5FC3-4A34-A35F-11C79A813964}"/>
              </a:ext>
            </a:extLst>
          </p:cNvPr>
          <p:cNvSpPr>
            <a:spLocks xmlns:a="http://schemas.openxmlformats.org/drawingml/2006/main" noGrp="1"/>
          </p:cNvSpPr>
          <p:nvPr/>
        </p:nvSpPr>
        <p:spPr>
          <a:xfrm xmlns:a="http://schemas.openxmlformats.org/drawingml/2006/main">
            <a:off x="4476750" y="4029075"/>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6384F"/>
                </a:solidFill>
                <a:latin typeface="Aptos"/>
                <a:ea typeface="Aptos"/>
                <a:cs typeface="Aptos"/>
              </a:defRPr>
            </a:pPr>
            <a:r>
              <a:rPr sz="1350" b="0">
                <a:solidFill>
                  <a:srgbClr val="26384F"/>
                </a:solidFill>
                <a:latin typeface="Aptos"/>
                <a:ea typeface="Aptos"/>
                <a:cs typeface="Aptos"/>
              </a:rPr>
              <a:t>Material, labour, fuel, machine, and delivery evidence supports cost control.</a:t>
            </a:r>
          </a:p>
        </p:txBody>
      </p:sp>
      <p:sp>
        <p:nvSpPr>
          <p:cNvPr id="18" name="">
            <a:extLst xmlns:a="http://schemas.openxmlformats.org/drawingml/2006/main">
              <a:ext uri="{FF2B5EF4-FFF2-40B4-BE49-F238E27FC236}">
                <a16:creationId xmlns:a16="http://schemas.microsoft.com/office/drawing/2014/main" id="{72A211FA-C9F9-4E82-B6C2-3759A270A22D}"/>
              </a:ext>
            </a:extLst>
          </p:cNvPr>
          <p:cNvSpPr>
            <a:spLocks xmlns:a="http://schemas.openxmlformats.org/drawingml/2006/main" noGrp="1"/>
          </p:cNvSpPr>
          <p:nvPr/>
        </p:nvSpPr>
        <p:spPr>
          <a:xfrm xmlns:a="http://schemas.openxmlformats.org/drawingml/2006/main">
            <a:off x="952500" y="4772025"/>
            <a:ext cx="171450" cy="171450"/>
          </a:xfrm>
          <a:prstGeom xmlns:a="http://schemas.openxmlformats.org/drawingml/2006/main" prst="rect">
            <a:avLst/>
          </a:prstGeom>
          <a:solidFill xmlns:a="http://schemas.openxmlformats.org/drawingml/2006/main">
            <a:srgbClr val="0A7A6E"/>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66C60BBD-4EE9-4977-9C28-7FF67C424E0B}"/>
              </a:ext>
            </a:extLst>
          </p:cNvPr>
          <p:cNvSpPr>
            <a:spLocks xmlns:a="http://schemas.openxmlformats.org/drawingml/2006/main" noGrp="1"/>
          </p:cNvSpPr>
          <p:nvPr/>
        </p:nvSpPr>
        <p:spPr>
          <a:xfrm xmlns:a="http://schemas.openxmlformats.org/drawingml/2006/main">
            <a:off x="1333500" y="4714875"/>
            <a:ext cx="2857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42033"/>
                </a:solidFill>
                <a:latin typeface="Aptos"/>
                <a:ea typeface="Aptos"/>
                <a:cs typeface="Aptos"/>
              </a:defRPr>
            </a:pPr>
            <a:r>
              <a:rPr sz="1500" b="1">
                <a:solidFill>
                  <a:srgbClr val="142033"/>
                </a:solidFill>
                <a:latin typeface="Aptos"/>
                <a:ea typeface="Aptos"/>
                <a:cs typeface="Aptos"/>
              </a:rPr>
              <a:t>Scalable operations</a:t>
            </a:r>
          </a:p>
        </p:txBody>
      </p:sp>
      <p:sp>
        <p:nvSpPr>
          <p:cNvPr id="20" name="">
            <a:extLst xmlns:a="http://schemas.openxmlformats.org/drawingml/2006/main">
              <a:ext uri="{FF2B5EF4-FFF2-40B4-BE49-F238E27FC236}">
                <a16:creationId xmlns:a16="http://schemas.microsoft.com/office/drawing/2014/main" id="{9C1B2C9E-C8C6-4C0A-98F6-7ECE237C7C24}"/>
              </a:ext>
            </a:extLst>
          </p:cNvPr>
          <p:cNvSpPr>
            <a:spLocks xmlns:a="http://schemas.openxmlformats.org/drawingml/2006/main" noGrp="1"/>
          </p:cNvSpPr>
          <p:nvPr/>
        </p:nvSpPr>
        <p:spPr>
          <a:xfrm xmlns:a="http://schemas.openxmlformats.org/drawingml/2006/main">
            <a:off x="4476750" y="4733925"/>
            <a:ext cx="6191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6384F"/>
                </a:solidFill>
                <a:latin typeface="Aptos"/>
                <a:ea typeface="Aptos"/>
                <a:cs typeface="Aptos"/>
              </a:defRPr>
            </a:pPr>
            <a:r>
              <a:rPr sz="1350" b="0">
                <a:solidFill>
                  <a:srgbClr val="26384F"/>
                </a:solidFill>
                <a:latin typeface="Aptos"/>
                <a:ea typeface="Aptos"/>
                <a:cs typeface="Aptos"/>
              </a:rPr>
              <a:t>Desktop ERP plus API and mobile architecture prepares UFCL for growth.</a:t>
            </a:r>
          </a:p>
        </p:txBody>
      </p:sp>
      <p:sp>
        <p:nvSpPr>
          <p:cNvPr id="21" name="">
            <a:extLst xmlns:a="http://schemas.openxmlformats.org/drawingml/2006/main">
              <a:ext uri="{FF2B5EF4-FFF2-40B4-BE49-F238E27FC236}">
                <a16:creationId xmlns:a16="http://schemas.microsoft.com/office/drawing/2014/main" id="{674788F9-34FB-4CE0-A8FB-371BD625C4F2}"/>
              </a:ext>
            </a:extLst>
          </p:cNvPr>
          <p:cNvSpPr>
            <a:spLocks xmlns:a="http://schemas.openxmlformats.org/drawingml/2006/main" noGrp="1"/>
          </p:cNvSpPr>
          <p:nvPr/>
        </p:nvSpPr>
        <p:spPr>
          <a:xfrm xmlns:a="http://schemas.openxmlformats.org/drawingml/2006/main">
            <a:off x="514350" y="6496050"/>
            <a:ext cx="666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67085"/>
                </a:solidFill>
                <a:latin typeface="Aptos"/>
                <a:ea typeface="Aptos"/>
                <a:cs typeface="Aptos"/>
              </a:defRPr>
            </a:pPr>
            <a:r>
              <a:rPr sz="750" b="0">
                <a:solidFill>
                  <a:srgbClr val="667085"/>
                </a:solidFill>
                <a:latin typeface="Aptos"/>
                <a:ea typeface="Aptos"/>
                <a:cs typeface="Aptos"/>
              </a:rPr>
              <a:t>UFCL ERP System | Executive Management Presentation | June 2026</a:t>
            </a:r>
          </a:p>
        </p:txBody>
      </p:sp>
      <p:sp>
        <p:nvSpPr>
          <p:cNvPr id="22" name="">
            <a:extLst xmlns:a="http://schemas.openxmlformats.org/drawingml/2006/main">
              <a:ext uri="{FF2B5EF4-FFF2-40B4-BE49-F238E27FC236}">
                <a16:creationId xmlns:a16="http://schemas.microsoft.com/office/drawing/2014/main" id="{BA7F36DE-8890-40DA-9772-D1A10C52F6FD}"/>
              </a:ext>
            </a:extLst>
          </p:cNvPr>
          <p:cNvSpPr>
            <a:spLocks xmlns:a="http://schemas.openxmlformats.org/drawingml/2006/main" noGrp="1"/>
          </p:cNvSpPr>
          <p:nvPr/>
        </p:nvSpPr>
        <p:spPr>
          <a:xfrm xmlns:a="http://schemas.openxmlformats.org/drawingml/2006/main">
            <a:off x="11258550" y="645795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67085"/>
                </a:solidFill>
                <a:latin typeface="Aptos"/>
                <a:ea typeface="Aptos"/>
                <a:cs typeface="Aptos"/>
              </a:defRPr>
            </a:pPr>
            <a:r>
              <a:rPr sz="825" b="1">
                <a:solidFill>
                  <a:srgbClr val="667085"/>
                </a:solidFill>
                <a:latin typeface="Aptos"/>
                <a:ea typeface="Aptos"/>
                <a:cs typeface="Aptos"/>
              </a:rPr>
              <a:t>19</a:t>
            </a:r>
          </a:p>
        </p:txBody>
      </p:sp>
    </p:spTree>
    <p:extLst>
      <p:ext uri="{BB962C8B-B14F-4D97-AF65-F5344CB8AC3E}">
        <p14:creationId xmlns:p14="http://schemas.microsoft.com/office/powerpoint/2010/main" val="196499210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82DF902-BDF8-45C7-BEA5-65E91EEA2D7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235"/>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CB38232-77CC-4D4C-A87C-058089A4911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235"/>
          </a:solidFill>
          <a:ln xmlns:a="http://schemas.openxmlformats.org/drawingml/2006/main" w="0">
            <a:solidFill>
              <a:srgbClr val="000000">
                <a:alpha val="0"/>
              </a:srgbClr>
            </a:solidFill>
            <a:prstDash val="solid"/>
          </a:ln>
        </p:spPr>
      </p:sp>
      <p:sp>
        <p:nvSpPr>
          <p:cNvPr id="3" name="kicker-marker">
            <a:extLst xmlns:a="http://schemas.openxmlformats.org/drawingml/2006/main">
              <a:ext uri="{FF2B5EF4-FFF2-40B4-BE49-F238E27FC236}">
                <a16:creationId xmlns:a16="http://schemas.microsoft.com/office/drawing/2014/main" id="{F2EFC0EA-D405-4823-AB27-E8291A55E676}"/>
              </a:ext>
            </a:extLst>
          </p:cNvPr>
          <p:cNvSpPr>
            <a:spLocks xmlns:a="http://schemas.openxmlformats.org/drawingml/2006/main" noGrp="1"/>
          </p:cNvSpPr>
          <p:nvPr/>
        </p:nvSpPr>
        <p:spPr>
          <a:xfrm xmlns:a="http://schemas.openxmlformats.org/drawingml/2006/main">
            <a:off x="514350" y="371475"/>
            <a:ext cx="95250" cy="952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4" name="kicker-label">
            <a:extLst xmlns:a="http://schemas.openxmlformats.org/drawingml/2006/main">
              <a:ext uri="{FF2B5EF4-FFF2-40B4-BE49-F238E27FC236}">
                <a16:creationId xmlns:a16="http://schemas.microsoft.com/office/drawing/2014/main" id="{A5976CA9-7F34-47F5-B49A-DB1D9FD14879}"/>
              </a:ext>
            </a:extLst>
          </p:cNvPr>
          <p:cNvSpPr>
            <a:spLocks xmlns:a="http://schemas.openxmlformats.org/drawingml/2006/main" noGrp="1"/>
          </p:cNvSpPr>
          <p:nvPr/>
        </p:nvSpPr>
        <p:spPr>
          <a:xfrm xmlns:a="http://schemas.openxmlformats.org/drawingml/2006/main">
            <a:off x="704850" y="285750"/>
            <a:ext cx="438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PHASE 2 ROADMAP</a:t>
            </a:r>
          </a:p>
        </p:txBody>
      </p:sp>
      <p:sp>
        <p:nvSpPr>
          <p:cNvPr id="5" name="">
            <a:extLst xmlns:a="http://schemas.openxmlformats.org/drawingml/2006/main">
              <a:ext uri="{FF2B5EF4-FFF2-40B4-BE49-F238E27FC236}">
                <a16:creationId xmlns:a16="http://schemas.microsoft.com/office/drawing/2014/main" id="{4F0439E4-AB6A-4F84-8559-3A28B06B284C}"/>
              </a:ext>
            </a:extLst>
          </p:cNvPr>
          <p:cNvSpPr>
            <a:spLocks xmlns:a="http://schemas.openxmlformats.org/drawingml/2006/main" noGrp="1"/>
          </p:cNvSpPr>
          <p:nvPr/>
        </p:nvSpPr>
        <p:spPr>
          <a:xfrm xmlns:a="http://schemas.openxmlformats.org/drawingml/2006/main">
            <a:off x="514350" y="704850"/>
            <a:ext cx="93345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FFFFFF"/>
                </a:solidFill>
                <a:latin typeface="Aptos Display"/>
                <a:ea typeface="Aptos Display"/>
                <a:cs typeface="Aptos Display"/>
              </a:defRPr>
            </a:pPr>
            <a:r>
              <a:rPr sz="2550" b="1">
                <a:solidFill>
                  <a:srgbClr val="FFFFFF"/>
                </a:solidFill>
                <a:latin typeface="Aptos Display"/>
                <a:ea typeface="Aptos Display"/>
                <a:cs typeface="Aptos Display"/>
              </a:rPr>
              <a:t>Phase 2 should build on the controlled core with broader mobility, analytics, and rollout scale.</a:t>
            </a:r>
          </a:p>
        </p:txBody>
      </p:sp>
      <p:sp>
        <p:nvSpPr>
          <p:cNvPr id="6" name="">
            <a:extLst xmlns:a="http://schemas.openxmlformats.org/drawingml/2006/main">
              <a:ext uri="{FF2B5EF4-FFF2-40B4-BE49-F238E27FC236}">
                <a16:creationId xmlns:a16="http://schemas.microsoft.com/office/drawing/2014/main" id="{50A89C1A-583C-43D6-AE36-16B25A6B1A84}"/>
              </a:ext>
            </a:extLst>
          </p:cNvPr>
          <p:cNvSpPr>
            <a:spLocks xmlns:a="http://schemas.openxmlformats.org/drawingml/2006/main" noGrp="1"/>
          </p:cNvSpPr>
          <p:nvPr/>
        </p:nvSpPr>
        <p:spPr>
          <a:xfrm xmlns:a="http://schemas.openxmlformats.org/drawingml/2006/main">
            <a:off x="876300" y="2095500"/>
            <a:ext cx="323850" cy="323850"/>
          </a:xfrm>
          <a:prstGeom xmlns:a="http://schemas.openxmlformats.org/drawingml/2006/main" prst="rect">
            <a:avLst/>
          </a:prstGeom>
          <a:solidFill xmlns:a="http://schemas.openxmlformats.org/drawingml/2006/main">
            <a:srgbClr val="2D6A4F"/>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48E38B16-DD39-4685-A7CD-0B22D7009697}"/>
              </a:ext>
            </a:extLst>
          </p:cNvPr>
          <p:cNvSpPr>
            <a:spLocks xmlns:a="http://schemas.openxmlformats.org/drawingml/2006/main" noGrp="1"/>
          </p:cNvSpPr>
          <p:nvPr/>
        </p:nvSpPr>
        <p:spPr>
          <a:xfrm xmlns:a="http://schemas.openxmlformats.org/drawingml/2006/main">
            <a:off x="876300" y="2133600"/>
            <a:ext cx="3238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7E8BFB91-3403-4C49-9E1B-4EECBA048707}"/>
              </a:ext>
            </a:extLst>
          </p:cNvPr>
          <p:cNvSpPr>
            <a:spLocks xmlns:a="http://schemas.openxmlformats.org/drawingml/2006/main" noGrp="1"/>
          </p:cNvSpPr>
          <p:nvPr/>
        </p:nvSpPr>
        <p:spPr>
          <a:xfrm xmlns:a="http://schemas.openxmlformats.org/drawingml/2006/main">
            <a:off x="1428750" y="2085975"/>
            <a:ext cx="8191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FFFFFF"/>
                </a:solidFill>
                <a:latin typeface="Aptos"/>
                <a:ea typeface="Aptos"/>
                <a:cs typeface="Aptos"/>
              </a:defRPr>
            </a:pPr>
            <a:r>
              <a:rPr sz="1650" b="0">
                <a:solidFill>
                  <a:srgbClr val="FFFFFF"/>
                </a:solidFill>
                <a:latin typeface="Aptos"/>
                <a:ea typeface="Aptos"/>
                <a:cs typeface="Aptos"/>
              </a:rPr>
              <a:t>Complete UAT and production readiness</a:t>
            </a:r>
          </a:p>
        </p:txBody>
      </p:sp>
      <p:sp>
        <p:nvSpPr>
          <p:cNvPr id="9" name="">
            <a:extLst xmlns:a="http://schemas.openxmlformats.org/drawingml/2006/main">
              <a:ext uri="{FF2B5EF4-FFF2-40B4-BE49-F238E27FC236}">
                <a16:creationId xmlns:a16="http://schemas.microsoft.com/office/drawing/2014/main" id="{D97644C4-D2E6-4CDC-8151-E32FC6C9D094}"/>
              </a:ext>
            </a:extLst>
          </p:cNvPr>
          <p:cNvSpPr>
            <a:spLocks xmlns:a="http://schemas.openxmlformats.org/drawingml/2006/main" noGrp="1"/>
          </p:cNvSpPr>
          <p:nvPr/>
        </p:nvSpPr>
        <p:spPr>
          <a:xfrm xmlns:a="http://schemas.openxmlformats.org/drawingml/2006/main">
            <a:off x="876300" y="2762250"/>
            <a:ext cx="323850" cy="323850"/>
          </a:xfrm>
          <a:prstGeom xmlns:a="http://schemas.openxmlformats.org/drawingml/2006/main" prst="rect">
            <a:avLst/>
          </a:prstGeom>
          <a:solidFill xmlns:a="http://schemas.openxmlformats.org/drawingml/2006/main">
            <a:srgbClr val="FFFFFF">
              <a:alpha val="13333"/>
            </a:srgbClr>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B65C498F-15DE-4FAF-8A45-5978279F683C}"/>
              </a:ext>
            </a:extLst>
          </p:cNvPr>
          <p:cNvSpPr>
            <a:spLocks xmlns:a="http://schemas.openxmlformats.org/drawingml/2006/main" noGrp="1"/>
          </p:cNvSpPr>
          <p:nvPr/>
        </p:nvSpPr>
        <p:spPr>
          <a:xfrm xmlns:a="http://schemas.openxmlformats.org/drawingml/2006/main">
            <a:off x="876300" y="2800350"/>
            <a:ext cx="3238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A64E9D7C-3892-4FB1-B860-8F5DDB0DBF56}"/>
              </a:ext>
            </a:extLst>
          </p:cNvPr>
          <p:cNvSpPr>
            <a:spLocks xmlns:a="http://schemas.openxmlformats.org/drawingml/2006/main" noGrp="1"/>
          </p:cNvSpPr>
          <p:nvPr/>
        </p:nvSpPr>
        <p:spPr>
          <a:xfrm xmlns:a="http://schemas.openxmlformats.org/drawingml/2006/main">
            <a:off x="1428750" y="2752725"/>
            <a:ext cx="8191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FFFFFF"/>
                </a:solidFill>
                <a:latin typeface="Aptos"/>
                <a:ea typeface="Aptos"/>
                <a:cs typeface="Aptos"/>
              </a:defRPr>
            </a:pPr>
            <a:r>
              <a:rPr sz="1650" b="0">
                <a:solidFill>
                  <a:srgbClr val="FFFFFF"/>
                </a:solidFill>
                <a:latin typeface="Aptos"/>
                <a:ea typeface="Aptos"/>
                <a:cs typeface="Aptos"/>
              </a:rPr>
              <a:t>Expand mobile capture and offline synchronization</a:t>
            </a:r>
          </a:p>
        </p:txBody>
      </p:sp>
      <p:sp>
        <p:nvSpPr>
          <p:cNvPr id="12" name="">
            <a:extLst xmlns:a="http://schemas.openxmlformats.org/drawingml/2006/main">
              <a:ext uri="{FF2B5EF4-FFF2-40B4-BE49-F238E27FC236}">
                <a16:creationId xmlns:a16="http://schemas.microsoft.com/office/drawing/2014/main" id="{E27A3E08-240D-46C2-BF93-FAB7302431C6}"/>
              </a:ext>
            </a:extLst>
          </p:cNvPr>
          <p:cNvSpPr>
            <a:spLocks xmlns:a="http://schemas.openxmlformats.org/drawingml/2006/main" noGrp="1"/>
          </p:cNvSpPr>
          <p:nvPr/>
        </p:nvSpPr>
        <p:spPr>
          <a:xfrm xmlns:a="http://schemas.openxmlformats.org/drawingml/2006/main">
            <a:off x="876300" y="3429000"/>
            <a:ext cx="323850" cy="323850"/>
          </a:xfrm>
          <a:prstGeom xmlns:a="http://schemas.openxmlformats.org/drawingml/2006/main" prst="rect">
            <a:avLst/>
          </a:prstGeom>
          <a:solidFill xmlns:a="http://schemas.openxmlformats.org/drawingml/2006/main">
            <a:srgbClr val="FFFFFF">
              <a:alpha val="13333"/>
            </a:srgbClr>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86F04C20-10A2-4E69-AE00-BB25DD5070B4}"/>
              </a:ext>
            </a:extLst>
          </p:cNvPr>
          <p:cNvSpPr>
            <a:spLocks xmlns:a="http://schemas.openxmlformats.org/drawingml/2006/main" noGrp="1"/>
          </p:cNvSpPr>
          <p:nvPr/>
        </p:nvSpPr>
        <p:spPr>
          <a:xfrm xmlns:a="http://schemas.openxmlformats.org/drawingml/2006/main">
            <a:off x="876300" y="3467100"/>
            <a:ext cx="3238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A0777CC8-04D7-462E-BAEC-AA5FD1171ABC}"/>
              </a:ext>
            </a:extLst>
          </p:cNvPr>
          <p:cNvSpPr>
            <a:spLocks xmlns:a="http://schemas.openxmlformats.org/drawingml/2006/main" noGrp="1"/>
          </p:cNvSpPr>
          <p:nvPr/>
        </p:nvSpPr>
        <p:spPr>
          <a:xfrm xmlns:a="http://schemas.openxmlformats.org/drawingml/2006/main">
            <a:off x="1428750" y="3419475"/>
            <a:ext cx="8191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FFFFFF"/>
                </a:solidFill>
                <a:latin typeface="Aptos"/>
                <a:ea typeface="Aptos"/>
                <a:cs typeface="Aptos"/>
              </a:defRPr>
            </a:pPr>
            <a:r>
              <a:rPr sz="1650" b="0">
                <a:solidFill>
                  <a:srgbClr val="FFFFFF"/>
                </a:solidFill>
                <a:latin typeface="Aptos"/>
                <a:ea typeface="Aptos"/>
                <a:cs typeface="Aptos"/>
              </a:rPr>
              <a:t>Strengthen analytics for cost, yield, utilization, and customer delivery performance</a:t>
            </a:r>
          </a:p>
        </p:txBody>
      </p:sp>
      <p:sp>
        <p:nvSpPr>
          <p:cNvPr id="15" name="">
            <a:extLst xmlns:a="http://schemas.openxmlformats.org/drawingml/2006/main">
              <a:ext uri="{FF2B5EF4-FFF2-40B4-BE49-F238E27FC236}">
                <a16:creationId xmlns:a16="http://schemas.microsoft.com/office/drawing/2014/main" id="{D23BBD97-26C2-4A92-88B5-2D0EC504EB74}"/>
              </a:ext>
            </a:extLst>
          </p:cNvPr>
          <p:cNvSpPr>
            <a:spLocks xmlns:a="http://schemas.openxmlformats.org/drawingml/2006/main" noGrp="1"/>
          </p:cNvSpPr>
          <p:nvPr/>
        </p:nvSpPr>
        <p:spPr>
          <a:xfrm xmlns:a="http://schemas.openxmlformats.org/drawingml/2006/main">
            <a:off x="876300" y="4095750"/>
            <a:ext cx="323850" cy="323850"/>
          </a:xfrm>
          <a:prstGeom xmlns:a="http://schemas.openxmlformats.org/drawingml/2006/main" prst="rect">
            <a:avLst/>
          </a:prstGeom>
          <a:solidFill xmlns:a="http://schemas.openxmlformats.org/drawingml/2006/main">
            <a:srgbClr val="FFFFFF">
              <a:alpha val="13333"/>
            </a:srgbClr>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7833FF90-E73A-48FC-AAC8-DE9A76466C02}"/>
              </a:ext>
            </a:extLst>
          </p:cNvPr>
          <p:cNvSpPr>
            <a:spLocks xmlns:a="http://schemas.openxmlformats.org/drawingml/2006/main" noGrp="1"/>
          </p:cNvSpPr>
          <p:nvPr/>
        </p:nvSpPr>
        <p:spPr>
          <a:xfrm xmlns:a="http://schemas.openxmlformats.org/drawingml/2006/main">
            <a:off x="876300" y="4133850"/>
            <a:ext cx="3238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4</a:t>
            </a:r>
          </a:p>
        </p:txBody>
      </p:sp>
      <p:sp>
        <p:nvSpPr>
          <p:cNvPr id="17" name="">
            <a:extLst xmlns:a="http://schemas.openxmlformats.org/drawingml/2006/main">
              <a:ext uri="{FF2B5EF4-FFF2-40B4-BE49-F238E27FC236}">
                <a16:creationId xmlns:a16="http://schemas.microsoft.com/office/drawing/2014/main" id="{4C8F3DC1-872E-44FC-B69A-E4B658DA3F60}"/>
              </a:ext>
            </a:extLst>
          </p:cNvPr>
          <p:cNvSpPr>
            <a:spLocks xmlns:a="http://schemas.openxmlformats.org/drawingml/2006/main" noGrp="1"/>
          </p:cNvSpPr>
          <p:nvPr/>
        </p:nvSpPr>
        <p:spPr>
          <a:xfrm xmlns:a="http://schemas.openxmlformats.org/drawingml/2006/main">
            <a:off x="1428750" y="4086225"/>
            <a:ext cx="8191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FFFFFF"/>
                </a:solidFill>
                <a:latin typeface="Aptos"/>
                <a:ea typeface="Aptos"/>
                <a:cs typeface="Aptos"/>
              </a:defRPr>
            </a:pPr>
            <a:r>
              <a:rPr sz="1650" b="0">
                <a:solidFill>
                  <a:srgbClr val="FFFFFF"/>
                </a:solidFill>
                <a:latin typeface="Aptos"/>
                <a:ea typeface="Aptos"/>
                <a:cs typeface="Aptos"/>
              </a:rPr>
              <a:t>Automate recurring management reports and exception alerts</a:t>
            </a:r>
          </a:p>
        </p:txBody>
      </p:sp>
      <p:sp>
        <p:nvSpPr>
          <p:cNvPr id="18" name="">
            <a:extLst xmlns:a="http://schemas.openxmlformats.org/drawingml/2006/main">
              <a:ext uri="{FF2B5EF4-FFF2-40B4-BE49-F238E27FC236}">
                <a16:creationId xmlns:a16="http://schemas.microsoft.com/office/drawing/2014/main" id="{D016DE6D-704A-46D7-B78F-AB4A96AF6D78}"/>
              </a:ext>
            </a:extLst>
          </p:cNvPr>
          <p:cNvSpPr>
            <a:spLocks xmlns:a="http://schemas.openxmlformats.org/drawingml/2006/main" noGrp="1"/>
          </p:cNvSpPr>
          <p:nvPr/>
        </p:nvSpPr>
        <p:spPr>
          <a:xfrm xmlns:a="http://schemas.openxmlformats.org/drawingml/2006/main">
            <a:off x="876300" y="4762500"/>
            <a:ext cx="323850" cy="323850"/>
          </a:xfrm>
          <a:prstGeom xmlns:a="http://schemas.openxmlformats.org/drawingml/2006/main" prst="rect">
            <a:avLst/>
          </a:prstGeom>
          <a:solidFill xmlns:a="http://schemas.openxmlformats.org/drawingml/2006/main">
            <a:srgbClr val="FFFFFF">
              <a:alpha val="13333"/>
            </a:srgbClr>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0970823D-1427-4D9C-AABE-8E229C2F2A2E}"/>
              </a:ext>
            </a:extLst>
          </p:cNvPr>
          <p:cNvSpPr>
            <a:spLocks xmlns:a="http://schemas.openxmlformats.org/drawingml/2006/main" noGrp="1"/>
          </p:cNvSpPr>
          <p:nvPr/>
        </p:nvSpPr>
        <p:spPr>
          <a:xfrm xmlns:a="http://schemas.openxmlformats.org/drawingml/2006/main">
            <a:off x="876300" y="4800600"/>
            <a:ext cx="3238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5</a:t>
            </a:r>
          </a:p>
        </p:txBody>
      </p:sp>
      <p:sp>
        <p:nvSpPr>
          <p:cNvPr id="20" name="">
            <a:extLst xmlns:a="http://schemas.openxmlformats.org/drawingml/2006/main">
              <a:ext uri="{FF2B5EF4-FFF2-40B4-BE49-F238E27FC236}">
                <a16:creationId xmlns:a16="http://schemas.microsoft.com/office/drawing/2014/main" id="{E2976B99-87C1-4388-BE67-CEB6315B5C2D}"/>
              </a:ext>
            </a:extLst>
          </p:cNvPr>
          <p:cNvSpPr>
            <a:spLocks xmlns:a="http://schemas.openxmlformats.org/drawingml/2006/main" noGrp="1"/>
          </p:cNvSpPr>
          <p:nvPr/>
        </p:nvSpPr>
        <p:spPr>
          <a:xfrm xmlns:a="http://schemas.openxmlformats.org/drawingml/2006/main">
            <a:off x="1428750" y="4752975"/>
            <a:ext cx="8191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FFFFFF"/>
                </a:solidFill>
                <a:latin typeface="Aptos"/>
                <a:ea typeface="Aptos"/>
                <a:cs typeface="Aptos"/>
              </a:defRPr>
            </a:pPr>
            <a:r>
              <a:rPr sz="1650" b="0">
                <a:solidFill>
                  <a:srgbClr val="FFFFFF"/>
                </a:solidFill>
                <a:latin typeface="Aptos"/>
                <a:ea typeface="Aptos"/>
                <a:cs typeface="Aptos"/>
              </a:rPr>
              <a:t>Scale deployment across additional workshops and operating units</a:t>
            </a:r>
          </a:p>
        </p:txBody>
      </p:sp>
      <p:sp>
        <p:nvSpPr>
          <p:cNvPr id="21" name="">
            <a:extLst xmlns:a="http://schemas.openxmlformats.org/drawingml/2006/main">
              <a:ext uri="{FF2B5EF4-FFF2-40B4-BE49-F238E27FC236}">
                <a16:creationId xmlns:a16="http://schemas.microsoft.com/office/drawing/2014/main" id="{C73FE7E4-356E-42B6-ACAD-1228A9132C81}"/>
              </a:ext>
            </a:extLst>
          </p:cNvPr>
          <p:cNvSpPr>
            <a:spLocks xmlns:a="http://schemas.openxmlformats.org/drawingml/2006/main" noGrp="1"/>
          </p:cNvSpPr>
          <p:nvPr/>
        </p:nvSpPr>
        <p:spPr>
          <a:xfrm xmlns:a="http://schemas.openxmlformats.org/drawingml/2006/main">
            <a:off x="723900" y="5753100"/>
            <a:ext cx="10763250" cy="495300"/>
          </a:xfrm>
          <a:prstGeom xmlns:a="http://schemas.openxmlformats.org/drawingml/2006/main" prst="rect">
            <a:avLst/>
          </a:prstGeom>
          <a:solidFill xmlns:a="http://schemas.openxmlformats.org/drawingml/2006/main">
            <a:srgbClr val="FFFFFF">
              <a:alpha val="7059"/>
            </a:srgbClr>
          </a:solidFill>
          <a:ln xmlns:a="http://schemas.openxmlformats.org/drawingml/2006/main" w="9525">
            <a:solidFill>
              <a:srgbClr val="2D6A4F"/>
            </a:solidFill>
            <a:prstDash val="solid"/>
          </a:ln>
        </p:spPr>
      </p:sp>
      <p:sp>
        <p:nvSpPr>
          <p:cNvPr id="22" name="">
            <a:extLst xmlns:a="http://schemas.openxmlformats.org/drawingml/2006/main">
              <a:ext uri="{FF2B5EF4-FFF2-40B4-BE49-F238E27FC236}">
                <a16:creationId xmlns:a16="http://schemas.microsoft.com/office/drawing/2014/main" id="{299B0B5A-7B91-4FB3-A651-E406D392414A}"/>
              </a:ext>
            </a:extLst>
          </p:cNvPr>
          <p:cNvSpPr>
            <a:spLocks xmlns:a="http://schemas.openxmlformats.org/drawingml/2006/main" noGrp="1"/>
          </p:cNvSpPr>
          <p:nvPr/>
        </p:nvSpPr>
        <p:spPr>
          <a:xfrm xmlns:a="http://schemas.openxmlformats.org/drawingml/2006/main">
            <a:off x="990600" y="5867400"/>
            <a:ext cx="102298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FFFFFF"/>
                </a:solidFill>
                <a:latin typeface="Aptos"/>
                <a:ea typeface="Aptos"/>
                <a:cs typeface="Aptos"/>
              </a:defRPr>
            </a:pPr>
            <a:r>
              <a:rPr sz="1575" b="1">
                <a:solidFill>
                  <a:srgbClr val="FFFFFF"/>
                </a:solidFill>
                <a:latin typeface="Aptos"/>
                <a:ea typeface="Aptos"/>
                <a:cs typeface="Aptos"/>
              </a:rPr>
              <a:t>Request for approval to proceed with User Acceptance Testing (UAT) and Production Rollout Preparation.</a:t>
            </a:r>
          </a:p>
        </p:txBody>
      </p:sp>
      <p:sp>
        <p:nvSpPr>
          <p:cNvPr id="23" name="">
            <a:extLst xmlns:a="http://schemas.openxmlformats.org/drawingml/2006/main">
              <a:ext uri="{FF2B5EF4-FFF2-40B4-BE49-F238E27FC236}">
                <a16:creationId xmlns:a16="http://schemas.microsoft.com/office/drawing/2014/main" id="{B8565FE4-971E-44F2-BED5-48636B1AF708}"/>
              </a:ext>
            </a:extLst>
          </p:cNvPr>
          <p:cNvSpPr>
            <a:spLocks xmlns:a="http://schemas.openxmlformats.org/drawingml/2006/main" noGrp="1"/>
          </p:cNvSpPr>
          <p:nvPr/>
        </p:nvSpPr>
        <p:spPr>
          <a:xfrm xmlns:a="http://schemas.openxmlformats.org/drawingml/2006/main">
            <a:off x="514350" y="6496050"/>
            <a:ext cx="666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DCE8EF"/>
                </a:solidFill>
                <a:latin typeface="Aptos"/>
                <a:ea typeface="Aptos"/>
                <a:cs typeface="Aptos"/>
              </a:defRPr>
            </a:pPr>
            <a:r>
              <a:rPr sz="750" b="0">
                <a:solidFill>
                  <a:srgbClr val="DCE8EF"/>
                </a:solidFill>
                <a:latin typeface="Aptos"/>
                <a:ea typeface="Aptos"/>
                <a:cs typeface="Aptos"/>
              </a:rPr>
              <a:t>UFCL ERP System | Executive Management Presentation | June 2026</a:t>
            </a:r>
          </a:p>
        </p:txBody>
      </p:sp>
      <p:sp>
        <p:nvSpPr>
          <p:cNvPr id="24" name="">
            <a:extLst xmlns:a="http://schemas.openxmlformats.org/drawingml/2006/main">
              <a:ext uri="{FF2B5EF4-FFF2-40B4-BE49-F238E27FC236}">
                <a16:creationId xmlns:a16="http://schemas.microsoft.com/office/drawing/2014/main" id="{85298285-10A5-4DC3-975A-76D3D48A8223}"/>
              </a:ext>
            </a:extLst>
          </p:cNvPr>
          <p:cNvSpPr>
            <a:spLocks xmlns:a="http://schemas.openxmlformats.org/drawingml/2006/main" noGrp="1"/>
          </p:cNvSpPr>
          <p:nvPr/>
        </p:nvSpPr>
        <p:spPr>
          <a:xfrm xmlns:a="http://schemas.openxmlformats.org/drawingml/2006/main">
            <a:off x="11258550" y="645795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FFFFFF"/>
                </a:solidFill>
                <a:latin typeface="Aptos"/>
                <a:ea typeface="Aptos"/>
                <a:cs typeface="Aptos"/>
              </a:defRPr>
            </a:pPr>
            <a:r>
              <a:rPr sz="825" b="1">
                <a:solidFill>
                  <a:srgbClr val="FFFFFF"/>
                </a:solidFill>
                <a:latin typeface="Aptos"/>
                <a:ea typeface="Aptos"/>
                <a:cs typeface="Aptos"/>
              </a:rPr>
              <a:t>20</a:t>
            </a:r>
          </a:p>
        </p:txBody>
      </p:sp>
    </p:spTree>
    <p:extLst>
      <p:ext uri="{BB962C8B-B14F-4D97-AF65-F5344CB8AC3E}">
        <p14:creationId xmlns:p14="http://schemas.microsoft.com/office/powerpoint/2010/main" val="19875081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2026-06-23T03:29:15.6380000Z</dcterms:created>
  <dcterms:modified xsi:type="dcterms:W3CDTF">2026-06-23T03:29:15.6380000Z</dcterms:modified>
</coreProperties>
</file>